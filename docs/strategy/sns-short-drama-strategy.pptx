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3.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11318"/>
                </a:solidFill>
                <a:latin typeface="Meiryo"/>
              </a:defRPr>
            </a:pPr>
            <a:r>
              <a:rPr sz="1100" b="0" i="0" u="none" strike="noStrike">
                <a:solidFill>
                  <a:srgbClr val="111318"/>
                </a:solidFill>
                <a:latin typeface="Meiryo"/>
              </a:rPr>
              <a:t>撮影日あたり話数と粗利率</a:t>
            </a:r>
          </a:p>
        </c:rich>
      </c:tx>
      <c:layout/>
      <c:overlay val="0"/>
    </c:title>
    <c:autoTitleDeleted val="0"/>
    <c:plotArea>
      <c:layout/>
      <c:barChart>
        <c:barDir val="col"/>
        <c:grouping val="clustered"/>
        <c:varyColors val="0"/>
        <c:ser>
          <c:idx val="0"/>
          <c:order val="0"/>
          <c:tx>
            <c:strRef>
              <c:f>Sheet1!$B$1</c:f>
              <c:strCache>
                <c:ptCount val="1"/>
                <c:pt idx="0">
                  <c:v>粗利率</c:v>
                </c:pt>
              </c:strCache>
            </c:strRef>
          </c:tx>
          <c:spPr>
            <a:solidFill>
              <a:srgbClr val="E63946"/>
            </a:solidFill>
            <a:effectLst/>
          </c:spPr>
          <c:invertIfNegative val="0"/>
          <c:dLbls>
            <c:numFmt formatCode="0&quot;%&quot;" sourceLinked="0"/>
            <c:txPr>
              <a:bodyPr/>
              <a:lstStyle/>
              <a:p>
                <a:pPr>
                  <a:defRPr b="1" i="0" strike="noStrike" sz="1100" u="none">
                    <a:solidFill>
                      <a:srgbClr val="111318"/>
                    </a:solidFill>
                    <a:latin typeface="Meiryo"/>
                  </a:defRPr>
                </a:pPr>
              </a:p>
            </c:txPr>
            <c:showLegendKey val="0"/>
            <c:showVal val="1"/>
            <c:showCatName val="0"/>
            <c:showSerName val="0"/>
            <c:showPercent val="0"/>
            <c:showBubbleSize val="0"/>
            <c:showLeaderLines val="0"/>
          </c:dLbls>
          <c:cat>
            <c:multiLvlStrRef>
              <c:f>Sheet1!$A$2:$A$4</c:f>
              <c:multiLvlStrCache>
                <c:ptCount val="3"/>
                <c:lvl>
                  <c:pt idx="0">
                    <c:v>1話単発</c:v>
                  </c:pt>
                  <c:pt idx="1">
                    <c:v>3話撮り</c:v>
                  </c:pt>
                  <c:pt idx="2">
                    <c:v>4話撮り</c:v>
                  </c:pt>
                </c:lvl>
              </c:multiLvlStrCache>
            </c:multiLvlStrRef>
          </c:cat>
          <c:val>
            <c:numRef>
              <c:f>Sheet1!$B$2:$B$4</c:f>
              <c:numCache>
                <c:formatCode>General</c:formatCode>
                <c:ptCount val="3"/>
                <c:pt idx="0">
                  <c:v>13</c:v>
                </c:pt>
                <c:pt idx="1">
                  <c:v>62</c:v>
                </c:pt>
                <c:pt idx="2">
                  <c:v>69</c:v>
                </c:pt>
              </c:numCache>
            </c:numRef>
          </c:val>
        </c:ser>
        <c:dLbls>
          <c:numFmt formatCode="0&quot;%&quot;" sourceLinked="0"/>
          <c:txPr>
            <a:bodyPr/>
            <a:lstStyle/>
            <a:p>
              <a:pPr>
                <a:defRPr b="1" i="0" strike="noStrike" sz="1100" u="none">
                  <a:solidFill>
                    <a:srgbClr val="111318"/>
                  </a:solidFill>
                  <a:latin typeface="Meiryo"/>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2430"/>
                </a:solidFill>
                <a:latin typeface="Meiryo"/>
              </a:defRPr>
            </a:pPr>
            <a:endParaRPr lang="en-US"/>
          </a:p>
        </c:txPr>
        <c:crossAx val="2094734552"/>
        <c:crosses val="autoZero"/>
        <c:auto val="1"/>
        <c:lblAlgn val="ctr"/>
        <c:noMultiLvlLbl val="1"/>
      </c:catAx>
      <c:valAx>
        <c:axId val="2094734552"/>
        <c:scaling>
          <c:orientation val="minMax"/>
          <c:max val="9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11318"/>
                </a:solidFill>
                <a:latin typeface="Meiryo"/>
              </a:defRPr>
            </a:pPr>
            <a:r>
              <a:rPr sz="1100" b="0" i="0" u="none" strike="noStrike">
                <a:solidFill>
                  <a:srgbClr val="111318"/>
                </a:solidFill>
                <a:latin typeface="Meiryo"/>
              </a:rPr>
              <a:t>売上構成（万円/月）</a:t>
            </a:r>
          </a:p>
        </c:rich>
      </c:tx>
      <c:layout/>
      <c:overlay val="0"/>
    </c:title>
    <c:autoTitleDeleted val="0"/>
    <c:plotArea>
      <c:layout/>
      <c:barChart>
        <c:barDir val="bar"/>
        <c:grouping val="clustered"/>
        <c:varyColors val="0"/>
        <c:ser>
          <c:idx val="0"/>
          <c:order val="0"/>
          <c:tx>
            <c:strRef>
              <c:f>Sheet1!$B$1</c:f>
              <c:strCache>
                <c:ptCount val="1"/>
                <c:pt idx="0">
                  <c:v>月商</c:v>
                </c:pt>
              </c:strCache>
            </c:strRef>
          </c:tx>
          <c:spPr>
            <a:solidFill>
              <a:srgbClr val="E63946"/>
            </a:solidFill>
            <a:effectLst/>
          </c:spPr>
          <c:invertIfNegative val="0"/>
          <c:dLbls>
            <c:numFmt formatCode="0&quot;万&quot;" sourceLinked="0"/>
            <c:txPr>
              <a:bodyPr/>
              <a:lstStyle/>
              <a:p>
                <a:pPr>
                  <a:defRPr b="0" i="0" strike="noStrike" sz="1000" u="none">
                    <a:solidFill>
                      <a:srgbClr val="111318"/>
                    </a:solidFill>
                    <a:latin typeface="Meiryo"/>
                  </a:defRPr>
                </a:pPr>
              </a:p>
            </c:txPr>
            <c:showLegendKey val="0"/>
            <c:showVal val="1"/>
            <c:showCatName val="0"/>
            <c:showSerName val="0"/>
            <c:showPercent val="0"/>
            <c:showBubbleSize val="0"/>
            <c:showLeaderLines val="0"/>
          </c:dLbls>
          <c:dPt>
            <c:idx val="0"/>
            <c:invertIfNegative val="0"/>
            <c:bubble3D val="0"/>
            <c:spPr>
              <a:solidFill>
                <a:srgbClr val="E63946"/>
              </a:solidFill>
              <a:effectLst/>
            </c:spPr>
          </c:dPt>
          <c:dPt>
            <c:idx val="1"/>
            <c:invertIfNegative val="0"/>
            <c:bubble3D val="0"/>
            <c:spPr>
              <a:solidFill>
                <a:srgbClr val="E63946"/>
              </a:solidFill>
              <a:effectLst/>
            </c:spPr>
          </c:dPt>
          <c:dPt>
            <c:idx val="2"/>
            <c:invertIfNegative val="0"/>
            <c:bubble3D val="0"/>
            <c:spPr>
              <a:solidFill>
                <a:srgbClr val="F4A3A9"/>
              </a:solidFill>
              <a:effectLst/>
            </c:spPr>
          </c:dPt>
          <c:dPt>
            <c:idx val="3"/>
            <c:invertIfNegative val="0"/>
            <c:bubble3D val="0"/>
            <c:spPr>
              <a:solidFill>
                <a:srgbClr val="1D3557"/>
              </a:solidFill>
              <a:effectLst/>
            </c:spPr>
          </c:dPt>
          <c:dPt>
            <c:idx val="4"/>
            <c:invertIfNegative val="0"/>
            <c:bubble3D val="0"/>
            <c:spPr>
              <a:solidFill>
                <a:srgbClr val="8FA3C8"/>
              </a:solidFill>
              <a:effectLst/>
            </c:spPr>
          </c:dPt>
          <c:dPt>
            <c:idx val="5"/>
            <c:invertIfNegative val="0"/>
            <c:bubble3D val="0"/>
            <c:spPr>
              <a:solidFill>
                <a:srgbClr val="D9A441"/>
              </a:solidFill>
              <a:effectLst/>
            </c:spPr>
          </c:dPt>
          <c:cat>
            <c:multiLvlStrRef>
              <c:f>Sheet1!$A$2:$A$7</c:f>
              <c:multiLvlStrCache>
                <c:ptCount val="6"/>
                <c:lvl>
                  <c:pt idx="0">
                    <c:v>実写 継続A</c:v>
                  </c:pt>
                  <c:pt idx="1">
                    <c:v>実写 継続B</c:v>
                  </c:pt>
                  <c:pt idx="2">
                    <c:v>実写 スポット</c:v>
                  </c:pt>
                  <c:pt idx="3">
                    <c:v>AI 継続×3社</c:v>
                  </c:pt>
                  <c:pt idx="4">
                    <c:v>AI スポット</c:v>
                  </c:pt>
                  <c:pt idx="5">
                    <c:v>運用・広告</c:v>
                  </c:pt>
                </c:lvl>
              </c:multiLvlStrCache>
            </c:multiLvlStrRef>
          </c:cat>
          <c:val>
            <c:numRef>
              <c:f>Sheet1!$B$2:$B$7</c:f>
              <c:numCache>
                <c:formatCode>General</c:formatCode>
                <c:ptCount val="6"/>
                <c:pt idx="0">
                  <c:v>130</c:v>
                </c:pt>
                <c:pt idx="1">
                  <c:v>130</c:v>
                </c:pt>
                <c:pt idx="2">
                  <c:v>108</c:v>
                </c:pt>
                <c:pt idx="3">
                  <c:v>114</c:v>
                </c:pt>
                <c:pt idx="4">
                  <c:v>27</c:v>
                </c:pt>
                <c:pt idx="5">
                  <c:v>30</c:v>
                </c:pt>
              </c:numCache>
            </c:numRef>
          </c:val>
        </c:ser>
        <c:dLbls>
          <c:numFmt formatCode="0&quot;万&quot;" sourceLinked="0"/>
          <c:txPr>
            <a:bodyPr/>
            <a:lstStyle/>
            <a:p>
              <a:pPr>
                <a:defRPr b="0" i="0" strike="noStrike" sz="1000" u="none">
                  <a:solidFill>
                    <a:srgbClr val="111318"/>
                  </a:solidFill>
                  <a:latin typeface="Meiryo"/>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1F2430"/>
                </a:solidFill>
                <a:latin typeface="Meiryo"/>
              </a:defRPr>
            </a:pPr>
            <a:endParaRPr lang="en-US"/>
          </a:p>
        </c:txPr>
        <c:crossAx val="2094734552"/>
        <c:crosses val="autoZero"/>
        <c:auto val="1"/>
        <c:lblAlgn val="ctr"/>
        <c:noMultiLvlLbl val="1"/>
      </c:catAx>
      <c:valAx>
        <c:axId val="2094734552"/>
        <c:scaling>
          <c:orientation val="minMax"/>
          <c:max val="16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月商目標（万円）</c:v>
                </c:pt>
              </c:strCache>
            </c:strRef>
          </c:tx>
          <c:spPr>
            <a:solidFill>
              <a:srgbClr val="E63946"/>
            </a:solidFill>
            <a:ln w="38100" cap="flat">
              <a:solidFill>
                <a:srgbClr val="E63946"/>
              </a:solidFill>
              <a:prstDash val="solid"/>
              <a:round/>
            </a:ln>
            <a:effectLst/>
          </c:spPr>
          <c:invertIfNegative val="0"/>
          <c:dLbls>
            <c:numFmt formatCode="#,##0" sourceLinked="0"/>
            <c:txPr>
              <a:bodyPr/>
              <a:lstStyle/>
              <a:p>
                <a:pPr>
                  <a:defRPr b="0" i="0" strike="noStrike" sz="800" u="none">
                    <a:solidFill>
                      <a:srgbClr val="111318"/>
                    </a:solidFill>
                    <a:latin typeface="Meiryo"/>
                  </a:defRPr>
                </a:pPr>
              </a:p>
            </c:txPr>
            <c:dLblPos val="t"/>
            <c:showLegendKey val="0"/>
            <c:showVal val="1"/>
            <c:showCatName val="0"/>
            <c:showSerName val="0"/>
            <c:showPercent val="0"/>
            <c:showBubbleSize val="0"/>
            <c:showLeaderLines val="0"/>
          </c:dLbls>
          <c:marker>
            <c:symbol val="circle"/>
            <c:size val="6"/>
            <c:spPr>
              <a:solidFill>
                <a:srgbClr val="E63946"/>
              </a:solidFill>
              <a:ln w="9525" cap="flat">
                <a:solidFill>
                  <a:srgbClr val="E63946"/>
                </a:solidFill>
                <a:prstDash val="solid"/>
                <a:round/>
              </a:ln>
              <a:effectLst/>
            </c:spPr>
          </c:marker>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Sheet1!$B$2:$B$13</c:f>
              <c:numCache>
                <c:formatCode>General</c:formatCode>
                <c:ptCount val="12"/>
                <c:pt idx="0">
                  <c:v>30</c:v>
                </c:pt>
                <c:pt idx="1">
                  <c:v>80</c:v>
                </c:pt>
                <c:pt idx="2">
                  <c:v>130</c:v>
                </c:pt>
                <c:pt idx="3">
                  <c:v>180</c:v>
                </c:pt>
                <c:pt idx="4">
                  <c:v>230</c:v>
                </c:pt>
                <c:pt idx="5">
                  <c:v>280</c:v>
                </c:pt>
                <c:pt idx="6">
                  <c:v>330</c:v>
                </c:pt>
                <c:pt idx="7">
                  <c:v>380</c:v>
                </c:pt>
                <c:pt idx="8">
                  <c:v>420</c:v>
                </c:pt>
                <c:pt idx="9">
                  <c:v>460</c:v>
                </c:pt>
                <c:pt idx="10">
                  <c:v>490</c:v>
                </c:pt>
                <c:pt idx="11">
                  <c:v>520</c:v>
                </c:pt>
              </c:numCache>
            </c:numRef>
          </c:val>
          <c:smooth val="0"/>
        </c:ser>
        <c:dLbls>
          <c:numFmt formatCode="#,##0" sourceLinked="0"/>
          <c:txPr>
            <a:bodyPr/>
            <a:lstStyle/>
            <a:p>
              <a:pPr>
                <a:defRPr b="0" i="0" strike="noStrike" sz="800" u="none">
                  <a:solidFill>
                    <a:srgbClr val="111318"/>
                  </a:solidFill>
                  <a:latin typeface="Meiryo"/>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6B7280"/>
                </a:solidFill>
                <a:latin typeface="Meiryo"/>
              </a:defRPr>
            </a:pPr>
            <a:endParaRPr lang="en-US"/>
          </a:p>
        </c:txPr>
        <c:crossAx val="2094734552"/>
        <c:crosses val="autoZero"/>
        <c:auto val="1"/>
        <c:lblAlgn val="ctr"/>
        <c:noMultiLvlLbl val="1"/>
      </c:catAx>
      <c:valAx>
        <c:axId val="2094734552"/>
        <c:scaling>
          <c:orientation val="minMax"/>
          <c:max val="62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市場・競合の公開情報と原価試算に基づく戦略の初版。価格・原価は営業資料化の前に一次情報と自社の外注単価で再確認する。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318"/>
        </a:solidFill>
      </p:bgPr>
    </p:bg>
    <p:spTree>
      <p:nvGrpSpPr>
        <p:cNvPr id="1" name=""/>
        <p:cNvGrpSpPr/>
        <p:nvPr/>
      </p:nvGrpSpPr>
      <p:grpSpPr>
        <a:xfrm>
          <a:off x="0" y="0"/>
          <a:ext cx="0" cy="0"/>
          <a:chOff x="0" y="0"/>
          <a:chExt cx="0" cy="0"/>
        </a:xfrm>
      </p:grpSpPr>
      <p:sp>
        <p:nvSpPr>
          <p:cNvPr id="2" name="Shape 0"/>
          <p:cNvSpPr/>
          <p:nvPr/>
        </p:nvSpPr>
        <p:spPr>
          <a:xfrm>
            <a:off x="0" y="0"/>
            <a:ext cx="2926080" cy="5143500"/>
          </a:xfrm>
          <a:prstGeom prst="rect">
            <a:avLst/>
          </a:prstGeom>
          <a:solidFill>
            <a:srgbClr val="E63946"/>
          </a:solidFill>
          <a:ln w="12700">
            <a:solidFill>
              <a:srgbClr val="E63946"/>
            </a:solidFill>
            <a:prstDash val="solid"/>
          </a:ln>
        </p:spPr>
      </p:sp>
      <p:pic>
        <p:nvPicPr>
          <p:cNvPr id="3" name="Image 0" descr="preencoded.png">    </p:cNvPr>
          <p:cNvPicPr>
            <a:picLocks noChangeAspect="1"/>
          </p:cNvPicPr>
          <p:nvPr/>
        </p:nvPicPr>
        <p:blipFill>
          <a:blip r:embed="rId1"/>
          <a:stretch>
            <a:fillRect/>
          </a:stretch>
        </p:blipFill>
        <p:spPr>
          <a:xfrm>
            <a:off x="640080" y="640080"/>
            <a:ext cx="822960" cy="822960"/>
          </a:xfrm>
          <a:prstGeom prst="rect">
            <a:avLst/>
          </a:prstGeom>
        </p:spPr>
      </p:pic>
      <p:sp>
        <p:nvSpPr>
          <p:cNvPr id="4" name="Text 1"/>
          <p:cNvSpPr txBox="1"/>
          <p:nvPr/>
        </p:nvSpPr>
        <p:spPr>
          <a:xfrm>
            <a:off x="640080" y="4206240"/>
            <a:ext cx="2194560" cy="274320"/>
          </a:xfrm>
          <a:prstGeom prst="rect">
            <a:avLst/>
          </a:prstGeom>
          <a:noFill/>
          <a:ln/>
        </p:spPr>
        <p:txBody>
          <a:bodyPr wrap="square" lIns="0" tIns="0" rIns="0" bIns="0" rtlCol="0" anchor="t"/>
          <a:lstStyle/>
          <a:p>
            <a:pPr indent="0" marL="0">
              <a:buNone/>
            </a:pPr>
            <a:r>
              <a:rPr lang="en-US" sz="1000" b="1" spc="200" kern="0" dirty="0">
                <a:solidFill>
                  <a:srgbClr val="FFFFFF"/>
                </a:solidFill>
                <a:latin typeface="Meiryo" pitchFamily="34" charset="0"/>
                <a:ea typeface="Meiryo" pitchFamily="34" charset="-122"/>
                <a:cs typeface="Meiryo" pitchFamily="34" charset="-120"/>
              </a:rPr>
              <a:t>SHORT DRAMA STUDIO</a:t>
            </a:r>
            <a:endParaRPr lang="en-US" sz="1000" dirty="0"/>
          </a:p>
        </p:txBody>
      </p:sp>
      <p:sp>
        <p:nvSpPr>
          <p:cNvPr id="5" name="Text 2"/>
          <p:cNvSpPr txBox="1"/>
          <p:nvPr/>
        </p:nvSpPr>
        <p:spPr>
          <a:xfrm>
            <a:off x="3383280" y="914400"/>
            <a:ext cx="5303520" cy="365760"/>
          </a:xfrm>
          <a:prstGeom prst="rect">
            <a:avLst/>
          </a:prstGeom>
          <a:noFill/>
          <a:ln/>
        </p:spPr>
        <p:txBody>
          <a:bodyPr wrap="square" lIns="0" tIns="0" rIns="0" bIns="0" rtlCol="0" anchor="t"/>
          <a:lstStyle/>
          <a:p>
            <a:pPr indent="0" marL="0">
              <a:buNone/>
            </a:pPr>
            <a:r>
              <a:rPr lang="en-US" sz="1400" b="1" dirty="0">
                <a:solidFill>
                  <a:srgbClr val="D9A441"/>
                </a:solidFill>
                <a:latin typeface="Meiryo" pitchFamily="34" charset="0"/>
                <a:ea typeface="Meiryo" pitchFamily="34" charset="-122"/>
                <a:cs typeface="Meiryo" pitchFamily="34" charset="-120"/>
              </a:rPr>
              <a:t>事業戦略書</a:t>
            </a:r>
            <a:endParaRPr lang="en-US" sz="1400" dirty="0"/>
          </a:p>
        </p:txBody>
      </p:sp>
      <p:sp>
        <p:nvSpPr>
          <p:cNvPr id="6" name="Text 3"/>
          <p:cNvSpPr txBox="1"/>
          <p:nvPr/>
        </p:nvSpPr>
        <p:spPr>
          <a:xfrm>
            <a:off x="3383280" y="1325880"/>
            <a:ext cx="5394960" cy="1188720"/>
          </a:xfrm>
          <a:prstGeom prst="rect">
            <a:avLst/>
          </a:prstGeom>
          <a:noFill/>
          <a:ln/>
        </p:spPr>
        <p:txBody>
          <a:bodyPr wrap="square" lIns="0" tIns="0" rIns="0" bIns="0" rtlCol="0" anchor="t"/>
          <a:lstStyle/>
          <a:p>
            <a:pPr indent="0" marL="0">
              <a:buNone/>
            </a:pPr>
            <a:r>
              <a:rPr lang="en-US" sz="2600" b="1" dirty="0">
                <a:solidFill>
                  <a:srgbClr val="FFFFFF"/>
                </a:solidFill>
                <a:latin typeface="Meiryo" pitchFamily="34" charset="0"/>
                <a:ea typeface="Meiryo" pitchFamily="34" charset="-122"/>
                <a:cs typeface="Meiryo" pitchFamily="34" charset="-120"/>
              </a:rPr>
              <a:t>SNSショートドラマ制作サービス</a:t>
            </a:r>
            <a:endParaRPr lang="en-US" sz="2600" dirty="0"/>
          </a:p>
        </p:txBody>
      </p:sp>
      <p:sp>
        <p:nvSpPr>
          <p:cNvPr id="7" name="Text 4"/>
          <p:cNvSpPr txBox="1"/>
          <p:nvPr/>
        </p:nvSpPr>
        <p:spPr>
          <a:xfrm>
            <a:off x="3383280" y="2606040"/>
            <a:ext cx="5303520" cy="457200"/>
          </a:xfrm>
          <a:prstGeom prst="rect">
            <a:avLst/>
          </a:prstGeom>
          <a:noFill/>
          <a:ln/>
        </p:spPr>
        <p:txBody>
          <a:bodyPr wrap="square" lIns="0" tIns="0" rIns="0" bIns="0" rtlCol="0" anchor="t"/>
          <a:lstStyle/>
          <a:p>
            <a:pPr indent="0" marL="0">
              <a:buNone/>
            </a:pPr>
            <a:r>
              <a:rPr lang="en-US" sz="1500" dirty="0">
                <a:solidFill>
                  <a:srgbClr val="C9CED8"/>
                </a:solidFill>
                <a:latin typeface="Meiryo" pitchFamily="34" charset="0"/>
                <a:ea typeface="Meiryo" pitchFamily="34" charset="-122"/>
                <a:cs typeface="Meiryo" pitchFamily="34" charset="-120"/>
              </a:rPr>
              <a:t>AI × 実写の2軸で、12ヶ月以内に月商500万円へ</a:t>
            </a:r>
            <a:endParaRPr lang="en-US" sz="1500" dirty="0"/>
          </a:p>
        </p:txBody>
      </p:sp>
      <p:sp>
        <p:nvSpPr>
          <p:cNvPr id="8" name="Text 5"/>
          <p:cNvSpPr txBox="1"/>
          <p:nvPr/>
        </p:nvSpPr>
        <p:spPr>
          <a:xfrm>
            <a:off x="3383280" y="4206240"/>
            <a:ext cx="5303520" cy="274320"/>
          </a:xfrm>
          <a:prstGeom prst="rect">
            <a:avLst/>
          </a:prstGeom>
          <a:noFill/>
          <a:ln/>
        </p:spPr>
        <p:txBody>
          <a:bodyPr wrap="square" lIns="0" tIns="0" rIns="0" bIns="0" rtlCol="0" anchor="t"/>
          <a:lstStyle/>
          <a:p>
            <a:pPr indent="0" marL="0">
              <a:buNone/>
            </a:pPr>
            <a:r>
              <a:rPr lang="en-US" sz="1000" dirty="0">
                <a:solidFill>
                  <a:srgbClr val="8A909C"/>
                </a:solidFill>
                <a:latin typeface="Meiryo" pitchFamily="34" charset="0"/>
                <a:ea typeface="Meiryo" pitchFamily="34" charset="-122"/>
                <a:cs typeface="Meiryo" pitchFamily="34" charset="-120"/>
              </a:rPr>
              <a:t>市場・競合リサーチに基づく戦略 初版　2026年9月12日</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318"/>
        </a:solidFill>
      </p:bgPr>
    </p:bg>
    <p:spTree>
      <p:nvGrpSpPr>
        <p:cNvPr id="1" name=""/>
        <p:cNvGrpSpPr/>
        <p:nvPr/>
      </p:nvGrpSpPr>
      <p:grpSpPr>
        <a:xfrm>
          <a:off x="0" y="0"/>
          <a:ext cx="0" cy="0"/>
          <a:chOff x="0" y="0"/>
          <a:chExt cx="0" cy="0"/>
        </a:xfrm>
      </p:grpSpPr>
      <p:sp>
        <p:nvSpPr>
          <p:cNvPr id="2" name="Text 0"/>
          <p:cNvSpPr txBox="1"/>
          <p:nvPr/>
        </p:nvSpPr>
        <p:spPr>
          <a:xfrm>
            <a:off x="548640" y="457200"/>
            <a:ext cx="8046720" cy="274320"/>
          </a:xfrm>
          <a:prstGeom prst="rect">
            <a:avLst/>
          </a:prstGeom>
          <a:noFill/>
          <a:ln/>
        </p:spPr>
        <p:txBody>
          <a:bodyPr wrap="square" lIns="0" tIns="0" rIns="0" bIns="0" rtlCol="0" anchor="t"/>
          <a:lstStyle/>
          <a:p>
            <a:pPr indent="0" marL="0">
              <a:buNone/>
            </a:pPr>
            <a:r>
              <a:rPr lang="en-US" sz="1200" b="1" dirty="0">
                <a:solidFill>
                  <a:srgbClr val="D9A441"/>
                </a:solidFill>
                <a:latin typeface="Meiryo" pitchFamily="34" charset="0"/>
                <a:ea typeface="Meiryo" pitchFamily="34" charset="-122"/>
                <a:cs typeface="Meiryo" pitchFamily="34" charset="-120"/>
              </a:rPr>
              <a:t>エグゼクティブサマリー</a:t>
            </a:r>
            <a:endParaRPr lang="en-US" sz="1200" dirty="0"/>
          </a:p>
        </p:txBody>
      </p:sp>
      <p:sp>
        <p:nvSpPr>
          <p:cNvPr id="3" name="Text 1"/>
          <p:cNvSpPr txBox="1"/>
          <p:nvPr/>
        </p:nvSpPr>
        <p:spPr>
          <a:xfrm>
            <a:off x="548640" y="777240"/>
            <a:ext cx="8046720" cy="731520"/>
          </a:xfrm>
          <a:prstGeom prst="rect">
            <a:avLst/>
          </a:prstGeom>
          <a:noFill/>
          <a:ln/>
        </p:spPr>
        <p:txBody>
          <a:bodyPr wrap="square" lIns="0" tIns="0" rIns="0" bIns="0" rtlCol="0" anchor="t"/>
          <a:lstStyle/>
          <a:p>
            <a:pPr indent="0" marL="0">
              <a:buNone/>
            </a:pPr>
            <a:r>
              <a:rPr lang="en-US" sz="2400" b="1" dirty="0">
                <a:solidFill>
                  <a:srgbClr val="FFFFFF"/>
                </a:solidFill>
                <a:latin typeface="Meiryo" pitchFamily="34" charset="0"/>
                <a:ea typeface="Meiryo" pitchFamily="34" charset="-122"/>
                <a:cs typeface="Meiryo" pitchFamily="34" charset="-120"/>
              </a:rPr>
              <a:t>2軸構成は正しい。ただし「1話売り」では届かない</a:t>
            </a:r>
            <a:endParaRPr lang="en-US" sz="2400" dirty="0"/>
          </a:p>
        </p:txBody>
      </p:sp>
      <p:sp>
        <p:nvSpPr>
          <p:cNvPr id="4" name="Text 2"/>
          <p:cNvSpPr txBox="1"/>
          <p:nvPr/>
        </p:nvSpPr>
        <p:spPr>
          <a:xfrm>
            <a:off x="548640" y="1600200"/>
            <a:ext cx="8046720" cy="731520"/>
          </a:xfrm>
          <a:prstGeom prst="rect">
            <a:avLst/>
          </a:prstGeom>
          <a:noFill/>
          <a:ln/>
        </p:spPr>
        <p:txBody>
          <a:bodyPr wrap="square" lIns="0" tIns="0" rIns="0" bIns="0" rtlCol="0" anchor="t"/>
          <a:lstStyle/>
          <a:p>
            <a:pPr indent="0" marL="0">
              <a:buNone/>
            </a:pPr>
            <a:r>
              <a:rPr lang="en-US" sz="1300" dirty="0">
                <a:solidFill>
                  <a:srgbClr val="C9CED8"/>
                </a:solidFill>
                <a:latin typeface="Meiryo" pitchFamily="34" charset="0"/>
                <a:ea typeface="Meiryo" pitchFamily="34" charset="-122"/>
                <a:cs typeface="Meiryo" pitchFamily="34" charset="-120"/>
              </a:rPr>
              <a:t>シリーズパックと月額運用契約に商品を組み直し、実写は「1撮影日=3〜4話まとめ撮り」を絶対条件にする。これで粗利60%前後を維持しながら12ヶ月で月商500万円に到達できる。</a:t>
            </a:r>
            <a:endParaRPr lang="en-US" sz="1300" dirty="0"/>
          </a:p>
        </p:txBody>
      </p:sp>
      <p:sp>
        <p:nvSpPr>
          <p:cNvPr id="5" name="Shape 3"/>
          <p:cNvSpPr/>
          <p:nvPr/>
        </p:nvSpPr>
        <p:spPr>
          <a:xfrm>
            <a:off x="548640" y="2514600"/>
            <a:ext cx="2560320" cy="2103120"/>
          </a:xfrm>
          <a:prstGeom prst="roundRect">
            <a:avLst>
              <a:gd name="adj" fmla="val 3478"/>
            </a:avLst>
          </a:prstGeom>
          <a:solidFill>
            <a:srgbClr val="1C1F26"/>
          </a:solidFill>
          <a:ln w="12700">
            <a:solidFill>
              <a:srgbClr val="2A2E38"/>
            </a:solidFill>
            <a:prstDash val="solid"/>
          </a:ln>
        </p:spPr>
      </p:sp>
      <p:sp>
        <p:nvSpPr>
          <p:cNvPr id="6" name="Text 4"/>
          <p:cNvSpPr txBox="1"/>
          <p:nvPr/>
        </p:nvSpPr>
        <p:spPr>
          <a:xfrm>
            <a:off x="777240" y="2697480"/>
            <a:ext cx="2194560" cy="68580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1,530億円</a:t>
            </a:r>
            <a:endParaRPr lang="en-US" sz="2200" dirty="0"/>
          </a:p>
        </p:txBody>
      </p:sp>
      <p:sp>
        <p:nvSpPr>
          <p:cNvPr id="7" name="Text 5"/>
          <p:cNvSpPr txBox="1"/>
          <p:nvPr/>
        </p:nvSpPr>
        <p:spPr>
          <a:xfrm>
            <a:off x="777240" y="3410712"/>
            <a:ext cx="2194560" cy="274320"/>
          </a:xfrm>
          <a:prstGeom prst="rect">
            <a:avLst/>
          </a:prstGeom>
          <a:noFill/>
          <a:ln/>
        </p:spPr>
        <p:txBody>
          <a:bodyPr wrap="square" lIns="0" tIns="0" rIns="0" bIns="0" rtlCol="0" anchor="t"/>
          <a:lstStyle/>
          <a:p>
            <a:pPr indent="0" marL="0">
              <a:buNone/>
            </a:pPr>
            <a:r>
              <a:rPr lang="en-US" sz="1200" b="1" dirty="0">
                <a:solidFill>
                  <a:srgbClr val="FFFFFF"/>
                </a:solidFill>
                <a:latin typeface="Meiryo" pitchFamily="34" charset="0"/>
                <a:ea typeface="Meiryo" pitchFamily="34" charset="-122"/>
                <a:cs typeface="Meiryo" pitchFamily="34" charset="-120"/>
              </a:rPr>
              <a:t>国内市場（2026年予測）</a:t>
            </a:r>
            <a:endParaRPr lang="en-US" sz="1200" dirty="0"/>
          </a:p>
        </p:txBody>
      </p:sp>
      <p:sp>
        <p:nvSpPr>
          <p:cNvPr id="8" name="Text 6"/>
          <p:cNvSpPr txBox="1"/>
          <p:nvPr/>
        </p:nvSpPr>
        <p:spPr>
          <a:xfrm>
            <a:off x="777240" y="3685032"/>
            <a:ext cx="2194560" cy="457200"/>
          </a:xfrm>
          <a:prstGeom prst="rect">
            <a:avLst/>
          </a:prstGeom>
          <a:noFill/>
          <a:ln/>
        </p:spPr>
        <p:txBody>
          <a:bodyPr wrap="square" lIns="0" tIns="0" rIns="0" bIns="0" rtlCol="0" anchor="t"/>
          <a:lstStyle/>
          <a:p>
            <a:pPr indent="0" marL="0">
              <a:buNone/>
            </a:pPr>
            <a:r>
              <a:rPr lang="en-US" sz="950" dirty="0">
                <a:solidFill>
                  <a:srgbClr val="A9B0BD"/>
                </a:solidFill>
                <a:latin typeface="Meiryo" pitchFamily="34" charset="0"/>
                <a:ea typeface="Meiryo" pitchFamily="34" charset="-122"/>
                <a:cs typeface="Meiryo" pitchFamily="34" charset="-120"/>
              </a:rPr>
              <a:t>映画興行収入の6〜7割に相当</a:t>
            </a:r>
            <a:endParaRPr lang="en-US" sz="950" dirty="0"/>
          </a:p>
        </p:txBody>
      </p:sp>
      <p:sp>
        <p:nvSpPr>
          <p:cNvPr id="9" name="Shape 7"/>
          <p:cNvSpPr/>
          <p:nvPr/>
        </p:nvSpPr>
        <p:spPr>
          <a:xfrm>
            <a:off x="3291840" y="2514600"/>
            <a:ext cx="2560320" cy="2103120"/>
          </a:xfrm>
          <a:prstGeom prst="roundRect">
            <a:avLst>
              <a:gd name="adj" fmla="val 3478"/>
            </a:avLst>
          </a:prstGeom>
          <a:solidFill>
            <a:srgbClr val="1C1F26"/>
          </a:solidFill>
          <a:ln w="12700">
            <a:solidFill>
              <a:srgbClr val="2A2E38"/>
            </a:solidFill>
            <a:prstDash val="solid"/>
          </a:ln>
        </p:spPr>
      </p:sp>
      <p:sp>
        <p:nvSpPr>
          <p:cNvPr id="10" name="Text 8"/>
          <p:cNvSpPr txBox="1"/>
          <p:nvPr/>
        </p:nvSpPr>
        <p:spPr>
          <a:xfrm>
            <a:off x="3520440" y="2697480"/>
            <a:ext cx="2194560" cy="685800"/>
          </a:xfrm>
          <a:prstGeom prst="rect">
            <a:avLst/>
          </a:prstGeom>
          <a:noFill/>
          <a:ln/>
        </p:spPr>
        <p:txBody>
          <a:bodyPr wrap="square" lIns="0" tIns="0" rIns="0" bIns="0" rtlCol="0" anchor="ctr"/>
          <a:lstStyle/>
          <a:p>
            <a:pPr indent="0" marL="0">
              <a:buNone/>
            </a:pPr>
            <a:r>
              <a:rPr lang="en-US" sz="2200" b="1" dirty="0">
                <a:solidFill>
                  <a:srgbClr val="D9A441"/>
                </a:solidFill>
                <a:latin typeface="Meiryo" pitchFamily="34" charset="0"/>
                <a:ea typeface="Meiryo" pitchFamily="34" charset="-122"/>
                <a:cs typeface="Meiryo" pitchFamily="34" charset="-120"/>
              </a:rPr>
              <a:t>低価格帯の上限</a:t>
            </a:r>
            <a:endParaRPr lang="en-US" sz="2200" dirty="0"/>
          </a:p>
        </p:txBody>
      </p:sp>
      <p:sp>
        <p:nvSpPr>
          <p:cNvPr id="11" name="Text 9"/>
          <p:cNvSpPr txBox="1"/>
          <p:nvPr/>
        </p:nvSpPr>
        <p:spPr>
          <a:xfrm>
            <a:off x="3520440" y="3410712"/>
            <a:ext cx="2194560" cy="274320"/>
          </a:xfrm>
          <a:prstGeom prst="rect">
            <a:avLst/>
          </a:prstGeom>
          <a:noFill/>
          <a:ln/>
        </p:spPr>
        <p:txBody>
          <a:bodyPr wrap="square" lIns="0" tIns="0" rIns="0" bIns="0" rtlCol="0" anchor="t"/>
          <a:lstStyle/>
          <a:p>
            <a:pPr indent="0" marL="0">
              <a:buNone/>
            </a:pPr>
            <a:r>
              <a:rPr lang="en-US" sz="1200" b="1" dirty="0">
                <a:solidFill>
                  <a:srgbClr val="FFFFFF"/>
                </a:solidFill>
                <a:latin typeface="Meiryo" pitchFamily="34" charset="0"/>
                <a:ea typeface="Meiryo" pitchFamily="34" charset="-122"/>
                <a:cs typeface="Meiryo" pitchFamily="34" charset="-120"/>
              </a:rPr>
              <a:t>AI10万 / 実写30万 の位置</a:t>
            </a:r>
            <a:endParaRPr lang="en-US" sz="1200" dirty="0"/>
          </a:p>
        </p:txBody>
      </p:sp>
      <p:sp>
        <p:nvSpPr>
          <p:cNvPr id="12" name="Text 10"/>
          <p:cNvSpPr txBox="1"/>
          <p:nvPr/>
        </p:nvSpPr>
        <p:spPr>
          <a:xfrm>
            <a:off x="3520440" y="3685032"/>
            <a:ext cx="2194560" cy="457200"/>
          </a:xfrm>
          <a:prstGeom prst="rect">
            <a:avLst/>
          </a:prstGeom>
          <a:noFill/>
          <a:ln/>
        </p:spPr>
        <p:txBody>
          <a:bodyPr wrap="square" lIns="0" tIns="0" rIns="0" bIns="0" rtlCol="0" anchor="t"/>
          <a:lstStyle/>
          <a:p>
            <a:pPr indent="0" marL="0">
              <a:buNone/>
            </a:pPr>
            <a:r>
              <a:rPr lang="en-US" sz="950" dirty="0">
                <a:solidFill>
                  <a:srgbClr val="A9B0BD"/>
                </a:solidFill>
                <a:latin typeface="Meiryo" pitchFamily="34" charset="0"/>
                <a:ea typeface="Meiryo" pitchFamily="34" charset="-122"/>
                <a:cs typeface="Meiryo" pitchFamily="34" charset="-120"/>
              </a:rPr>
              <a:t>安さでは戦えない。型×シリーズ×運用で差別化</a:t>
            </a:r>
            <a:endParaRPr lang="en-US" sz="950" dirty="0"/>
          </a:p>
        </p:txBody>
      </p:sp>
      <p:sp>
        <p:nvSpPr>
          <p:cNvPr id="13" name="Shape 11"/>
          <p:cNvSpPr/>
          <p:nvPr/>
        </p:nvSpPr>
        <p:spPr>
          <a:xfrm>
            <a:off x="6035040" y="2514600"/>
            <a:ext cx="2560320" cy="2103120"/>
          </a:xfrm>
          <a:prstGeom prst="roundRect">
            <a:avLst>
              <a:gd name="adj" fmla="val 3478"/>
            </a:avLst>
          </a:prstGeom>
          <a:solidFill>
            <a:srgbClr val="1C1F26"/>
          </a:solidFill>
          <a:ln w="12700">
            <a:solidFill>
              <a:srgbClr val="2A2E38"/>
            </a:solidFill>
            <a:prstDash val="solid"/>
          </a:ln>
        </p:spPr>
      </p:sp>
      <p:sp>
        <p:nvSpPr>
          <p:cNvPr id="14" name="Text 12"/>
          <p:cNvSpPr txBox="1"/>
          <p:nvPr/>
        </p:nvSpPr>
        <p:spPr>
          <a:xfrm>
            <a:off x="6263640" y="2697480"/>
            <a:ext cx="2194560" cy="68580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540万円</a:t>
            </a:r>
            <a:endParaRPr lang="en-US" sz="2200" dirty="0"/>
          </a:p>
        </p:txBody>
      </p:sp>
      <p:sp>
        <p:nvSpPr>
          <p:cNvPr id="15" name="Text 13"/>
          <p:cNvSpPr txBox="1"/>
          <p:nvPr/>
        </p:nvSpPr>
        <p:spPr>
          <a:xfrm>
            <a:off x="6263640" y="3410712"/>
            <a:ext cx="2194560" cy="274320"/>
          </a:xfrm>
          <a:prstGeom prst="rect">
            <a:avLst/>
          </a:prstGeom>
          <a:noFill/>
          <a:ln/>
        </p:spPr>
        <p:txBody>
          <a:bodyPr wrap="square" lIns="0" tIns="0" rIns="0" bIns="0" rtlCol="0" anchor="t"/>
          <a:lstStyle/>
          <a:p>
            <a:pPr indent="0" marL="0">
              <a:buNone/>
            </a:pPr>
            <a:r>
              <a:rPr lang="en-US" sz="1200" b="1" dirty="0">
                <a:solidFill>
                  <a:srgbClr val="FFFFFF"/>
                </a:solidFill>
                <a:latin typeface="Meiryo" pitchFamily="34" charset="0"/>
                <a:ea typeface="Meiryo" pitchFamily="34" charset="-122"/>
                <a:cs typeface="Meiryo" pitchFamily="34" charset="-120"/>
              </a:rPr>
              <a:t>12ヶ月目の月商モデル</a:t>
            </a:r>
            <a:endParaRPr lang="en-US" sz="1200" dirty="0"/>
          </a:p>
        </p:txBody>
      </p:sp>
      <p:sp>
        <p:nvSpPr>
          <p:cNvPr id="16" name="Text 14"/>
          <p:cNvSpPr txBox="1"/>
          <p:nvPr/>
        </p:nvSpPr>
        <p:spPr>
          <a:xfrm>
            <a:off x="6263640" y="3685032"/>
            <a:ext cx="2194560" cy="457200"/>
          </a:xfrm>
          <a:prstGeom prst="rect">
            <a:avLst/>
          </a:prstGeom>
          <a:noFill/>
          <a:ln/>
        </p:spPr>
        <p:txBody>
          <a:bodyPr wrap="square" lIns="0" tIns="0" rIns="0" bIns="0" rtlCol="0" anchor="t"/>
          <a:lstStyle/>
          <a:p>
            <a:pPr indent="0" marL="0">
              <a:buNone/>
            </a:pPr>
            <a:r>
              <a:rPr lang="en-US" sz="950" dirty="0">
                <a:solidFill>
                  <a:srgbClr val="A9B0BD"/>
                </a:solidFill>
                <a:latin typeface="Meiryo" pitchFamily="34" charset="0"/>
                <a:ea typeface="Meiryo" pitchFamily="34" charset="-122"/>
                <a:cs typeface="Meiryo" pitchFamily="34" charset="-120"/>
              </a:rPr>
              <a:t>実写12話・AI15話・運用3社。継続比率69%</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228600"/>
          </a:xfrm>
          <a:prstGeom prst="rect">
            <a:avLst/>
          </a:prstGeom>
          <a:noFill/>
          <a:ln/>
        </p:spPr>
        <p:txBody>
          <a:bodyPr wrap="square" lIns="0" tIns="0" rIns="0" bIns="0" rtlCol="0" anchor="t"/>
          <a:lstStyle/>
          <a:p>
            <a:pPr indent="0" marL="0">
              <a:buNone/>
            </a:pPr>
            <a:r>
              <a:rPr lang="en-US" sz="1100" b="1" dirty="0">
                <a:solidFill>
                  <a:srgbClr val="E63946"/>
                </a:solidFill>
                <a:latin typeface="Meiryo" pitchFamily="34" charset="0"/>
                <a:ea typeface="Meiryo" pitchFamily="34" charset="-122"/>
                <a:cs typeface="Meiryo" pitchFamily="34" charset="-120"/>
              </a:rPr>
              <a:t>1. 市場リサーチ</a:t>
            </a:r>
            <a:endParaRPr lang="en-US" sz="1100" dirty="0"/>
          </a:p>
        </p:txBody>
      </p:sp>
      <p:sp>
        <p:nvSpPr>
          <p:cNvPr id="3" name="Text 1"/>
          <p:cNvSpPr txBox="1"/>
          <p:nvPr/>
        </p:nvSpPr>
        <p:spPr>
          <a:xfrm>
            <a:off x="548640" y="548640"/>
            <a:ext cx="8046720" cy="548640"/>
          </a:xfrm>
          <a:prstGeom prst="rect">
            <a:avLst/>
          </a:prstGeom>
          <a:noFill/>
          <a:ln/>
        </p:spPr>
        <p:txBody>
          <a:bodyPr wrap="square" lIns="0" tIns="0" rIns="0" bIns="0" rtlCol="0" anchor="t"/>
          <a:lstStyle/>
          <a:p>
            <a:pPr indent="0" marL="0">
              <a:buNone/>
            </a:pPr>
            <a:r>
              <a:rPr lang="en-US" sz="2200" b="1" dirty="0">
                <a:solidFill>
                  <a:srgbClr val="111318"/>
                </a:solidFill>
                <a:latin typeface="Meiryo" pitchFamily="34" charset="0"/>
                <a:ea typeface="Meiryo" pitchFamily="34" charset="-122"/>
                <a:cs typeface="Meiryo" pitchFamily="34" charset="-120"/>
              </a:rPr>
              <a:t>市場は「認知済み・量産期」に入っている</a:t>
            </a:r>
            <a:endParaRPr lang="en-US" sz="2200" dirty="0"/>
          </a:p>
        </p:txBody>
      </p:sp>
      <p:sp>
        <p:nvSpPr>
          <p:cNvPr id="4" name="Text 2"/>
          <p:cNvSpPr txBox="1"/>
          <p:nvPr/>
        </p:nvSpPr>
        <p:spPr>
          <a:xfrm>
            <a:off x="8229600" y="4754880"/>
            <a:ext cx="4572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pitchFamily="34" charset="0"/>
                <a:ea typeface="Meiryo" pitchFamily="34" charset="-122"/>
                <a:cs typeface="Meiryo" pitchFamily="34" charset="-120"/>
              </a:rPr>
              <a:t>03</a:t>
            </a:r>
            <a:endParaRPr lang="en-US" sz="900" dirty="0"/>
          </a:p>
        </p:txBody>
      </p:sp>
      <p:sp>
        <p:nvSpPr>
          <p:cNvPr id="5" name="Shape 3"/>
          <p:cNvSpPr/>
          <p:nvPr/>
        </p:nvSpPr>
        <p:spPr>
          <a:xfrm>
            <a:off x="548640" y="1280160"/>
            <a:ext cx="2560320" cy="1508760"/>
          </a:xfrm>
          <a:prstGeom prst="roundRect">
            <a:avLst>
              <a:gd name="adj" fmla="val 4848"/>
            </a:avLst>
          </a:prstGeom>
          <a:solidFill>
            <a:srgbClr val="F3F4F6"/>
          </a:solidFill>
          <a:ln w="12700">
            <a:solidFill>
              <a:srgbClr val="F3F4F6"/>
            </a:solidFill>
            <a:prstDash val="solid"/>
          </a:ln>
        </p:spPr>
      </p:sp>
      <p:sp>
        <p:nvSpPr>
          <p:cNvPr id="6" name="Text 4"/>
          <p:cNvSpPr txBox="1"/>
          <p:nvPr/>
        </p:nvSpPr>
        <p:spPr>
          <a:xfrm>
            <a:off x="777240" y="1463040"/>
            <a:ext cx="2194560" cy="548640"/>
          </a:xfrm>
          <a:prstGeom prst="rect">
            <a:avLst/>
          </a:prstGeom>
          <a:noFill/>
          <a:ln/>
        </p:spPr>
        <p:txBody>
          <a:bodyPr wrap="square" lIns="0" tIns="0" rIns="0" bIns="0" rtlCol="0" anchor="t"/>
          <a:lstStyle/>
          <a:p>
            <a:pPr indent="0" marL="0">
              <a:buNone/>
            </a:pPr>
            <a:r>
              <a:rPr lang="en-US" sz="2600" b="1" dirty="0">
                <a:solidFill>
                  <a:srgbClr val="E63946"/>
                </a:solidFill>
                <a:latin typeface="Meiryo" pitchFamily="34" charset="0"/>
                <a:ea typeface="Meiryo" pitchFamily="34" charset="-122"/>
                <a:cs typeface="Meiryo" pitchFamily="34" charset="-120"/>
              </a:rPr>
              <a:t>1,530億円</a:t>
            </a:r>
            <a:endParaRPr lang="en-US" sz="2600" dirty="0"/>
          </a:p>
        </p:txBody>
      </p:sp>
      <p:sp>
        <p:nvSpPr>
          <p:cNvPr id="7" name="Text 5"/>
          <p:cNvSpPr txBox="1"/>
          <p:nvPr/>
        </p:nvSpPr>
        <p:spPr>
          <a:xfrm>
            <a:off x="777240" y="2057400"/>
            <a:ext cx="2194560" cy="274320"/>
          </a:xfrm>
          <a:prstGeom prst="rect">
            <a:avLst/>
          </a:prstGeom>
          <a:noFill/>
          <a:ln/>
        </p:spPr>
        <p:txBody>
          <a:bodyPr wrap="square" lIns="0" tIns="0" rIns="0" bIns="0" rtlCol="0" anchor="t"/>
          <a:lstStyle/>
          <a:p>
            <a:pPr indent="0" marL="0">
              <a:buNone/>
            </a:pPr>
            <a:r>
              <a:rPr lang="en-US" sz="1150" b="1" dirty="0">
                <a:solidFill>
                  <a:srgbClr val="111318"/>
                </a:solidFill>
                <a:latin typeface="Meiryo" pitchFamily="34" charset="0"/>
                <a:ea typeface="Meiryo" pitchFamily="34" charset="-122"/>
                <a:cs typeface="Meiryo" pitchFamily="34" charset="-120"/>
              </a:rPr>
              <a:t>2026年 国内市場予測</a:t>
            </a:r>
            <a:endParaRPr lang="en-US" sz="1150" dirty="0"/>
          </a:p>
        </p:txBody>
      </p:sp>
      <p:sp>
        <p:nvSpPr>
          <p:cNvPr id="8" name="Text 6"/>
          <p:cNvSpPr txBox="1"/>
          <p:nvPr/>
        </p:nvSpPr>
        <p:spPr>
          <a:xfrm>
            <a:off x="777240" y="2350008"/>
            <a:ext cx="2194560" cy="320040"/>
          </a:xfrm>
          <a:prstGeom prst="rect">
            <a:avLst/>
          </a:prstGeom>
          <a:noFill/>
          <a:ln/>
        </p:spPr>
        <p:txBody>
          <a:bodyPr wrap="square" lIns="0" tIns="0" rIns="0" bIns="0" rtlCol="0" anchor="t"/>
          <a:lstStyle/>
          <a:p>
            <a:pPr indent="0" marL="0">
              <a:buNone/>
            </a:pPr>
            <a:r>
              <a:rPr lang="en-US" sz="900" dirty="0">
                <a:solidFill>
                  <a:srgbClr val="6B7280"/>
                </a:solidFill>
                <a:latin typeface="Meiryo" pitchFamily="34" charset="0"/>
                <a:ea typeface="Meiryo" pitchFamily="34" charset="-122"/>
                <a:cs typeface="Meiryo" pitchFamily="34" charset="-120"/>
              </a:rPr>
              <a:t>CREAVE予測 / Branc</a:t>
            </a:r>
            <a:endParaRPr lang="en-US" sz="900" dirty="0"/>
          </a:p>
        </p:txBody>
      </p:sp>
      <p:sp>
        <p:nvSpPr>
          <p:cNvPr id="9" name="Shape 7"/>
          <p:cNvSpPr/>
          <p:nvPr/>
        </p:nvSpPr>
        <p:spPr>
          <a:xfrm>
            <a:off x="3291840" y="1280160"/>
            <a:ext cx="2560320" cy="1508760"/>
          </a:xfrm>
          <a:prstGeom prst="roundRect">
            <a:avLst>
              <a:gd name="adj" fmla="val 4848"/>
            </a:avLst>
          </a:prstGeom>
          <a:solidFill>
            <a:srgbClr val="F3F4F6"/>
          </a:solidFill>
          <a:ln w="12700">
            <a:solidFill>
              <a:srgbClr val="F3F4F6"/>
            </a:solidFill>
            <a:prstDash val="solid"/>
          </a:ln>
        </p:spPr>
      </p:sp>
      <p:sp>
        <p:nvSpPr>
          <p:cNvPr id="10" name="Text 8"/>
          <p:cNvSpPr txBox="1"/>
          <p:nvPr/>
        </p:nvSpPr>
        <p:spPr>
          <a:xfrm>
            <a:off x="3520440" y="1463040"/>
            <a:ext cx="2194560" cy="548640"/>
          </a:xfrm>
          <a:prstGeom prst="rect">
            <a:avLst/>
          </a:prstGeom>
          <a:noFill/>
          <a:ln/>
        </p:spPr>
        <p:txBody>
          <a:bodyPr wrap="square" lIns="0" tIns="0" rIns="0" bIns="0" rtlCol="0" anchor="t"/>
          <a:lstStyle/>
          <a:p>
            <a:pPr indent="0" marL="0">
              <a:buNone/>
            </a:pPr>
            <a:r>
              <a:rPr lang="en-US" sz="2600" b="1" dirty="0">
                <a:solidFill>
                  <a:srgbClr val="E63946"/>
                </a:solidFill>
                <a:latin typeface="Meiryo" pitchFamily="34" charset="0"/>
                <a:ea typeface="Meiryo" pitchFamily="34" charset="-122"/>
                <a:cs typeface="Meiryo" pitchFamily="34" charset="-120"/>
              </a:rPr>
              <a:t>91.6%</a:t>
            </a:r>
            <a:endParaRPr lang="en-US" sz="2600" dirty="0"/>
          </a:p>
        </p:txBody>
      </p:sp>
      <p:sp>
        <p:nvSpPr>
          <p:cNvPr id="11" name="Text 9"/>
          <p:cNvSpPr txBox="1"/>
          <p:nvPr/>
        </p:nvSpPr>
        <p:spPr>
          <a:xfrm>
            <a:off x="3520440" y="2057400"/>
            <a:ext cx="2194560" cy="274320"/>
          </a:xfrm>
          <a:prstGeom prst="rect">
            <a:avLst/>
          </a:prstGeom>
          <a:noFill/>
          <a:ln/>
        </p:spPr>
        <p:txBody>
          <a:bodyPr wrap="square" lIns="0" tIns="0" rIns="0" bIns="0" rtlCol="0" anchor="t"/>
          <a:lstStyle/>
          <a:p>
            <a:pPr indent="0" marL="0">
              <a:buNone/>
            </a:pPr>
            <a:r>
              <a:rPr lang="en-US" sz="1150" b="1" dirty="0">
                <a:solidFill>
                  <a:srgbClr val="111318"/>
                </a:solidFill>
                <a:latin typeface="Meiryo" pitchFamily="34" charset="0"/>
                <a:ea typeface="Meiryo" pitchFamily="34" charset="-122"/>
                <a:cs typeface="Meiryo" pitchFamily="34" charset="-120"/>
              </a:rPr>
              <a:t>ショートドラマ認知度</a:t>
            </a:r>
            <a:endParaRPr lang="en-US" sz="1150" dirty="0"/>
          </a:p>
        </p:txBody>
      </p:sp>
      <p:sp>
        <p:nvSpPr>
          <p:cNvPr id="12" name="Text 10"/>
          <p:cNvSpPr txBox="1"/>
          <p:nvPr/>
        </p:nvSpPr>
        <p:spPr>
          <a:xfrm>
            <a:off x="3520440" y="2350008"/>
            <a:ext cx="2194560" cy="320040"/>
          </a:xfrm>
          <a:prstGeom prst="rect">
            <a:avLst/>
          </a:prstGeom>
          <a:noFill/>
          <a:ln/>
        </p:spPr>
        <p:txBody>
          <a:bodyPr wrap="square" lIns="0" tIns="0" rIns="0" bIns="0" rtlCol="0" anchor="t"/>
          <a:lstStyle/>
          <a:p>
            <a:pPr indent="0" marL="0">
              <a:buNone/>
            </a:pPr>
            <a:r>
              <a:rPr lang="en-US" sz="900" dirty="0">
                <a:solidFill>
                  <a:srgbClr val="6B7280"/>
                </a:solidFill>
                <a:latin typeface="Meiryo" pitchFamily="34" charset="0"/>
                <a:ea typeface="Meiryo" pitchFamily="34" charset="-122"/>
                <a:cs typeface="Meiryo" pitchFamily="34" charset="-120"/>
              </a:rPr>
              <a:t>ガイアックス調査 2026年5月</a:t>
            </a:r>
            <a:endParaRPr lang="en-US" sz="900" dirty="0"/>
          </a:p>
        </p:txBody>
      </p:sp>
      <p:sp>
        <p:nvSpPr>
          <p:cNvPr id="13" name="Shape 11"/>
          <p:cNvSpPr/>
          <p:nvPr/>
        </p:nvSpPr>
        <p:spPr>
          <a:xfrm>
            <a:off x="6035040" y="1280160"/>
            <a:ext cx="2560320" cy="1508760"/>
          </a:xfrm>
          <a:prstGeom prst="roundRect">
            <a:avLst>
              <a:gd name="adj" fmla="val 4848"/>
            </a:avLst>
          </a:prstGeom>
          <a:solidFill>
            <a:srgbClr val="F3F4F6"/>
          </a:solidFill>
          <a:ln w="12700">
            <a:solidFill>
              <a:srgbClr val="F3F4F6"/>
            </a:solidFill>
            <a:prstDash val="solid"/>
          </a:ln>
        </p:spPr>
      </p:sp>
      <p:sp>
        <p:nvSpPr>
          <p:cNvPr id="14" name="Text 12"/>
          <p:cNvSpPr txBox="1"/>
          <p:nvPr/>
        </p:nvSpPr>
        <p:spPr>
          <a:xfrm>
            <a:off x="6263640" y="1463040"/>
            <a:ext cx="2194560" cy="548640"/>
          </a:xfrm>
          <a:prstGeom prst="rect">
            <a:avLst/>
          </a:prstGeom>
          <a:noFill/>
          <a:ln/>
        </p:spPr>
        <p:txBody>
          <a:bodyPr wrap="square" lIns="0" tIns="0" rIns="0" bIns="0" rtlCol="0" anchor="t"/>
          <a:lstStyle/>
          <a:p>
            <a:pPr indent="0" marL="0">
              <a:buNone/>
            </a:pPr>
            <a:r>
              <a:rPr lang="en-US" sz="2600" b="1" dirty="0">
                <a:solidFill>
                  <a:srgbClr val="E63946"/>
                </a:solidFill>
                <a:latin typeface="Meiryo" pitchFamily="34" charset="0"/>
                <a:ea typeface="Meiryo" pitchFamily="34" charset="-122"/>
                <a:cs typeface="Meiryo" pitchFamily="34" charset="-120"/>
              </a:rPr>
              <a:t>75%</a:t>
            </a:r>
            <a:endParaRPr lang="en-US" sz="2600" dirty="0"/>
          </a:p>
        </p:txBody>
      </p:sp>
      <p:sp>
        <p:nvSpPr>
          <p:cNvPr id="15" name="Text 13"/>
          <p:cNvSpPr txBox="1"/>
          <p:nvPr/>
        </p:nvSpPr>
        <p:spPr>
          <a:xfrm>
            <a:off x="6263640" y="2057400"/>
            <a:ext cx="2194560" cy="274320"/>
          </a:xfrm>
          <a:prstGeom prst="rect">
            <a:avLst/>
          </a:prstGeom>
          <a:noFill/>
          <a:ln/>
        </p:spPr>
        <p:txBody>
          <a:bodyPr wrap="square" lIns="0" tIns="0" rIns="0" bIns="0" rtlCol="0" anchor="t"/>
          <a:lstStyle/>
          <a:p>
            <a:pPr indent="0" marL="0">
              <a:buNone/>
            </a:pPr>
            <a:r>
              <a:rPr lang="en-US" sz="1150" b="1" dirty="0">
                <a:solidFill>
                  <a:srgbClr val="111318"/>
                </a:solidFill>
                <a:latin typeface="Meiryo" pitchFamily="34" charset="0"/>
                <a:ea typeface="Meiryo" pitchFamily="34" charset="-122"/>
                <a:cs typeface="Meiryo" pitchFamily="34" charset="-120"/>
              </a:rPr>
              <a:t>視聴経験あり</a:t>
            </a:r>
            <a:endParaRPr lang="en-US" sz="1150" dirty="0"/>
          </a:p>
        </p:txBody>
      </p:sp>
      <p:sp>
        <p:nvSpPr>
          <p:cNvPr id="16" name="Text 14"/>
          <p:cNvSpPr txBox="1"/>
          <p:nvPr/>
        </p:nvSpPr>
        <p:spPr>
          <a:xfrm>
            <a:off x="6263640" y="2350008"/>
            <a:ext cx="2194560" cy="320040"/>
          </a:xfrm>
          <a:prstGeom prst="rect">
            <a:avLst/>
          </a:prstGeom>
          <a:noFill/>
          <a:ln/>
        </p:spPr>
        <p:txBody>
          <a:bodyPr wrap="square" lIns="0" tIns="0" rIns="0" bIns="0" rtlCol="0" anchor="t"/>
          <a:lstStyle/>
          <a:p>
            <a:pPr indent="0" marL="0">
              <a:buNone/>
            </a:pPr>
            <a:r>
              <a:rPr lang="en-US" sz="900" dirty="0">
                <a:solidFill>
                  <a:srgbClr val="6B7280"/>
                </a:solidFill>
                <a:latin typeface="Meiryo" pitchFamily="34" charset="0"/>
                <a:ea typeface="Meiryo" pitchFamily="34" charset="-122"/>
                <a:cs typeface="Meiryo" pitchFamily="34" charset="-120"/>
              </a:rPr>
              <a:t>同上</a:t>
            </a:r>
            <a:endParaRPr lang="en-US" sz="900" dirty="0"/>
          </a:p>
        </p:txBody>
      </p:sp>
      <p:sp>
        <p:nvSpPr>
          <p:cNvPr id="17" name="Shape 15"/>
          <p:cNvSpPr/>
          <p:nvPr/>
        </p:nvSpPr>
        <p:spPr>
          <a:xfrm>
            <a:off x="548640" y="2971800"/>
            <a:ext cx="2560320" cy="1508760"/>
          </a:xfrm>
          <a:prstGeom prst="roundRect">
            <a:avLst>
              <a:gd name="adj" fmla="val 4848"/>
            </a:avLst>
          </a:prstGeom>
          <a:solidFill>
            <a:srgbClr val="F3F4F6"/>
          </a:solidFill>
          <a:ln w="12700">
            <a:solidFill>
              <a:srgbClr val="F3F4F6"/>
            </a:solidFill>
            <a:prstDash val="solid"/>
          </a:ln>
        </p:spPr>
      </p:sp>
      <p:sp>
        <p:nvSpPr>
          <p:cNvPr id="18" name="Text 16"/>
          <p:cNvSpPr txBox="1"/>
          <p:nvPr/>
        </p:nvSpPr>
        <p:spPr>
          <a:xfrm>
            <a:off x="777240" y="3154680"/>
            <a:ext cx="2194560" cy="548640"/>
          </a:xfrm>
          <a:prstGeom prst="rect">
            <a:avLst/>
          </a:prstGeom>
          <a:noFill/>
          <a:ln/>
        </p:spPr>
        <p:txBody>
          <a:bodyPr wrap="square" lIns="0" tIns="0" rIns="0" bIns="0" rtlCol="0" anchor="t"/>
          <a:lstStyle/>
          <a:p>
            <a:pPr indent="0" marL="0">
              <a:buNone/>
            </a:pPr>
            <a:r>
              <a:rPr lang="en-US" sz="2600" b="1" dirty="0">
                <a:solidFill>
                  <a:srgbClr val="E63946"/>
                </a:solidFill>
                <a:latin typeface="Meiryo" pitchFamily="34" charset="0"/>
                <a:ea typeface="Meiryo" pitchFamily="34" charset="-122"/>
                <a:cs typeface="Meiryo" pitchFamily="34" charset="-120"/>
              </a:rPr>
              <a:t>42.4%</a:t>
            </a:r>
            <a:endParaRPr lang="en-US" sz="2600" dirty="0"/>
          </a:p>
        </p:txBody>
      </p:sp>
      <p:sp>
        <p:nvSpPr>
          <p:cNvPr id="19" name="Text 17"/>
          <p:cNvSpPr txBox="1"/>
          <p:nvPr/>
        </p:nvSpPr>
        <p:spPr>
          <a:xfrm>
            <a:off x="777240" y="3749040"/>
            <a:ext cx="2194560" cy="274320"/>
          </a:xfrm>
          <a:prstGeom prst="rect">
            <a:avLst/>
          </a:prstGeom>
          <a:noFill/>
          <a:ln/>
        </p:spPr>
        <p:txBody>
          <a:bodyPr wrap="square" lIns="0" tIns="0" rIns="0" bIns="0" rtlCol="0" anchor="t"/>
          <a:lstStyle/>
          <a:p>
            <a:pPr indent="0" marL="0">
              <a:buNone/>
            </a:pPr>
            <a:r>
              <a:rPr lang="en-US" sz="1150" b="1" dirty="0">
                <a:solidFill>
                  <a:srgbClr val="111318"/>
                </a:solidFill>
                <a:latin typeface="Meiryo" pitchFamily="34" charset="0"/>
                <a:ea typeface="Meiryo" pitchFamily="34" charset="-122"/>
                <a:cs typeface="Meiryo" pitchFamily="34" charset="-120"/>
              </a:rPr>
              <a:t>視聴媒体1位はTikTok</a:t>
            </a:r>
            <a:endParaRPr lang="en-US" sz="1150" dirty="0"/>
          </a:p>
        </p:txBody>
      </p:sp>
      <p:sp>
        <p:nvSpPr>
          <p:cNvPr id="20" name="Text 18"/>
          <p:cNvSpPr txBox="1"/>
          <p:nvPr/>
        </p:nvSpPr>
        <p:spPr>
          <a:xfrm>
            <a:off x="777240" y="4041648"/>
            <a:ext cx="2194560" cy="320040"/>
          </a:xfrm>
          <a:prstGeom prst="rect">
            <a:avLst/>
          </a:prstGeom>
          <a:noFill/>
          <a:ln/>
        </p:spPr>
        <p:txBody>
          <a:bodyPr wrap="square" lIns="0" tIns="0" rIns="0" bIns="0" rtlCol="0" anchor="t"/>
          <a:lstStyle/>
          <a:p>
            <a:pPr indent="0" marL="0">
              <a:buNone/>
            </a:pPr>
            <a:r>
              <a:rPr lang="en-US" sz="900" dirty="0">
                <a:solidFill>
                  <a:srgbClr val="6B7280"/>
                </a:solidFill>
                <a:latin typeface="Meiryo" pitchFamily="34" charset="0"/>
                <a:ea typeface="Meiryo" pitchFamily="34" charset="-122"/>
                <a:cs typeface="Meiryo" pitchFamily="34" charset="-120"/>
              </a:rPr>
              <a:t>YouTube・Instagramを上回る</a:t>
            </a:r>
            <a:endParaRPr lang="en-US" sz="900" dirty="0"/>
          </a:p>
        </p:txBody>
      </p:sp>
      <p:sp>
        <p:nvSpPr>
          <p:cNvPr id="21" name="Shape 19"/>
          <p:cNvSpPr/>
          <p:nvPr/>
        </p:nvSpPr>
        <p:spPr>
          <a:xfrm>
            <a:off x="3291840" y="2971800"/>
            <a:ext cx="2560320" cy="1508760"/>
          </a:xfrm>
          <a:prstGeom prst="roundRect">
            <a:avLst>
              <a:gd name="adj" fmla="val 4848"/>
            </a:avLst>
          </a:prstGeom>
          <a:solidFill>
            <a:srgbClr val="F3F4F6"/>
          </a:solidFill>
          <a:ln w="12700">
            <a:solidFill>
              <a:srgbClr val="F3F4F6"/>
            </a:solidFill>
            <a:prstDash val="solid"/>
          </a:ln>
        </p:spPr>
      </p:sp>
      <p:sp>
        <p:nvSpPr>
          <p:cNvPr id="22" name="Text 20"/>
          <p:cNvSpPr txBox="1"/>
          <p:nvPr/>
        </p:nvSpPr>
        <p:spPr>
          <a:xfrm>
            <a:off x="3520440" y="3154680"/>
            <a:ext cx="2194560" cy="548640"/>
          </a:xfrm>
          <a:prstGeom prst="rect">
            <a:avLst/>
          </a:prstGeom>
          <a:noFill/>
          <a:ln/>
        </p:spPr>
        <p:txBody>
          <a:bodyPr wrap="square" lIns="0" tIns="0" rIns="0" bIns="0" rtlCol="0" anchor="t"/>
          <a:lstStyle/>
          <a:p>
            <a:pPr indent="0" marL="0">
              <a:buNone/>
            </a:pPr>
            <a:r>
              <a:rPr lang="en-US" sz="2600" b="1" dirty="0">
                <a:solidFill>
                  <a:srgbClr val="E63946"/>
                </a:solidFill>
                <a:latin typeface="Meiryo" pitchFamily="34" charset="0"/>
                <a:ea typeface="Meiryo" pitchFamily="34" charset="-122"/>
                <a:cs typeface="Meiryo" pitchFamily="34" charset="-120"/>
              </a:rPr>
              <a:t>4,200万人</a:t>
            </a:r>
            <a:endParaRPr lang="en-US" sz="2600" dirty="0"/>
          </a:p>
        </p:txBody>
      </p:sp>
      <p:sp>
        <p:nvSpPr>
          <p:cNvPr id="23" name="Text 21"/>
          <p:cNvSpPr txBox="1"/>
          <p:nvPr/>
        </p:nvSpPr>
        <p:spPr>
          <a:xfrm>
            <a:off x="3520440" y="3749040"/>
            <a:ext cx="2194560" cy="274320"/>
          </a:xfrm>
          <a:prstGeom prst="rect">
            <a:avLst/>
          </a:prstGeom>
          <a:noFill/>
          <a:ln/>
        </p:spPr>
        <p:txBody>
          <a:bodyPr wrap="square" lIns="0" tIns="0" rIns="0" bIns="0" rtlCol="0" anchor="t"/>
          <a:lstStyle/>
          <a:p>
            <a:pPr indent="0" marL="0">
              <a:buNone/>
            </a:pPr>
            <a:r>
              <a:rPr lang="en-US" sz="1150" b="1" dirty="0">
                <a:solidFill>
                  <a:srgbClr val="111318"/>
                </a:solidFill>
                <a:latin typeface="Meiryo" pitchFamily="34" charset="0"/>
                <a:ea typeface="Meiryo" pitchFamily="34" charset="-122"/>
                <a:cs typeface="Meiryo" pitchFamily="34" charset="-120"/>
              </a:rPr>
              <a:t>TikTok国内ユーザー</a:t>
            </a:r>
            <a:endParaRPr lang="en-US" sz="1150" dirty="0"/>
          </a:p>
        </p:txBody>
      </p:sp>
      <p:sp>
        <p:nvSpPr>
          <p:cNvPr id="24" name="Text 22"/>
          <p:cNvSpPr txBox="1"/>
          <p:nvPr/>
        </p:nvSpPr>
        <p:spPr>
          <a:xfrm>
            <a:off x="3520440" y="4041648"/>
            <a:ext cx="2194560" cy="320040"/>
          </a:xfrm>
          <a:prstGeom prst="rect">
            <a:avLst/>
          </a:prstGeom>
          <a:noFill/>
          <a:ln/>
        </p:spPr>
        <p:txBody>
          <a:bodyPr wrap="square" lIns="0" tIns="0" rIns="0" bIns="0" rtlCol="0" anchor="t"/>
          <a:lstStyle/>
          <a:p>
            <a:pPr indent="0" marL="0">
              <a:buNone/>
            </a:pPr>
            <a:r>
              <a:rPr lang="en-US" sz="900" dirty="0">
                <a:solidFill>
                  <a:srgbClr val="6B7280"/>
                </a:solidFill>
                <a:latin typeface="Meiryo" pitchFamily="34" charset="0"/>
                <a:ea typeface="Meiryo" pitchFamily="34" charset="-122"/>
                <a:cs typeface="Meiryo" pitchFamily="34" charset="-120"/>
              </a:rPr>
              <a:t>10〜30代が65.5%、40〜50代も拡大</a:t>
            </a:r>
            <a:endParaRPr lang="en-US" sz="900" dirty="0"/>
          </a:p>
        </p:txBody>
      </p:sp>
      <p:sp>
        <p:nvSpPr>
          <p:cNvPr id="25" name="Shape 23"/>
          <p:cNvSpPr/>
          <p:nvPr/>
        </p:nvSpPr>
        <p:spPr>
          <a:xfrm>
            <a:off x="6035040" y="2971800"/>
            <a:ext cx="2560320" cy="1508760"/>
          </a:xfrm>
          <a:prstGeom prst="roundRect">
            <a:avLst>
              <a:gd name="adj" fmla="val 4848"/>
            </a:avLst>
          </a:prstGeom>
          <a:solidFill>
            <a:srgbClr val="F3F4F6"/>
          </a:solidFill>
          <a:ln w="12700">
            <a:solidFill>
              <a:srgbClr val="F3F4F6"/>
            </a:solidFill>
            <a:prstDash val="solid"/>
          </a:ln>
        </p:spPr>
      </p:sp>
      <p:sp>
        <p:nvSpPr>
          <p:cNvPr id="26" name="Text 24"/>
          <p:cNvSpPr txBox="1"/>
          <p:nvPr/>
        </p:nvSpPr>
        <p:spPr>
          <a:xfrm>
            <a:off x="6263640" y="3154680"/>
            <a:ext cx="2194560" cy="548640"/>
          </a:xfrm>
          <a:prstGeom prst="rect">
            <a:avLst/>
          </a:prstGeom>
          <a:noFill/>
          <a:ln/>
        </p:spPr>
        <p:txBody>
          <a:bodyPr wrap="square" lIns="0" tIns="0" rIns="0" bIns="0" rtlCol="0" anchor="t"/>
          <a:lstStyle/>
          <a:p>
            <a:pPr indent="0" marL="0">
              <a:buNone/>
            </a:pPr>
            <a:r>
              <a:rPr lang="en-US" sz="2600" b="1" dirty="0">
                <a:solidFill>
                  <a:srgbClr val="E63946"/>
                </a:solidFill>
                <a:latin typeface="Meiryo" pitchFamily="34" charset="0"/>
                <a:ea typeface="Meiryo" pitchFamily="34" charset="-122"/>
                <a:cs typeface="Meiryo" pitchFamily="34" charset="-120"/>
              </a:rPr>
              <a:t>1兆円超</a:t>
            </a:r>
            <a:endParaRPr lang="en-US" sz="2600" dirty="0"/>
          </a:p>
        </p:txBody>
      </p:sp>
      <p:sp>
        <p:nvSpPr>
          <p:cNvPr id="27" name="Text 25"/>
          <p:cNvSpPr txBox="1"/>
          <p:nvPr/>
        </p:nvSpPr>
        <p:spPr>
          <a:xfrm>
            <a:off x="6263640" y="3749040"/>
            <a:ext cx="2194560" cy="274320"/>
          </a:xfrm>
          <a:prstGeom prst="rect">
            <a:avLst/>
          </a:prstGeom>
          <a:noFill/>
          <a:ln/>
        </p:spPr>
        <p:txBody>
          <a:bodyPr wrap="square" lIns="0" tIns="0" rIns="0" bIns="0" rtlCol="0" anchor="t"/>
          <a:lstStyle/>
          <a:p>
            <a:pPr indent="0" marL="0">
              <a:buNone/>
            </a:pPr>
            <a:r>
              <a:rPr lang="en-US" sz="1150" b="1" dirty="0">
                <a:solidFill>
                  <a:srgbClr val="111318"/>
                </a:solidFill>
                <a:latin typeface="Meiryo" pitchFamily="34" charset="0"/>
                <a:ea typeface="Meiryo" pitchFamily="34" charset="-122"/>
                <a:cs typeface="Meiryo" pitchFamily="34" charset="-120"/>
              </a:rPr>
              <a:t>動画広告市場（2026年）</a:t>
            </a:r>
            <a:endParaRPr lang="en-US" sz="1150" dirty="0"/>
          </a:p>
        </p:txBody>
      </p:sp>
      <p:sp>
        <p:nvSpPr>
          <p:cNvPr id="28" name="Text 26"/>
          <p:cNvSpPr txBox="1"/>
          <p:nvPr/>
        </p:nvSpPr>
        <p:spPr>
          <a:xfrm>
            <a:off x="6263640" y="4041648"/>
            <a:ext cx="2194560" cy="320040"/>
          </a:xfrm>
          <a:prstGeom prst="rect">
            <a:avLst/>
          </a:prstGeom>
          <a:noFill/>
          <a:ln/>
        </p:spPr>
        <p:txBody>
          <a:bodyPr wrap="square" lIns="0" tIns="0" rIns="0" bIns="0" rtlCol="0" anchor="t"/>
          <a:lstStyle/>
          <a:p>
            <a:pPr indent="0" marL="0">
              <a:buNone/>
            </a:pPr>
            <a:r>
              <a:rPr lang="en-US" sz="900" dirty="0">
                <a:solidFill>
                  <a:srgbClr val="6B7280"/>
                </a:solidFill>
                <a:latin typeface="Meiryo" pitchFamily="34" charset="0"/>
                <a:ea typeface="Meiryo" pitchFamily="34" charset="-122"/>
                <a:cs typeface="Meiryo" pitchFamily="34" charset="-120"/>
              </a:rPr>
              <a:t>縦型動画のシェアが急拡大</a:t>
            </a:r>
            <a:endParaRPr lang="en-US" sz="900" dirty="0"/>
          </a:p>
        </p:txBody>
      </p:sp>
      <p:sp>
        <p:nvSpPr>
          <p:cNvPr id="29" name="Text 27"/>
          <p:cNvSpPr txBox="1"/>
          <p:nvPr/>
        </p:nvSpPr>
        <p:spPr>
          <a:xfrm>
            <a:off x="548640" y="4681728"/>
            <a:ext cx="7589520" cy="320040"/>
          </a:xfrm>
          <a:prstGeom prst="rect">
            <a:avLst/>
          </a:prstGeom>
          <a:noFill/>
          <a:ln/>
        </p:spPr>
        <p:txBody>
          <a:bodyPr wrap="square" lIns="0" tIns="0" rIns="0" bIns="0" rtlCol="0" anchor="t"/>
          <a:lstStyle/>
          <a:p>
            <a:pPr indent="0" marL="0">
              <a:buNone/>
            </a:pPr>
            <a:r>
              <a:rPr lang="en-US" sz="1000" i="1" dirty="0">
                <a:solidFill>
                  <a:srgbClr val="1D3557"/>
                </a:solidFill>
                <a:latin typeface="Meiryo" pitchFamily="34" charset="0"/>
                <a:ea typeface="Meiryo" pitchFamily="34" charset="-122"/>
                <a:cs typeface="Meiryo" pitchFamily="34" charset="-120"/>
              </a:rPr>
              <a:t>示唆：企業の関心は「ドラマ形式が有効か」ではなく「うちの業種で成果が出るか、いくらで、誰が作るか」に移っている。</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228600"/>
          </a:xfrm>
          <a:prstGeom prst="rect">
            <a:avLst/>
          </a:prstGeom>
          <a:noFill/>
          <a:ln/>
        </p:spPr>
        <p:txBody>
          <a:bodyPr wrap="square" lIns="0" tIns="0" rIns="0" bIns="0" rtlCol="0" anchor="t"/>
          <a:lstStyle/>
          <a:p>
            <a:pPr indent="0" marL="0">
              <a:buNone/>
            </a:pPr>
            <a:r>
              <a:rPr lang="en-US" sz="1100" b="1" dirty="0">
                <a:solidFill>
                  <a:srgbClr val="E63946"/>
                </a:solidFill>
                <a:latin typeface="Meiryo" pitchFamily="34" charset="0"/>
                <a:ea typeface="Meiryo" pitchFamily="34" charset="-122"/>
                <a:cs typeface="Meiryo" pitchFamily="34" charset="-120"/>
              </a:rPr>
              <a:t>1. 市場リサーチ</a:t>
            </a:r>
            <a:endParaRPr lang="en-US" sz="1100" dirty="0"/>
          </a:p>
        </p:txBody>
      </p:sp>
      <p:sp>
        <p:nvSpPr>
          <p:cNvPr id="3" name="Text 1"/>
          <p:cNvSpPr txBox="1"/>
          <p:nvPr/>
        </p:nvSpPr>
        <p:spPr>
          <a:xfrm>
            <a:off x="548640" y="548640"/>
            <a:ext cx="8046720" cy="548640"/>
          </a:xfrm>
          <a:prstGeom prst="rect">
            <a:avLst/>
          </a:prstGeom>
          <a:noFill/>
          <a:ln/>
        </p:spPr>
        <p:txBody>
          <a:bodyPr wrap="square" lIns="0" tIns="0" rIns="0" bIns="0" rtlCol="0" anchor="t"/>
          <a:lstStyle/>
          <a:p>
            <a:pPr indent="0" marL="0">
              <a:buNone/>
            </a:pPr>
            <a:r>
              <a:rPr lang="en-US" sz="2200" b="1" dirty="0">
                <a:solidFill>
                  <a:srgbClr val="111318"/>
                </a:solidFill>
                <a:latin typeface="Meiryo" pitchFamily="34" charset="0"/>
                <a:ea typeface="Meiryo" pitchFamily="34" charset="-122"/>
                <a:cs typeface="Meiryo" pitchFamily="34" charset="-120"/>
              </a:rPr>
              <a:t>資本流入・テレビ局参入・AI量産が同時に起きている</a:t>
            </a:r>
            <a:endParaRPr lang="en-US" sz="2200" dirty="0"/>
          </a:p>
        </p:txBody>
      </p:sp>
      <p:sp>
        <p:nvSpPr>
          <p:cNvPr id="4" name="Text 2"/>
          <p:cNvSpPr txBox="1"/>
          <p:nvPr/>
        </p:nvSpPr>
        <p:spPr>
          <a:xfrm>
            <a:off x="8229600" y="4754880"/>
            <a:ext cx="4572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pitchFamily="34" charset="0"/>
                <a:ea typeface="Meiryo" pitchFamily="34" charset="-122"/>
                <a:cs typeface="Meiryo" pitchFamily="34" charset="-120"/>
              </a:rPr>
              <a:t>04</a:t>
            </a:r>
            <a:endParaRPr lang="en-US" sz="900" dirty="0"/>
          </a:p>
        </p:txBody>
      </p:sp>
      <p:sp>
        <p:nvSpPr>
          <p:cNvPr id="5" name="Shape 3"/>
          <p:cNvSpPr/>
          <p:nvPr/>
        </p:nvSpPr>
        <p:spPr>
          <a:xfrm>
            <a:off x="548640" y="1280160"/>
            <a:ext cx="2560320" cy="3291840"/>
          </a:xfrm>
          <a:prstGeom prst="roundRect">
            <a:avLst>
              <a:gd name="adj" fmla="val 2857"/>
            </a:avLst>
          </a:prstGeom>
          <a:solidFill>
            <a:srgbClr val="F3F4F6"/>
          </a:solidFill>
          <a:ln w="12700">
            <a:solidFill>
              <a:srgbClr val="F3F4F6"/>
            </a:solidFill>
            <a:prstDash val="solid"/>
          </a:ln>
        </p:spPr>
      </p:sp>
      <p:sp>
        <p:nvSpPr>
          <p:cNvPr id="6" name="Shape 4"/>
          <p:cNvSpPr/>
          <p:nvPr/>
        </p:nvSpPr>
        <p:spPr>
          <a:xfrm>
            <a:off x="777240" y="1463040"/>
            <a:ext cx="411480" cy="411480"/>
          </a:xfrm>
          <a:prstGeom prst="ellipse">
            <a:avLst/>
          </a:prstGeom>
          <a:solidFill>
            <a:srgbClr val="E63946"/>
          </a:solidFill>
          <a:ln w="12700">
            <a:solidFill>
              <a:srgbClr val="E63946"/>
            </a:solidFill>
            <a:prstDash val="solid"/>
          </a:ln>
        </p:spPr>
      </p:sp>
      <p:pic>
        <p:nvPicPr>
          <p:cNvPr id="7" name="Image 0" descr="preencoded.png">    </p:cNvPr>
          <p:cNvPicPr>
            <a:picLocks noChangeAspect="1"/>
          </p:cNvPicPr>
          <p:nvPr/>
        </p:nvPicPr>
        <p:blipFill>
          <a:blip r:embed="rId1"/>
          <a:stretch>
            <a:fillRect/>
          </a:stretch>
        </p:blipFill>
        <p:spPr>
          <a:xfrm>
            <a:off x="880110" y="1565910"/>
            <a:ext cx="205740" cy="205740"/>
          </a:xfrm>
          <a:prstGeom prst="rect">
            <a:avLst/>
          </a:prstGeom>
        </p:spPr>
      </p:pic>
      <p:sp>
        <p:nvSpPr>
          <p:cNvPr id="8" name="Text 5"/>
          <p:cNvSpPr txBox="1"/>
          <p:nvPr/>
        </p:nvSpPr>
        <p:spPr>
          <a:xfrm>
            <a:off x="1325880" y="1517904"/>
            <a:ext cx="1737360" cy="320040"/>
          </a:xfrm>
          <a:prstGeom prst="rect">
            <a:avLst/>
          </a:prstGeom>
          <a:noFill/>
          <a:ln/>
        </p:spPr>
        <p:txBody>
          <a:bodyPr wrap="square" lIns="0" tIns="0" rIns="0" bIns="0" rtlCol="0" anchor="t"/>
          <a:lstStyle/>
          <a:p>
            <a:pPr indent="0" marL="0">
              <a:buNone/>
            </a:pPr>
            <a:r>
              <a:rPr lang="en-US" sz="1300" b="1" dirty="0">
                <a:solidFill>
                  <a:srgbClr val="111318"/>
                </a:solidFill>
                <a:latin typeface="Meiryo" pitchFamily="34" charset="0"/>
                <a:ea typeface="Meiryo" pitchFamily="34" charset="-122"/>
                <a:cs typeface="Meiryo" pitchFamily="34" charset="-120"/>
              </a:rPr>
              <a:t>資本とプレイヤー</a:t>
            </a:r>
            <a:endParaRPr lang="en-US" sz="1300" dirty="0"/>
          </a:p>
        </p:txBody>
      </p:sp>
      <p:sp>
        <p:nvSpPr>
          <p:cNvPr id="9" name="Text 6"/>
          <p:cNvSpPr txBox="1"/>
          <p:nvPr/>
        </p:nvSpPr>
        <p:spPr>
          <a:xfrm>
            <a:off x="777240" y="2011680"/>
            <a:ext cx="2148840" cy="2697480"/>
          </a:xfrm>
          <a:prstGeom prst="rect">
            <a:avLst/>
          </a:prstGeom>
          <a:noFill/>
          <a:ln/>
        </p:spPr>
        <p:txBody>
          <a:bodyPr wrap="square" lIns="0" tIns="0" rIns="0" bIns="0" rtlCol="0" anchor="t"/>
          <a:lstStyle/>
          <a:p>
            <a:pPr marL="152400" indent="-152400">
              <a:spcAft>
                <a:spcPts val="500"/>
              </a:spcAft>
              <a:buSzPct val="100000"/>
              <a:buChar char="•"/>
            </a:pPr>
            <a:r>
              <a:rPr lang="en-US" sz="950" dirty="0">
                <a:solidFill>
                  <a:srgbClr val="1F2430"/>
                </a:solidFill>
                <a:latin typeface="Meiryo" pitchFamily="34" charset="0"/>
                <a:ea typeface="Meiryo" pitchFamily="34" charset="-122"/>
                <a:cs typeface="Meiryo" pitchFamily="34" charset="-120"/>
              </a:rPr>
              <a:t>GOKKO（ごっこ倶楽部）がシリーズBで約11億円調達。累計100億再生</a:t>
            </a:r>
            <a:endParaRPr lang="en-US" sz="950" dirty="0"/>
          </a:p>
          <a:p>
            <a:pPr marL="152400" indent="-152400">
              <a:spcAft>
                <a:spcPts val="500"/>
              </a:spcAft>
              <a:buSzPct val="100000"/>
              <a:buChar char="•"/>
            </a:pPr>
            <a:r>
              <a:rPr lang="en-US" sz="950" dirty="0">
                <a:solidFill>
                  <a:srgbClr val="1F2430"/>
                </a:solidFill>
                <a:latin typeface="Meiryo" pitchFamily="34" charset="0"/>
                <a:ea typeface="Meiryo" pitchFamily="34" charset="-122"/>
                <a:cs typeface="Meiryo" pitchFamily="34" charset="-120"/>
              </a:rPr>
              <a:t>HA-LU が資金調達、年500話以上を制作</a:t>
            </a:r>
            <a:endParaRPr lang="en-US" sz="950" dirty="0"/>
          </a:p>
          <a:p>
            <a:pPr marL="152400" indent="-152400">
              <a:spcAft>
                <a:spcPts val="500"/>
              </a:spcAft>
              <a:buSzPct val="100000"/>
              <a:buChar char="•"/>
            </a:pPr>
            <a:r>
              <a:rPr lang="en-US" sz="950" dirty="0">
                <a:solidFill>
                  <a:srgbClr val="1F2430"/>
                </a:solidFill>
                <a:latin typeface="Meiryo" pitchFamily="34" charset="0"/>
                <a:ea typeface="Meiryo" pitchFamily="34" charset="-122"/>
                <a:cs typeface="Meiryo" pitchFamily="34" charset="-120"/>
              </a:rPr>
              <a:t>日テレ・テレ東が制作強化。BUMP（emole）は100ヶ国展開</a:t>
            </a:r>
            <a:endParaRPr lang="en-US" sz="950" dirty="0"/>
          </a:p>
          <a:p>
            <a:pPr marL="152400" indent="-152400">
              <a:spcAft>
                <a:spcPts val="500"/>
              </a:spcAft>
              <a:buSzPct val="100000"/>
              <a:buChar char="•"/>
            </a:pPr>
            <a:r>
              <a:rPr lang="en-US" sz="950" dirty="0">
                <a:solidFill>
                  <a:srgbClr val="1F2430"/>
                </a:solidFill>
                <a:latin typeface="Meiryo" pitchFamily="34" charset="0"/>
                <a:ea typeface="Meiryo" pitchFamily="34" charset="-122"/>
                <a:cs typeface="Meiryo" pitchFamily="34" charset="-120"/>
              </a:rPr>
              <a:t>MintoStudio が2026年1月に生成AIドラマ制作を開始。AOI Pro.も提携</a:t>
            </a:r>
            <a:endParaRPr lang="en-US" sz="950" dirty="0"/>
          </a:p>
        </p:txBody>
      </p:sp>
      <p:sp>
        <p:nvSpPr>
          <p:cNvPr id="10" name="Shape 7"/>
          <p:cNvSpPr/>
          <p:nvPr/>
        </p:nvSpPr>
        <p:spPr>
          <a:xfrm>
            <a:off x="3291840" y="1280160"/>
            <a:ext cx="2560320" cy="3291840"/>
          </a:xfrm>
          <a:prstGeom prst="roundRect">
            <a:avLst>
              <a:gd name="adj" fmla="val 2857"/>
            </a:avLst>
          </a:prstGeom>
          <a:solidFill>
            <a:srgbClr val="F3F4F6"/>
          </a:solidFill>
          <a:ln w="12700">
            <a:solidFill>
              <a:srgbClr val="F3F4F6"/>
            </a:solidFill>
            <a:prstDash val="solid"/>
          </a:ln>
        </p:spPr>
      </p:sp>
      <p:sp>
        <p:nvSpPr>
          <p:cNvPr id="11" name="Shape 8"/>
          <p:cNvSpPr/>
          <p:nvPr/>
        </p:nvSpPr>
        <p:spPr>
          <a:xfrm>
            <a:off x="3520440" y="1463040"/>
            <a:ext cx="411480" cy="411480"/>
          </a:xfrm>
          <a:prstGeom prst="ellipse">
            <a:avLst/>
          </a:prstGeom>
          <a:solidFill>
            <a:srgbClr val="1D3557"/>
          </a:solidFill>
          <a:ln w="12700">
            <a:solidFill>
              <a:srgbClr val="1D3557"/>
            </a:solidFill>
            <a:prstDash val="solid"/>
          </a:ln>
        </p:spPr>
      </p:sp>
      <p:pic>
        <p:nvPicPr>
          <p:cNvPr id="12" name="Image 1" descr="preencoded.png">    </p:cNvPr>
          <p:cNvPicPr>
            <a:picLocks noChangeAspect="1"/>
          </p:cNvPicPr>
          <p:nvPr/>
        </p:nvPicPr>
        <p:blipFill>
          <a:blip r:embed="rId2"/>
          <a:stretch>
            <a:fillRect/>
          </a:stretch>
        </p:blipFill>
        <p:spPr>
          <a:xfrm>
            <a:off x="3623310" y="1565910"/>
            <a:ext cx="205740" cy="205740"/>
          </a:xfrm>
          <a:prstGeom prst="rect">
            <a:avLst/>
          </a:prstGeom>
        </p:spPr>
      </p:pic>
      <p:sp>
        <p:nvSpPr>
          <p:cNvPr id="13" name="Text 9"/>
          <p:cNvSpPr txBox="1"/>
          <p:nvPr/>
        </p:nvSpPr>
        <p:spPr>
          <a:xfrm>
            <a:off x="4069080" y="1517904"/>
            <a:ext cx="1737360" cy="320040"/>
          </a:xfrm>
          <a:prstGeom prst="rect">
            <a:avLst/>
          </a:prstGeom>
          <a:noFill/>
          <a:ln/>
        </p:spPr>
        <p:txBody>
          <a:bodyPr wrap="square" lIns="0" tIns="0" rIns="0" bIns="0" rtlCol="0" anchor="t"/>
          <a:lstStyle/>
          <a:p>
            <a:pPr indent="0" marL="0">
              <a:buNone/>
            </a:pPr>
            <a:r>
              <a:rPr lang="en-US" sz="1300" b="1" dirty="0">
                <a:solidFill>
                  <a:srgbClr val="111318"/>
                </a:solidFill>
                <a:latin typeface="Meiryo" pitchFamily="34" charset="0"/>
                <a:ea typeface="Meiryo" pitchFamily="34" charset="-122"/>
                <a:cs typeface="Meiryo" pitchFamily="34" charset="-120"/>
              </a:rPr>
              <a:t>生成AIの現在地</a:t>
            </a:r>
            <a:endParaRPr lang="en-US" sz="1300" dirty="0"/>
          </a:p>
        </p:txBody>
      </p:sp>
      <p:sp>
        <p:nvSpPr>
          <p:cNvPr id="14" name="Text 10"/>
          <p:cNvSpPr txBox="1"/>
          <p:nvPr/>
        </p:nvSpPr>
        <p:spPr>
          <a:xfrm>
            <a:off x="3520440" y="2011680"/>
            <a:ext cx="2148840" cy="2697480"/>
          </a:xfrm>
          <a:prstGeom prst="rect">
            <a:avLst/>
          </a:prstGeom>
          <a:noFill/>
          <a:ln/>
        </p:spPr>
        <p:txBody>
          <a:bodyPr wrap="square" lIns="0" tIns="0" rIns="0" bIns="0" rtlCol="0" anchor="t"/>
          <a:lstStyle/>
          <a:p>
            <a:pPr marL="152400" indent="-152400">
              <a:spcAft>
                <a:spcPts val="500"/>
              </a:spcAft>
              <a:buSzPct val="100000"/>
              <a:buChar char="•"/>
            </a:pPr>
            <a:r>
              <a:rPr lang="en-US" sz="950" dirty="0">
                <a:solidFill>
                  <a:srgbClr val="1F2430"/>
                </a:solidFill>
                <a:latin typeface="Meiryo" pitchFamily="34" charset="0"/>
                <a:ea typeface="Meiryo" pitchFamily="34" charset="-122"/>
                <a:cs typeface="Meiryo" pitchFamily="34" charset="-120"/>
              </a:rPr>
              <a:t>Kling 3.0：1秒$0.09〜0.14、15秒、日本語リップシンク、3人以上の一貫性</a:t>
            </a:r>
            <a:endParaRPr lang="en-US" sz="950" dirty="0"/>
          </a:p>
          <a:p>
            <a:pPr marL="152400" indent="-152400">
              <a:spcAft>
                <a:spcPts val="500"/>
              </a:spcAft>
              <a:buSzPct val="100000"/>
              <a:buChar char="•"/>
            </a:pPr>
            <a:r>
              <a:rPr lang="en-US" sz="950" dirty="0">
                <a:solidFill>
                  <a:srgbClr val="1F2430"/>
                </a:solidFill>
                <a:latin typeface="Meiryo" pitchFamily="34" charset="0"/>
                <a:ea typeface="Meiryo" pitchFamily="34" charset="-122"/>
                <a:cs typeface="Meiryo" pitchFamily="34" charset="-120"/>
              </a:rPr>
              <a:t>Veo 3.1：Fast $0.15/秒、高品質だが最大8秒</a:t>
            </a:r>
            <a:endParaRPr lang="en-US" sz="950" dirty="0"/>
          </a:p>
          <a:p>
            <a:pPr marL="152400" indent="-152400">
              <a:spcAft>
                <a:spcPts val="500"/>
              </a:spcAft>
              <a:buSzPct val="100000"/>
              <a:buChar char="•"/>
            </a:pPr>
            <a:r>
              <a:rPr lang="en-US" sz="950" dirty="0">
                <a:solidFill>
                  <a:srgbClr val="1F2430"/>
                </a:solidFill>
                <a:latin typeface="Meiryo" pitchFamily="34" charset="0"/>
                <a:ea typeface="Meiryo" pitchFamily="34" charset="-122"/>
                <a:cs typeface="Meiryo" pitchFamily="34" charset="-120"/>
              </a:rPr>
              <a:t>Sora 2 API は2026年9月廃止予定。特定モデル依存は禁止</a:t>
            </a:r>
            <a:endParaRPr lang="en-US" sz="950" dirty="0"/>
          </a:p>
          <a:p>
            <a:pPr marL="152400" indent="-152400">
              <a:spcAft>
                <a:spcPts val="500"/>
              </a:spcAft>
              <a:buSzPct val="100000"/>
              <a:buChar char="•"/>
            </a:pPr>
            <a:r>
              <a:rPr lang="en-US" sz="950" dirty="0">
                <a:solidFill>
                  <a:srgbClr val="1F2430"/>
                </a:solidFill>
                <a:latin typeface="Meiryo" pitchFamily="34" charset="0"/>
                <a:ea typeface="Meiryo" pitchFamily="34" charset="-122"/>
                <a:cs typeface="Meiryo" pitchFamily="34" charset="-120"/>
              </a:rPr>
              <a:t>中国は上半期作品の7割超がAI製。1日470本、制作費9割減</a:t>
            </a:r>
            <a:endParaRPr lang="en-US" sz="950" dirty="0"/>
          </a:p>
        </p:txBody>
      </p:sp>
      <p:sp>
        <p:nvSpPr>
          <p:cNvPr id="15" name="Shape 11"/>
          <p:cNvSpPr/>
          <p:nvPr/>
        </p:nvSpPr>
        <p:spPr>
          <a:xfrm>
            <a:off x="6035040" y="1280160"/>
            <a:ext cx="2560320" cy="3291840"/>
          </a:xfrm>
          <a:prstGeom prst="roundRect">
            <a:avLst>
              <a:gd name="adj" fmla="val 2857"/>
            </a:avLst>
          </a:prstGeom>
          <a:solidFill>
            <a:srgbClr val="F3F4F6"/>
          </a:solidFill>
          <a:ln w="12700">
            <a:solidFill>
              <a:srgbClr val="F3F4F6"/>
            </a:solidFill>
            <a:prstDash val="solid"/>
          </a:ln>
        </p:spPr>
      </p:sp>
      <p:sp>
        <p:nvSpPr>
          <p:cNvPr id="16" name="Shape 12"/>
          <p:cNvSpPr/>
          <p:nvPr/>
        </p:nvSpPr>
        <p:spPr>
          <a:xfrm>
            <a:off x="6263640" y="1463040"/>
            <a:ext cx="411480" cy="411480"/>
          </a:xfrm>
          <a:prstGeom prst="ellipse">
            <a:avLst/>
          </a:prstGeom>
          <a:solidFill>
            <a:srgbClr val="E63946"/>
          </a:solidFill>
          <a:ln w="12700">
            <a:solidFill>
              <a:srgbClr val="E63946"/>
            </a:solidFill>
            <a:prstDash val="solid"/>
          </a:ln>
        </p:spPr>
      </p:sp>
      <p:pic>
        <p:nvPicPr>
          <p:cNvPr id="17" name="Image 2" descr="preencoded.png">    </p:cNvPr>
          <p:cNvPicPr>
            <a:picLocks noChangeAspect="1"/>
          </p:cNvPicPr>
          <p:nvPr/>
        </p:nvPicPr>
        <p:blipFill>
          <a:blip r:embed="rId3"/>
          <a:stretch>
            <a:fillRect/>
          </a:stretch>
        </p:blipFill>
        <p:spPr>
          <a:xfrm>
            <a:off x="6366510" y="1565910"/>
            <a:ext cx="205740" cy="205740"/>
          </a:xfrm>
          <a:prstGeom prst="rect">
            <a:avLst/>
          </a:prstGeom>
        </p:spPr>
      </p:pic>
      <p:sp>
        <p:nvSpPr>
          <p:cNvPr id="18" name="Text 13"/>
          <p:cNvSpPr txBox="1"/>
          <p:nvPr/>
        </p:nvSpPr>
        <p:spPr>
          <a:xfrm>
            <a:off x="6812280" y="1517904"/>
            <a:ext cx="1737360" cy="320040"/>
          </a:xfrm>
          <a:prstGeom prst="rect">
            <a:avLst/>
          </a:prstGeom>
          <a:noFill/>
          <a:ln/>
        </p:spPr>
        <p:txBody>
          <a:bodyPr wrap="square" lIns="0" tIns="0" rIns="0" bIns="0" rtlCol="0" anchor="t"/>
          <a:lstStyle/>
          <a:p>
            <a:pPr indent="0" marL="0">
              <a:buNone/>
            </a:pPr>
            <a:r>
              <a:rPr lang="en-US" sz="1300" b="1" dirty="0">
                <a:solidFill>
                  <a:srgbClr val="111318"/>
                </a:solidFill>
                <a:latin typeface="Meiryo" pitchFamily="34" charset="0"/>
                <a:ea typeface="Meiryo" pitchFamily="34" charset="-122"/>
                <a:cs typeface="Meiryo" pitchFamily="34" charset="-120"/>
              </a:rPr>
              <a:t>法規制と炎上</a:t>
            </a:r>
            <a:endParaRPr lang="en-US" sz="1300" dirty="0"/>
          </a:p>
        </p:txBody>
      </p:sp>
      <p:sp>
        <p:nvSpPr>
          <p:cNvPr id="19" name="Text 14"/>
          <p:cNvSpPr txBox="1"/>
          <p:nvPr/>
        </p:nvSpPr>
        <p:spPr>
          <a:xfrm>
            <a:off x="6263640" y="2011680"/>
            <a:ext cx="2148840" cy="2697480"/>
          </a:xfrm>
          <a:prstGeom prst="rect">
            <a:avLst/>
          </a:prstGeom>
          <a:noFill/>
          <a:ln/>
        </p:spPr>
        <p:txBody>
          <a:bodyPr wrap="square" lIns="0" tIns="0" rIns="0" bIns="0" rtlCol="0" anchor="t"/>
          <a:lstStyle/>
          <a:p>
            <a:pPr marL="152400" indent="-152400">
              <a:spcAft>
                <a:spcPts val="500"/>
              </a:spcAft>
              <a:buSzPct val="100000"/>
              <a:buChar char="•"/>
            </a:pPr>
            <a:r>
              <a:rPr lang="en-US" sz="950" dirty="0">
                <a:solidFill>
                  <a:srgbClr val="1F2430"/>
                </a:solidFill>
                <a:latin typeface="Meiryo" pitchFamily="34" charset="0"/>
                <a:ea typeface="Meiryo" pitchFamily="34" charset="-122"/>
                <a:cs typeface="Meiryo" pitchFamily="34" charset="-120"/>
              </a:rPr>
              <a:t>法務省が2026年7月27日、声・肖像のAI無断利用に関する指針を公表</a:t>
            </a:r>
            <a:endParaRPr lang="en-US" sz="950" dirty="0"/>
          </a:p>
          <a:p>
            <a:pPr marL="152400" indent="-152400">
              <a:spcAft>
                <a:spcPts val="500"/>
              </a:spcAft>
              <a:buSzPct val="100000"/>
              <a:buChar char="•"/>
            </a:pPr>
            <a:r>
              <a:rPr lang="en-US" sz="950" dirty="0">
                <a:solidFill>
                  <a:srgbClr val="1F2430"/>
                </a:solidFill>
                <a:latin typeface="Meiryo" pitchFamily="34" charset="0"/>
                <a:ea typeface="Meiryo" pitchFamily="34" charset="-122"/>
                <a:cs typeface="Meiryo" pitchFamily="34" charset="-120"/>
              </a:rPr>
              <a:t>EU AI法は2026年8月2日からAI生成の透明性義務（海外配信は表記必須）</a:t>
            </a:r>
            <a:endParaRPr lang="en-US" sz="950" dirty="0"/>
          </a:p>
          <a:p>
            <a:pPr marL="152400" indent="-152400">
              <a:spcAft>
                <a:spcPts val="500"/>
              </a:spcAft>
              <a:buSzPct val="100000"/>
              <a:buChar char="•"/>
            </a:pPr>
            <a:r>
              <a:rPr lang="en-US" sz="950" dirty="0">
                <a:solidFill>
                  <a:srgbClr val="1F2430"/>
                </a:solidFill>
                <a:latin typeface="Meiryo" pitchFamily="34" charset="0"/>
                <a:ea typeface="Meiryo" pitchFamily="34" charset="-122"/>
                <a:cs typeface="Meiryo" pitchFamily="34" charset="-120"/>
              </a:rPr>
              <a:t>日本は表記の法的義務なし（自主的取組）</a:t>
            </a:r>
            <a:endParaRPr lang="en-US" sz="950" dirty="0"/>
          </a:p>
          <a:p>
            <a:pPr marL="152400" indent="-152400">
              <a:spcAft>
                <a:spcPts val="500"/>
              </a:spcAft>
              <a:buSzPct val="100000"/>
              <a:buChar char="•"/>
            </a:pPr>
            <a:r>
              <a:rPr lang="en-US" sz="950" dirty="0">
                <a:solidFill>
                  <a:srgbClr val="1F2430"/>
                </a:solidFill>
                <a:latin typeface="Meiryo" pitchFamily="34" charset="0"/>
                <a:ea typeface="Meiryo" pitchFamily="34" charset="-122"/>
                <a:cs typeface="Meiryo" pitchFamily="34" charset="-120"/>
              </a:rPr>
              <a:t>ウテナ・マクドナルドのAI広告が炎上。原因は不気味の谷とブランド不適合</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228600"/>
          </a:xfrm>
          <a:prstGeom prst="rect">
            <a:avLst/>
          </a:prstGeom>
          <a:noFill/>
          <a:ln/>
        </p:spPr>
        <p:txBody>
          <a:bodyPr wrap="square" lIns="0" tIns="0" rIns="0" bIns="0" rtlCol="0" anchor="t"/>
          <a:lstStyle/>
          <a:p>
            <a:pPr indent="0" marL="0">
              <a:buNone/>
            </a:pPr>
            <a:r>
              <a:rPr lang="en-US" sz="1100" b="1" dirty="0">
                <a:solidFill>
                  <a:srgbClr val="E63946"/>
                </a:solidFill>
                <a:latin typeface="Meiryo" pitchFamily="34" charset="0"/>
                <a:ea typeface="Meiryo" pitchFamily="34" charset="-122"/>
                <a:cs typeface="Meiryo" pitchFamily="34" charset="-120"/>
              </a:rPr>
              <a:t>1. 市場リサーチ</a:t>
            </a:r>
            <a:endParaRPr lang="en-US" sz="1100" dirty="0"/>
          </a:p>
        </p:txBody>
      </p:sp>
      <p:sp>
        <p:nvSpPr>
          <p:cNvPr id="3" name="Text 1"/>
          <p:cNvSpPr txBox="1"/>
          <p:nvPr/>
        </p:nvSpPr>
        <p:spPr>
          <a:xfrm>
            <a:off x="548640" y="548640"/>
            <a:ext cx="8046720" cy="548640"/>
          </a:xfrm>
          <a:prstGeom prst="rect">
            <a:avLst/>
          </a:prstGeom>
          <a:noFill/>
          <a:ln/>
        </p:spPr>
        <p:txBody>
          <a:bodyPr wrap="square" lIns="0" tIns="0" rIns="0" bIns="0" rtlCol="0" anchor="t"/>
          <a:lstStyle/>
          <a:p>
            <a:pPr indent="0" marL="0">
              <a:buNone/>
            </a:pPr>
            <a:r>
              <a:rPr lang="en-US" sz="2200" b="1" dirty="0">
                <a:solidFill>
                  <a:srgbClr val="111318"/>
                </a:solidFill>
                <a:latin typeface="Meiryo" pitchFamily="34" charset="0"/>
                <a:ea typeface="Meiryo" pitchFamily="34" charset="-122"/>
                <a:cs typeface="Meiryo" pitchFamily="34" charset="-120"/>
              </a:rPr>
              <a:t>成果が出た事例はすべて「シリーズ化・継続投稿」</a:t>
            </a:r>
            <a:endParaRPr lang="en-US" sz="2200" dirty="0"/>
          </a:p>
        </p:txBody>
      </p:sp>
      <p:sp>
        <p:nvSpPr>
          <p:cNvPr id="4" name="Text 2"/>
          <p:cNvSpPr txBox="1"/>
          <p:nvPr/>
        </p:nvSpPr>
        <p:spPr>
          <a:xfrm>
            <a:off x="8229600" y="4754880"/>
            <a:ext cx="4572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pitchFamily="34" charset="0"/>
                <a:ea typeface="Meiryo" pitchFamily="34" charset="-122"/>
                <a:cs typeface="Meiryo" pitchFamily="34" charset="-120"/>
              </a:rPr>
              <a:t>05</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8046720" cy="914400"/>
        </p:xfrm>
        <a:graphic>
          <a:graphicData uri="http://schemas.openxmlformats.org/drawingml/2006/table">
            <a:tbl>
              <a:tblPr/>
              <a:tblGrid>
                <a:gridCol w="1737360"/>
                <a:gridCol w="1280160"/>
                <a:gridCol w="5029200"/>
              </a:tblGrid>
              <a:tr h="384048">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企業</a:t>
                      </a:r>
                      <a:endParaRPr lang="en-US" sz="10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11131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用途</a:t>
                      </a:r>
                      <a:endParaRPr lang="en-US" sz="10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11131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成果</a:t>
                      </a:r>
                      <a:endParaRPr lang="en-US" sz="10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111318"/>
                    </a:solidFill>
                  </a:tcPr>
                </a:tc>
              </a:tr>
              <a:tr h="384048">
                <a:tc>
                  <a:txBody>
                    <a:bodyPr/>
                    <a:lstStyle/>
                    <a:p>
                      <a:pPr indent="0" marL="0">
                        <a:buNone/>
                      </a:pPr>
                      <a:r>
                        <a:rPr lang="en-US" sz="1000" b="1" dirty="0">
                          <a:solidFill>
                            <a:srgbClr val="1F2430"/>
                          </a:solidFill>
                          <a:latin typeface="Meiryo" pitchFamily="34" charset="0"/>
                          <a:ea typeface="Meiryo" pitchFamily="34" charset="-122"/>
                          <a:cs typeface="Meiryo" pitchFamily="34" charset="-120"/>
                        </a:rPr>
                        <a:t>NTTドコモ</a:t>
                      </a:r>
                      <a:endParaRPr lang="en-US" sz="10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1000" dirty="0">
                          <a:solidFill>
                            <a:srgbClr val="1F2430"/>
                          </a:solidFill>
                          <a:latin typeface="Meiryo" pitchFamily="34" charset="0"/>
                          <a:ea typeface="Meiryo" pitchFamily="34" charset="-122"/>
                          <a:cs typeface="Meiryo" pitchFamily="34" charset="-120"/>
                        </a:rPr>
                        <a:t>ブランディング</a:t>
                      </a:r>
                      <a:endParaRPr lang="en-US" sz="10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1000" dirty="0">
                          <a:solidFill>
                            <a:srgbClr val="1F2430"/>
                          </a:solidFill>
                          <a:latin typeface="Meiryo" pitchFamily="34" charset="0"/>
                          <a:ea typeface="Meiryo" pitchFamily="34" charset="-122"/>
                          <a:cs typeface="Meiryo" pitchFamily="34" charset="-120"/>
                        </a:rPr>
                        <a:t>TikTok 38万フォロワー、いいね1,700万。Z世代の2人に1人が公式を認知</a:t>
                      </a:r>
                      <a:endParaRPr lang="en-US" sz="10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r>
              <a:tr h="384048">
                <a:tc>
                  <a:txBody>
                    <a:bodyPr/>
                    <a:lstStyle/>
                    <a:p>
                      <a:pPr indent="0" marL="0">
                        <a:buNone/>
                      </a:pPr>
                      <a:r>
                        <a:rPr lang="en-US" sz="1000" b="1" dirty="0">
                          <a:solidFill>
                            <a:srgbClr val="1F2430"/>
                          </a:solidFill>
                          <a:latin typeface="Meiryo" pitchFamily="34" charset="0"/>
                          <a:ea typeface="Meiryo" pitchFamily="34" charset="-122"/>
                          <a:cs typeface="Meiryo" pitchFamily="34" charset="-120"/>
                        </a:rPr>
                        <a:t>JAL（久米島）</a:t>
                      </a:r>
                      <a:endParaRPr lang="en-US" sz="10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Meiryo" pitchFamily="34" charset="0"/>
                          <a:ea typeface="Meiryo" pitchFamily="34" charset="-122"/>
                          <a:cs typeface="Meiryo" pitchFamily="34" charset="-120"/>
                        </a:rPr>
                        <a:t>観光誘客</a:t>
                      </a:r>
                      <a:endParaRPr lang="en-US" sz="10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Meiryo" pitchFamily="34" charset="0"/>
                          <a:ea typeface="Meiryo" pitchFamily="34" charset="-122"/>
                          <a:cs typeface="Meiryo" pitchFamily="34" charset="-120"/>
                        </a:rPr>
                        <a:t>1ヶ月で1,000万再生。キャンペーン応募2倍、久米島便の予約270%増</a:t>
                      </a:r>
                      <a:endParaRPr lang="en-US" sz="10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r>
              <a:tr h="384048">
                <a:tc>
                  <a:txBody>
                    <a:bodyPr/>
                    <a:lstStyle/>
                    <a:p>
                      <a:pPr indent="0" marL="0">
                        <a:buNone/>
                      </a:pPr>
                      <a:r>
                        <a:rPr lang="en-US" sz="1000" b="1" dirty="0">
                          <a:solidFill>
                            <a:srgbClr val="1F2430"/>
                          </a:solidFill>
                          <a:latin typeface="Meiryo" pitchFamily="34" charset="0"/>
                          <a:ea typeface="Meiryo" pitchFamily="34" charset="-122"/>
                          <a:cs typeface="Meiryo" pitchFamily="34" charset="-120"/>
                        </a:rPr>
                        <a:t>ベルク（スーパー）</a:t>
                      </a:r>
                      <a:endParaRPr lang="en-US" sz="10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1000" dirty="0">
                          <a:solidFill>
                            <a:srgbClr val="1F2430"/>
                          </a:solidFill>
                          <a:latin typeface="Meiryo" pitchFamily="34" charset="0"/>
                          <a:ea typeface="Meiryo" pitchFamily="34" charset="-122"/>
                          <a:cs typeface="Meiryo" pitchFamily="34" charset="-120"/>
                        </a:rPr>
                        <a:t>採用</a:t>
                      </a:r>
                      <a:endParaRPr lang="en-US" sz="10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1000" dirty="0">
                          <a:solidFill>
                            <a:srgbClr val="1F2430"/>
                          </a:solidFill>
                          <a:latin typeface="Meiryo" pitchFamily="34" charset="0"/>
                          <a:ea typeface="Meiryo" pitchFamily="34" charset="-122"/>
                          <a:cs typeface="Meiryo" pitchFamily="34" charset="-120"/>
                        </a:rPr>
                        <a:t>再現ドラマ150万再生。採用サイトアクセス2倍</a:t>
                      </a:r>
                      <a:endParaRPr lang="en-US" sz="10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r>
              <a:tr h="384048">
                <a:tc>
                  <a:txBody>
                    <a:bodyPr/>
                    <a:lstStyle/>
                    <a:p>
                      <a:pPr indent="0" marL="0">
                        <a:buNone/>
                      </a:pPr>
                      <a:r>
                        <a:rPr lang="en-US" sz="1000" b="1" dirty="0">
                          <a:solidFill>
                            <a:srgbClr val="1F2430"/>
                          </a:solidFill>
                          <a:latin typeface="Meiryo" pitchFamily="34" charset="0"/>
                          <a:ea typeface="Meiryo" pitchFamily="34" charset="-122"/>
                          <a:cs typeface="Meiryo" pitchFamily="34" charset="-120"/>
                        </a:rPr>
                        <a:t>三和交通（タクシー）</a:t>
                      </a:r>
                      <a:endParaRPr lang="en-US" sz="10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Meiryo" pitchFamily="34" charset="0"/>
                          <a:ea typeface="Meiryo" pitchFamily="34" charset="-122"/>
                          <a:cs typeface="Meiryo" pitchFamily="34" charset="-120"/>
                        </a:rPr>
                        <a:t>採用</a:t>
                      </a:r>
                      <a:endParaRPr lang="en-US" sz="10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Meiryo" pitchFamily="34" charset="0"/>
                          <a:ea typeface="Meiryo" pitchFamily="34" charset="-122"/>
                          <a:cs typeface="Meiryo" pitchFamily="34" charset="-120"/>
                        </a:rPr>
                        <a:t>「あるある」シリーズで採用応募が前年比約3倍</a:t>
                      </a:r>
                      <a:endParaRPr lang="en-US" sz="10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r>
              <a:tr h="384048">
                <a:tc>
                  <a:txBody>
                    <a:bodyPr/>
                    <a:lstStyle/>
                    <a:p>
                      <a:pPr indent="0" marL="0">
                        <a:buNone/>
                      </a:pPr>
                      <a:r>
                        <a:rPr lang="en-US" sz="1000" b="1" dirty="0">
                          <a:solidFill>
                            <a:srgbClr val="1F2430"/>
                          </a:solidFill>
                          <a:latin typeface="Meiryo" pitchFamily="34" charset="0"/>
                          <a:ea typeface="Meiryo" pitchFamily="34" charset="-122"/>
                          <a:cs typeface="Meiryo" pitchFamily="34" charset="-120"/>
                        </a:rPr>
                        <a:t>大京警備保障</a:t>
                      </a:r>
                      <a:endParaRPr lang="en-US" sz="10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1000" dirty="0">
                          <a:solidFill>
                            <a:srgbClr val="1F2430"/>
                          </a:solidFill>
                          <a:latin typeface="Meiryo" pitchFamily="34" charset="0"/>
                          <a:ea typeface="Meiryo" pitchFamily="34" charset="-122"/>
                          <a:cs typeface="Meiryo" pitchFamily="34" charset="-120"/>
                        </a:rPr>
                        <a:t>採用・認知</a:t>
                      </a:r>
                      <a:endParaRPr lang="en-US" sz="10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1000" dirty="0">
                          <a:solidFill>
                            <a:srgbClr val="1F2430"/>
                          </a:solidFill>
                          <a:latin typeface="Meiryo" pitchFamily="34" charset="0"/>
                          <a:ea typeface="Meiryo" pitchFamily="34" charset="-122"/>
                          <a:cs typeface="Meiryo" pitchFamily="34" charset="-120"/>
                        </a:rPr>
                        <a:t>チャレンジ企画のシリーズ化でTikTok 290万フォロワー</a:t>
                      </a:r>
                      <a:endParaRPr lang="en-US" sz="10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r>
              <a:tr h="384048">
                <a:tc>
                  <a:txBody>
                    <a:bodyPr/>
                    <a:lstStyle/>
                    <a:p>
                      <a:pPr indent="0" marL="0">
                        <a:buNone/>
                      </a:pPr>
                      <a:r>
                        <a:rPr lang="en-US" sz="1000" b="1" dirty="0">
                          <a:solidFill>
                            <a:srgbClr val="1F2430"/>
                          </a:solidFill>
                          <a:latin typeface="Meiryo" pitchFamily="34" charset="0"/>
                          <a:ea typeface="Meiryo" pitchFamily="34" charset="-122"/>
                          <a:cs typeface="Meiryo" pitchFamily="34" charset="-120"/>
                        </a:rPr>
                        <a:t>埼玉の飲食企業</a:t>
                      </a:r>
                      <a:endParaRPr lang="en-US" sz="10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Meiryo" pitchFamily="34" charset="0"/>
                          <a:ea typeface="Meiryo" pitchFamily="34" charset="-122"/>
                          <a:cs typeface="Meiryo" pitchFamily="34" charset="-120"/>
                        </a:rPr>
                        <a:t>採用・集客</a:t>
                      </a:r>
                      <a:endParaRPr lang="en-US" sz="10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Meiryo" pitchFamily="34" charset="0"/>
                          <a:ea typeface="Meiryo" pitchFamily="34" charset="-122"/>
                          <a:cs typeface="Meiryo" pitchFamily="34" charset="-120"/>
                        </a:rPr>
                        <a:t>1年で3万フォロワー、1億回再生。キャラクターにファン化</a:t>
                      </a:r>
                      <a:endParaRPr lang="en-US" sz="10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r>
              <a:tr h="384048">
                <a:tc>
                  <a:txBody>
                    <a:bodyPr/>
                    <a:lstStyle/>
                    <a:p>
                      <a:pPr indent="0" marL="0">
                        <a:buNone/>
                      </a:pPr>
                      <a:r>
                        <a:rPr lang="en-US" sz="1000" b="1" dirty="0">
                          <a:solidFill>
                            <a:srgbClr val="1F2430"/>
                          </a:solidFill>
                          <a:latin typeface="Meiryo" pitchFamily="34" charset="0"/>
                          <a:ea typeface="Meiryo" pitchFamily="34" charset="-122"/>
                          <a:cs typeface="Meiryo" pitchFamily="34" charset="-120"/>
                        </a:rPr>
                        <a:t>広島県</a:t>
                      </a:r>
                      <a:endParaRPr lang="en-US" sz="10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1000" dirty="0">
                          <a:solidFill>
                            <a:srgbClr val="1F2430"/>
                          </a:solidFill>
                          <a:latin typeface="Meiryo" pitchFamily="34" charset="0"/>
                          <a:ea typeface="Meiryo" pitchFamily="34" charset="-122"/>
                          <a:cs typeface="Meiryo" pitchFamily="34" charset="-120"/>
                        </a:rPr>
                        <a:t>政策広報</a:t>
                      </a:r>
                      <a:endParaRPr lang="en-US" sz="10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1000" dirty="0">
                          <a:solidFill>
                            <a:srgbClr val="1F2430"/>
                          </a:solidFill>
                          <a:latin typeface="Meiryo" pitchFamily="34" charset="0"/>
                          <a:ea typeface="Meiryo" pitchFamily="34" charset="-122"/>
                          <a:cs typeface="Meiryo" pitchFamily="34" charset="-120"/>
                        </a:rPr>
                        <a:t>TikTok上半期トレンド大賞2026 特別賞</a:t>
                      </a:r>
                      <a:endParaRPr lang="en-US" sz="10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r>
            </a:tbl>
          </a:graphicData>
        </a:graphic>
      </p:graphicFrame>
      <p:sp>
        <p:nvSpPr>
          <p:cNvPr id="6" name="Text 3"/>
          <p:cNvSpPr txBox="1"/>
          <p:nvPr/>
        </p:nvSpPr>
        <p:spPr>
          <a:xfrm>
            <a:off x="548640" y="4617720"/>
            <a:ext cx="8046720" cy="320040"/>
          </a:xfrm>
          <a:prstGeom prst="rect">
            <a:avLst/>
          </a:prstGeom>
          <a:noFill/>
          <a:ln/>
        </p:spPr>
        <p:txBody>
          <a:bodyPr wrap="square" lIns="0" tIns="0" rIns="0" bIns="0" rtlCol="0" anchor="t"/>
          <a:lstStyle/>
          <a:p>
            <a:pPr indent="0" marL="0">
              <a:buNone/>
            </a:pPr>
            <a:r>
              <a:rPr lang="en-US" sz="1050" b="1" dirty="0">
                <a:solidFill>
                  <a:srgbClr val="E63946"/>
                </a:solidFill>
                <a:latin typeface="Meiryo" pitchFamily="34" charset="0"/>
                <a:ea typeface="Meiryo" pitchFamily="34" charset="-122"/>
                <a:cs typeface="Meiryo" pitchFamily="34" charset="-120"/>
              </a:rPr>
              <a:t>単発1本で成果が出た事例は見つからなかった。これが「1話売り」を主商品にしない根拠。</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228600"/>
          </a:xfrm>
          <a:prstGeom prst="rect">
            <a:avLst/>
          </a:prstGeom>
          <a:noFill/>
          <a:ln/>
        </p:spPr>
        <p:txBody>
          <a:bodyPr wrap="square" lIns="0" tIns="0" rIns="0" bIns="0" rtlCol="0" anchor="t"/>
          <a:lstStyle/>
          <a:p>
            <a:pPr indent="0" marL="0">
              <a:buNone/>
            </a:pPr>
            <a:r>
              <a:rPr lang="en-US" sz="1100" b="1" dirty="0">
                <a:solidFill>
                  <a:srgbClr val="E63946"/>
                </a:solidFill>
                <a:latin typeface="Meiryo" pitchFamily="34" charset="0"/>
                <a:ea typeface="Meiryo" pitchFamily="34" charset="-122"/>
                <a:cs typeface="Meiryo" pitchFamily="34" charset="-120"/>
              </a:rPr>
              <a:t>2. 競合分析</a:t>
            </a:r>
            <a:endParaRPr lang="en-US" sz="1100" dirty="0"/>
          </a:p>
        </p:txBody>
      </p:sp>
      <p:sp>
        <p:nvSpPr>
          <p:cNvPr id="3" name="Text 1"/>
          <p:cNvSpPr txBox="1"/>
          <p:nvPr/>
        </p:nvSpPr>
        <p:spPr>
          <a:xfrm>
            <a:off x="548640" y="548640"/>
            <a:ext cx="8046720" cy="548640"/>
          </a:xfrm>
          <a:prstGeom prst="rect">
            <a:avLst/>
          </a:prstGeom>
          <a:noFill/>
          <a:ln/>
        </p:spPr>
        <p:txBody>
          <a:bodyPr wrap="square" lIns="0" tIns="0" rIns="0" bIns="0" rtlCol="0" anchor="t"/>
          <a:lstStyle/>
          <a:p>
            <a:pPr indent="0" marL="0">
              <a:buNone/>
            </a:pPr>
            <a:r>
              <a:rPr lang="en-US" sz="2200" b="1" dirty="0">
                <a:solidFill>
                  <a:srgbClr val="111318"/>
                </a:solidFill>
                <a:latin typeface="Meiryo" pitchFamily="34" charset="0"/>
                <a:ea typeface="Meiryo" pitchFamily="34" charset="-122"/>
                <a:cs typeface="Meiryo" pitchFamily="34" charset="-120"/>
              </a:rPr>
              <a:t>あなたの価格は両軸とも「低価格帯の上限」に位置する</a:t>
            </a:r>
            <a:endParaRPr lang="en-US" sz="2200" dirty="0"/>
          </a:p>
        </p:txBody>
      </p:sp>
      <p:sp>
        <p:nvSpPr>
          <p:cNvPr id="4" name="Text 2"/>
          <p:cNvSpPr txBox="1"/>
          <p:nvPr/>
        </p:nvSpPr>
        <p:spPr>
          <a:xfrm>
            <a:off x="8229600" y="4754880"/>
            <a:ext cx="4572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pitchFamily="34" charset="0"/>
                <a:ea typeface="Meiryo" pitchFamily="34" charset="-122"/>
                <a:cs typeface="Meiryo" pitchFamily="34" charset="-120"/>
              </a:rPr>
              <a:t>06</a:t>
            </a:r>
            <a:endParaRPr lang="en-US" sz="900" dirty="0"/>
          </a:p>
        </p:txBody>
      </p:sp>
      <p:sp>
        <p:nvSpPr>
          <p:cNvPr id="5" name="Shape 3"/>
          <p:cNvSpPr/>
          <p:nvPr/>
        </p:nvSpPr>
        <p:spPr>
          <a:xfrm>
            <a:off x="822960" y="4160520"/>
            <a:ext cx="7680960" cy="0"/>
          </a:xfrm>
          <a:prstGeom prst="line">
            <a:avLst/>
          </a:prstGeom>
          <a:noFill/>
          <a:ln w="12700">
            <a:solidFill>
              <a:srgbClr val="6B7280"/>
            </a:solidFill>
            <a:prstDash val="solid"/>
          </a:ln>
        </p:spPr>
      </p:sp>
      <p:sp>
        <p:nvSpPr>
          <p:cNvPr id="6" name="Shape 4"/>
          <p:cNvSpPr/>
          <p:nvPr/>
        </p:nvSpPr>
        <p:spPr>
          <a:xfrm>
            <a:off x="822960" y="4114800"/>
            <a:ext cx="0" cy="91440"/>
          </a:xfrm>
          <a:prstGeom prst="line">
            <a:avLst/>
          </a:prstGeom>
          <a:noFill/>
          <a:ln w="12700">
            <a:solidFill>
              <a:srgbClr val="6B7280"/>
            </a:solidFill>
            <a:prstDash val="solid"/>
          </a:ln>
        </p:spPr>
      </p:sp>
      <p:sp>
        <p:nvSpPr>
          <p:cNvPr id="7" name="Text 5"/>
          <p:cNvSpPr txBox="1"/>
          <p:nvPr/>
        </p:nvSpPr>
        <p:spPr>
          <a:xfrm>
            <a:off x="548640" y="4251960"/>
            <a:ext cx="548640" cy="228600"/>
          </a:xfrm>
          <a:prstGeom prst="rect">
            <a:avLst/>
          </a:prstGeom>
          <a:noFill/>
          <a:ln/>
        </p:spPr>
        <p:txBody>
          <a:bodyPr wrap="square" lIns="0" tIns="0" rIns="0" bIns="0" rtlCol="0" anchor="t"/>
          <a:lstStyle/>
          <a:p>
            <a:pPr algn="ctr" indent="0" marL="0">
              <a:buNone/>
            </a:pPr>
            <a:r>
              <a:rPr lang="en-US" sz="900" dirty="0">
                <a:solidFill>
                  <a:srgbClr val="6B7280"/>
                </a:solidFill>
                <a:latin typeface="Meiryo" pitchFamily="34" charset="0"/>
                <a:ea typeface="Meiryo" pitchFamily="34" charset="-122"/>
                <a:cs typeface="Meiryo" pitchFamily="34" charset="-120"/>
              </a:rPr>
              <a:t>3万</a:t>
            </a:r>
            <a:endParaRPr lang="en-US" sz="900" dirty="0"/>
          </a:p>
        </p:txBody>
      </p:sp>
      <p:sp>
        <p:nvSpPr>
          <p:cNvPr id="8" name="Shape 6"/>
          <p:cNvSpPr/>
          <p:nvPr/>
        </p:nvSpPr>
        <p:spPr>
          <a:xfrm>
            <a:off x="1674966" y="4114800"/>
            <a:ext cx="0" cy="91440"/>
          </a:xfrm>
          <a:prstGeom prst="line">
            <a:avLst/>
          </a:prstGeom>
          <a:noFill/>
          <a:ln w="12700">
            <a:solidFill>
              <a:srgbClr val="6B7280"/>
            </a:solidFill>
            <a:prstDash val="solid"/>
          </a:ln>
        </p:spPr>
      </p:sp>
      <p:sp>
        <p:nvSpPr>
          <p:cNvPr id="9" name="Text 7"/>
          <p:cNvSpPr txBox="1"/>
          <p:nvPr/>
        </p:nvSpPr>
        <p:spPr>
          <a:xfrm>
            <a:off x="1400646" y="4251960"/>
            <a:ext cx="548640" cy="228600"/>
          </a:xfrm>
          <a:prstGeom prst="rect">
            <a:avLst/>
          </a:prstGeom>
          <a:noFill/>
          <a:ln/>
        </p:spPr>
        <p:txBody>
          <a:bodyPr wrap="square" lIns="0" tIns="0" rIns="0" bIns="0" rtlCol="0" anchor="t"/>
          <a:lstStyle/>
          <a:p>
            <a:pPr algn="ctr" indent="0" marL="0">
              <a:buNone/>
            </a:pPr>
            <a:r>
              <a:rPr lang="en-US" sz="900" dirty="0">
                <a:solidFill>
                  <a:srgbClr val="6B7280"/>
                </a:solidFill>
                <a:latin typeface="Meiryo" pitchFamily="34" charset="0"/>
                <a:ea typeface="Meiryo" pitchFamily="34" charset="-122"/>
                <a:cs typeface="Meiryo" pitchFamily="34" charset="-120"/>
              </a:rPr>
              <a:t>5万</a:t>
            </a:r>
            <a:endParaRPr lang="en-US" sz="900" dirty="0"/>
          </a:p>
        </p:txBody>
      </p:sp>
      <p:sp>
        <p:nvSpPr>
          <p:cNvPr id="10" name="Shape 8"/>
          <p:cNvSpPr/>
          <p:nvPr/>
        </p:nvSpPr>
        <p:spPr>
          <a:xfrm>
            <a:off x="2831065" y="4114800"/>
            <a:ext cx="0" cy="91440"/>
          </a:xfrm>
          <a:prstGeom prst="line">
            <a:avLst/>
          </a:prstGeom>
          <a:noFill/>
          <a:ln w="12700">
            <a:solidFill>
              <a:srgbClr val="6B7280"/>
            </a:solidFill>
            <a:prstDash val="solid"/>
          </a:ln>
        </p:spPr>
      </p:sp>
      <p:sp>
        <p:nvSpPr>
          <p:cNvPr id="11" name="Text 9"/>
          <p:cNvSpPr txBox="1"/>
          <p:nvPr/>
        </p:nvSpPr>
        <p:spPr>
          <a:xfrm>
            <a:off x="2556745" y="4251960"/>
            <a:ext cx="548640" cy="228600"/>
          </a:xfrm>
          <a:prstGeom prst="rect">
            <a:avLst/>
          </a:prstGeom>
          <a:noFill/>
          <a:ln/>
        </p:spPr>
        <p:txBody>
          <a:bodyPr wrap="square" lIns="0" tIns="0" rIns="0" bIns="0" rtlCol="0" anchor="t"/>
          <a:lstStyle/>
          <a:p>
            <a:pPr algn="ctr" indent="0" marL="0">
              <a:buNone/>
            </a:pPr>
            <a:r>
              <a:rPr lang="en-US" sz="900" dirty="0">
                <a:solidFill>
                  <a:srgbClr val="6B7280"/>
                </a:solidFill>
                <a:latin typeface="Meiryo" pitchFamily="34" charset="0"/>
                <a:ea typeface="Meiryo" pitchFamily="34" charset="-122"/>
                <a:cs typeface="Meiryo" pitchFamily="34" charset="-120"/>
              </a:rPr>
              <a:t>10万</a:t>
            </a:r>
            <a:endParaRPr lang="en-US" sz="900" dirty="0"/>
          </a:p>
        </p:txBody>
      </p:sp>
      <p:sp>
        <p:nvSpPr>
          <p:cNvPr id="12" name="Shape 10"/>
          <p:cNvSpPr/>
          <p:nvPr/>
        </p:nvSpPr>
        <p:spPr>
          <a:xfrm>
            <a:off x="3987165" y="4114800"/>
            <a:ext cx="0" cy="91440"/>
          </a:xfrm>
          <a:prstGeom prst="line">
            <a:avLst/>
          </a:prstGeom>
          <a:noFill/>
          <a:ln w="12700">
            <a:solidFill>
              <a:srgbClr val="6B7280"/>
            </a:solidFill>
            <a:prstDash val="solid"/>
          </a:ln>
        </p:spPr>
      </p:sp>
      <p:sp>
        <p:nvSpPr>
          <p:cNvPr id="13" name="Text 11"/>
          <p:cNvSpPr txBox="1"/>
          <p:nvPr/>
        </p:nvSpPr>
        <p:spPr>
          <a:xfrm>
            <a:off x="3712845" y="4251960"/>
            <a:ext cx="548640" cy="228600"/>
          </a:xfrm>
          <a:prstGeom prst="rect">
            <a:avLst/>
          </a:prstGeom>
          <a:noFill/>
          <a:ln/>
        </p:spPr>
        <p:txBody>
          <a:bodyPr wrap="square" lIns="0" tIns="0" rIns="0" bIns="0" rtlCol="0" anchor="t"/>
          <a:lstStyle/>
          <a:p>
            <a:pPr algn="ctr" indent="0" marL="0">
              <a:buNone/>
            </a:pPr>
            <a:r>
              <a:rPr lang="en-US" sz="900" dirty="0">
                <a:solidFill>
                  <a:srgbClr val="6B7280"/>
                </a:solidFill>
                <a:latin typeface="Meiryo" pitchFamily="34" charset="0"/>
                <a:ea typeface="Meiryo" pitchFamily="34" charset="-122"/>
                <a:cs typeface="Meiryo" pitchFamily="34" charset="-120"/>
              </a:rPr>
              <a:t>20万</a:t>
            </a:r>
            <a:endParaRPr lang="en-US" sz="900" dirty="0"/>
          </a:p>
        </p:txBody>
      </p:sp>
      <p:sp>
        <p:nvSpPr>
          <p:cNvPr id="14" name="Shape 12"/>
          <p:cNvSpPr/>
          <p:nvPr/>
        </p:nvSpPr>
        <p:spPr>
          <a:xfrm>
            <a:off x="4663440" y="4114800"/>
            <a:ext cx="0" cy="91440"/>
          </a:xfrm>
          <a:prstGeom prst="line">
            <a:avLst/>
          </a:prstGeom>
          <a:noFill/>
          <a:ln w="12700">
            <a:solidFill>
              <a:srgbClr val="6B7280"/>
            </a:solidFill>
            <a:prstDash val="solid"/>
          </a:ln>
        </p:spPr>
      </p:sp>
      <p:sp>
        <p:nvSpPr>
          <p:cNvPr id="15" name="Text 13"/>
          <p:cNvSpPr txBox="1"/>
          <p:nvPr/>
        </p:nvSpPr>
        <p:spPr>
          <a:xfrm>
            <a:off x="4389120" y="4251960"/>
            <a:ext cx="548640" cy="228600"/>
          </a:xfrm>
          <a:prstGeom prst="rect">
            <a:avLst/>
          </a:prstGeom>
          <a:noFill/>
          <a:ln/>
        </p:spPr>
        <p:txBody>
          <a:bodyPr wrap="square" lIns="0" tIns="0" rIns="0" bIns="0" rtlCol="0" anchor="t"/>
          <a:lstStyle/>
          <a:p>
            <a:pPr algn="ctr" indent="0" marL="0">
              <a:buNone/>
            </a:pPr>
            <a:r>
              <a:rPr lang="en-US" sz="900" dirty="0">
                <a:solidFill>
                  <a:srgbClr val="6B7280"/>
                </a:solidFill>
                <a:latin typeface="Meiryo" pitchFamily="34" charset="0"/>
                <a:ea typeface="Meiryo" pitchFamily="34" charset="-122"/>
                <a:cs typeface="Meiryo" pitchFamily="34" charset="-120"/>
              </a:rPr>
              <a:t>30万</a:t>
            </a:r>
            <a:endParaRPr lang="en-US" sz="900" dirty="0"/>
          </a:p>
        </p:txBody>
      </p:sp>
      <p:sp>
        <p:nvSpPr>
          <p:cNvPr id="16" name="Shape 14"/>
          <p:cNvSpPr/>
          <p:nvPr/>
        </p:nvSpPr>
        <p:spPr>
          <a:xfrm>
            <a:off x="5515446" y="4114800"/>
            <a:ext cx="0" cy="91440"/>
          </a:xfrm>
          <a:prstGeom prst="line">
            <a:avLst/>
          </a:prstGeom>
          <a:noFill/>
          <a:ln w="12700">
            <a:solidFill>
              <a:srgbClr val="6B7280"/>
            </a:solidFill>
            <a:prstDash val="solid"/>
          </a:ln>
        </p:spPr>
      </p:sp>
      <p:sp>
        <p:nvSpPr>
          <p:cNvPr id="17" name="Text 15"/>
          <p:cNvSpPr txBox="1"/>
          <p:nvPr/>
        </p:nvSpPr>
        <p:spPr>
          <a:xfrm>
            <a:off x="5241126" y="4251960"/>
            <a:ext cx="548640" cy="228600"/>
          </a:xfrm>
          <a:prstGeom prst="rect">
            <a:avLst/>
          </a:prstGeom>
          <a:noFill/>
          <a:ln/>
        </p:spPr>
        <p:txBody>
          <a:bodyPr wrap="square" lIns="0" tIns="0" rIns="0" bIns="0" rtlCol="0" anchor="t"/>
          <a:lstStyle/>
          <a:p>
            <a:pPr algn="ctr" indent="0" marL="0">
              <a:buNone/>
            </a:pPr>
            <a:r>
              <a:rPr lang="en-US" sz="900" dirty="0">
                <a:solidFill>
                  <a:srgbClr val="6B7280"/>
                </a:solidFill>
                <a:latin typeface="Meiryo" pitchFamily="34" charset="0"/>
                <a:ea typeface="Meiryo" pitchFamily="34" charset="-122"/>
                <a:cs typeface="Meiryo" pitchFamily="34" charset="-120"/>
              </a:rPr>
              <a:t>50万</a:t>
            </a:r>
            <a:endParaRPr lang="en-US" sz="900" dirty="0"/>
          </a:p>
        </p:txBody>
      </p:sp>
      <p:sp>
        <p:nvSpPr>
          <p:cNvPr id="18" name="Shape 16"/>
          <p:cNvSpPr/>
          <p:nvPr/>
        </p:nvSpPr>
        <p:spPr>
          <a:xfrm>
            <a:off x="6671545" y="4114800"/>
            <a:ext cx="0" cy="91440"/>
          </a:xfrm>
          <a:prstGeom prst="line">
            <a:avLst/>
          </a:prstGeom>
          <a:noFill/>
          <a:ln w="12700">
            <a:solidFill>
              <a:srgbClr val="6B7280"/>
            </a:solidFill>
            <a:prstDash val="solid"/>
          </a:ln>
        </p:spPr>
      </p:sp>
      <p:sp>
        <p:nvSpPr>
          <p:cNvPr id="19" name="Text 17"/>
          <p:cNvSpPr txBox="1"/>
          <p:nvPr/>
        </p:nvSpPr>
        <p:spPr>
          <a:xfrm>
            <a:off x="6397225" y="4251960"/>
            <a:ext cx="548640" cy="228600"/>
          </a:xfrm>
          <a:prstGeom prst="rect">
            <a:avLst/>
          </a:prstGeom>
          <a:noFill/>
          <a:ln/>
        </p:spPr>
        <p:txBody>
          <a:bodyPr wrap="square" lIns="0" tIns="0" rIns="0" bIns="0" rtlCol="0" anchor="t"/>
          <a:lstStyle/>
          <a:p>
            <a:pPr algn="ctr" indent="0" marL="0">
              <a:buNone/>
            </a:pPr>
            <a:r>
              <a:rPr lang="en-US" sz="900" dirty="0">
                <a:solidFill>
                  <a:srgbClr val="6B7280"/>
                </a:solidFill>
                <a:latin typeface="Meiryo" pitchFamily="34" charset="0"/>
                <a:ea typeface="Meiryo" pitchFamily="34" charset="-122"/>
                <a:cs typeface="Meiryo" pitchFamily="34" charset="-120"/>
              </a:rPr>
              <a:t>100万</a:t>
            </a:r>
            <a:endParaRPr lang="en-US" sz="900" dirty="0"/>
          </a:p>
        </p:txBody>
      </p:sp>
      <p:sp>
        <p:nvSpPr>
          <p:cNvPr id="20" name="Shape 18"/>
          <p:cNvSpPr/>
          <p:nvPr/>
        </p:nvSpPr>
        <p:spPr>
          <a:xfrm>
            <a:off x="7827645" y="4114800"/>
            <a:ext cx="0" cy="91440"/>
          </a:xfrm>
          <a:prstGeom prst="line">
            <a:avLst/>
          </a:prstGeom>
          <a:noFill/>
          <a:ln w="12700">
            <a:solidFill>
              <a:srgbClr val="6B7280"/>
            </a:solidFill>
            <a:prstDash val="solid"/>
          </a:ln>
        </p:spPr>
      </p:sp>
      <p:sp>
        <p:nvSpPr>
          <p:cNvPr id="21" name="Text 19"/>
          <p:cNvSpPr txBox="1"/>
          <p:nvPr/>
        </p:nvSpPr>
        <p:spPr>
          <a:xfrm>
            <a:off x="7553325" y="4251960"/>
            <a:ext cx="548640" cy="228600"/>
          </a:xfrm>
          <a:prstGeom prst="rect">
            <a:avLst/>
          </a:prstGeom>
          <a:noFill/>
          <a:ln/>
        </p:spPr>
        <p:txBody>
          <a:bodyPr wrap="square" lIns="0" tIns="0" rIns="0" bIns="0" rtlCol="0" anchor="t"/>
          <a:lstStyle/>
          <a:p>
            <a:pPr algn="ctr" indent="0" marL="0">
              <a:buNone/>
            </a:pPr>
            <a:r>
              <a:rPr lang="en-US" sz="900" dirty="0">
                <a:solidFill>
                  <a:srgbClr val="6B7280"/>
                </a:solidFill>
                <a:latin typeface="Meiryo" pitchFamily="34" charset="0"/>
                <a:ea typeface="Meiryo" pitchFamily="34" charset="-122"/>
                <a:cs typeface="Meiryo" pitchFamily="34" charset="-120"/>
              </a:rPr>
              <a:t>200万</a:t>
            </a:r>
            <a:endParaRPr lang="en-US" sz="900" dirty="0"/>
          </a:p>
        </p:txBody>
      </p:sp>
      <p:sp>
        <p:nvSpPr>
          <p:cNvPr id="22" name="Shape 20"/>
          <p:cNvSpPr/>
          <p:nvPr/>
        </p:nvSpPr>
        <p:spPr>
          <a:xfrm>
            <a:off x="8503920" y="4114800"/>
            <a:ext cx="0" cy="91440"/>
          </a:xfrm>
          <a:prstGeom prst="line">
            <a:avLst/>
          </a:prstGeom>
          <a:noFill/>
          <a:ln w="12700">
            <a:solidFill>
              <a:srgbClr val="6B7280"/>
            </a:solidFill>
            <a:prstDash val="solid"/>
          </a:ln>
        </p:spPr>
      </p:sp>
      <p:sp>
        <p:nvSpPr>
          <p:cNvPr id="23" name="Text 21"/>
          <p:cNvSpPr txBox="1"/>
          <p:nvPr/>
        </p:nvSpPr>
        <p:spPr>
          <a:xfrm>
            <a:off x="8229600" y="4251960"/>
            <a:ext cx="548640" cy="228600"/>
          </a:xfrm>
          <a:prstGeom prst="rect">
            <a:avLst/>
          </a:prstGeom>
          <a:noFill/>
          <a:ln/>
        </p:spPr>
        <p:txBody>
          <a:bodyPr wrap="square" lIns="0" tIns="0" rIns="0" bIns="0" rtlCol="0" anchor="t"/>
          <a:lstStyle/>
          <a:p>
            <a:pPr algn="ctr" indent="0" marL="0">
              <a:buNone/>
            </a:pPr>
            <a:r>
              <a:rPr lang="en-US" sz="900" dirty="0">
                <a:solidFill>
                  <a:srgbClr val="6B7280"/>
                </a:solidFill>
                <a:latin typeface="Meiryo" pitchFamily="34" charset="0"/>
                <a:ea typeface="Meiryo" pitchFamily="34" charset="-122"/>
                <a:cs typeface="Meiryo" pitchFamily="34" charset="-120"/>
              </a:rPr>
              <a:t>300万</a:t>
            </a:r>
            <a:endParaRPr lang="en-US" sz="900" dirty="0"/>
          </a:p>
        </p:txBody>
      </p:sp>
      <p:sp>
        <p:nvSpPr>
          <p:cNvPr id="24" name="Text 22"/>
          <p:cNvSpPr txBox="1"/>
          <p:nvPr/>
        </p:nvSpPr>
        <p:spPr>
          <a:xfrm>
            <a:off x="6949440" y="4480560"/>
            <a:ext cx="1645920" cy="228600"/>
          </a:xfrm>
          <a:prstGeom prst="rect">
            <a:avLst/>
          </a:prstGeom>
          <a:noFill/>
          <a:ln/>
        </p:spPr>
        <p:txBody>
          <a:bodyPr wrap="square" lIns="0" tIns="0" rIns="0" bIns="0" rtlCol="0" anchor="t"/>
          <a:lstStyle/>
          <a:p>
            <a:pPr algn="r" indent="0" marL="0">
              <a:buNone/>
            </a:pPr>
            <a:r>
              <a:rPr lang="en-US" sz="850" dirty="0">
                <a:solidFill>
                  <a:srgbClr val="6B7280"/>
                </a:solidFill>
                <a:latin typeface="Meiryo" pitchFamily="34" charset="0"/>
                <a:ea typeface="Meiryo" pitchFamily="34" charset="-122"/>
                <a:cs typeface="Meiryo" pitchFamily="34" charset="-120"/>
              </a:rPr>
              <a:t>1話あたり価格（対数）</a:t>
            </a:r>
            <a:endParaRPr lang="en-US" sz="850" dirty="0"/>
          </a:p>
        </p:txBody>
      </p:sp>
      <p:sp>
        <p:nvSpPr>
          <p:cNvPr id="25" name="Shape 23"/>
          <p:cNvSpPr/>
          <p:nvPr/>
        </p:nvSpPr>
        <p:spPr>
          <a:xfrm>
            <a:off x="822960" y="1325880"/>
            <a:ext cx="2008105" cy="274320"/>
          </a:xfrm>
          <a:prstGeom prst="roundRect">
            <a:avLst>
              <a:gd name="adj" fmla="val 16667"/>
            </a:avLst>
          </a:prstGeom>
          <a:solidFill>
            <a:srgbClr val="D6DAE2"/>
          </a:solidFill>
          <a:ln w="12700">
            <a:solidFill>
              <a:srgbClr val="D6DAE2"/>
            </a:solidFill>
            <a:prstDash val="solid"/>
          </a:ln>
        </p:spPr>
      </p:sp>
      <p:sp>
        <p:nvSpPr>
          <p:cNvPr id="26" name="Text 24"/>
          <p:cNvSpPr txBox="1"/>
          <p:nvPr/>
        </p:nvSpPr>
        <p:spPr>
          <a:xfrm>
            <a:off x="896112" y="1362456"/>
            <a:ext cx="2011680" cy="219456"/>
          </a:xfrm>
          <a:prstGeom prst="rect">
            <a:avLst/>
          </a:prstGeom>
          <a:noFill/>
          <a:ln/>
        </p:spPr>
        <p:txBody>
          <a:bodyPr wrap="square" lIns="0" tIns="0" rIns="0" bIns="0" rtlCol="0" anchor="ctr"/>
          <a:lstStyle/>
          <a:p>
            <a:pPr indent="0" marL="0">
              <a:buNone/>
            </a:pPr>
            <a:r>
              <a:rPr lang="en-US" sz="850" dirty="0">
                <a:solidFill>
                  <a:srgbClr val="1F2430"/>
                </a:solidFill>
                <a:latin typeface="Meiryo" pitchFamily="34" charset="0"/>
                <a:ea typeface="Meiryo" pitchFamily="34" charset="-122"/>
                <a:cs typeface="Meiryo" pitchFamily="34" charset="-120"/>
              </a:rPr>
              <a:t>フリーランス AI量産</a:t>
            </a:r>
            <a:endParaRPr lang="en-US" sz="850" dirty="0"/>
          </a:p>
        </p:txBody>
      </p:sp>
      <p:sp>
        <p:nvSpPr>
          <p:cNvPr id="27" name="Shape 25"/>
          <p:cNvSpPr/>
          <p:nvPr/>
        </p:nvSpPr>
        <p:spPr>
          <a:xfrm>
            <a:off x="822960" y="1691640"/>
            <a:ext cx="2008105" cy="274320"/>
          </a:xfrm>
          <a:prstGeom prst="roundRect">
            <a:avLst>
              <a:gd name="adj" fmla="val 16667"/>
            </a:avLst>
          </a:prstGeom>
          <a:solidFill>
            <a:srgbClr val="D6DAE2"/>
          </a:solidFill>
          <a:ln w="12700">
            <a:solidFill>
              <a:srgbClr val="D6DAE2"/>
            </a:solidFill>
            <a:prstDash val="solid"/>
          </a:ln>
        </p:spPr>
      </p:sp>
      <p:sp>
        <p:nvSpPr>
          <p:cNvPr id="28" name="Text 26"/>
          <p:cNvSpPr txBox="1"/>
          <p:nvPr/>
        </p:nvSpPr>
        <p:spPr>
          <a:xfrm>
            <a:off x="896112" y="1728216"/>
            <a:ext cx="2011680" cy="219456"/>
          </a:xfrm>
          <a:prstGeom prst="rect">
            <a:avLst/>
          </a:prstGeom>
          <a:noFill/>
          <a:ln/>
        </p:spPr>
        <p:txBody>
          <a:bodyPr wrap="square" lIns="0" tIns="0" rIns="0" bIns="0" rtlCol="0" anchor="ctr"/>
          <a:lstStyle/>
          <a:p>
            <a:pPr indent="0" marL="0">
              <a:buNone/>
            </a:pPr>
            <a:r>
              <a:rPr lang="en-US" sz="850" dirty="0">
                <a:solidFill>
                  <a:srgbClr val="1F2430"/>
                </a:solidFill>
                <a:latin typeface="Meiryo" pitchFamily="34" charset="0"/>
                <a:ea typeface="Meiryo" pitchFamily="34" charset="-122"/>
                <a:cs typeface="Meiryo" pitchFamily="34" charset="-120"/>
              </a:rPr>
              <a:t>テスト投稿・初回5万</a:t>
            </a:r>
            <a:endParaRPr lang="en-US" sz="850" dirty="0"/>
          </a:p>
        </p:txBody>
      </p:sp>
      <p:sp>
        <p:nvSpPr>
          <p:cNvPr id="29" name="Shape 27"/>
          <p:cNvSpPr/>
          <p:nvPr/>
        </p:nvSpPr>
        <p:spPr>
          <a:xfrm>
            <a:off x="2831065" y="2057400"/>
            <a:ext cx="1832375" cy="274320"/>
          </a:xfrm>
          <a:prstGeom prst="roundRect">
            <a:avLst>
              <a:gd name="adj" fmla="val 16667"/>
            </a:avLst>
          </a:prstGeom>
          <a:solidFill>
            <a:srgbClr val="D6DAE2"/>
          </a:solidFill>
          <a:ln w="12700">
            <a:solidFill>
              <a:srgbClr val="D6DAE2"/>
            </a:solidFill>
            <a:prstDash val="solid"/>
          </a:ln>
        </p:spPr>
      </p:sp>
      <p:sp>
        <p:nvSpPr>
          <p:cNvPr id="30" name="Text 28"/>
          <p:cNvSpPr txBox="1"/>
          <p:nvPr/>
        </p:nvSpPr>
        <p:spPr>
          <a:xfrm>
            <a:off x="2904217" y="2093976"/>
            <a:ext cx="2011680" cy="219456"/>
          </a:xfrm>
          <a:prstGeom prst="rect">
            <a:avLst/>
          </a:prstGeom>
          <a:noFill/>
          <a:ln/>
        </p:spPr>
        <p:txBody>
          <a:bodyPr wrap="square" lIns="0" tIns="0" rIns="0" bIns="0" rtlCol="0" anchor="ctr"/>
          <a:lstStyle/>
          <a:p>
            <a:pPr indent="0" marL="0">
              <a:buNone/>
            </a:pPr>
            <a:r>
              <a:rPr lang="en-US" sz="850" dirty="0">
                <a:solidFill>
                  <a:srgbClr val="1F2430"/>
                </a:solidFill>
                <a:latin typeface="Meiryo" pitchFamily="34" charset="0"/>
                <a:ea typeface="Meiryo" pitchFamily="34" charset="-122"/>
                <a:cs typeface="Meiryo" pitchFamily="34" charset="-120"/>
              </a:rPr>
              <a:t>量産型制作会社</a:t>
            </a:r>
            <a:endParaRPr lang="en-US" sz="850" dirty="0"/>
          </a:p>
        </p:txBody>
      </p:sp>
      <p:sp>
        <p:nvSpPr>
          <p:cNvPr id="31" name="Shape 29"/>
          <p:cNvSpPr/>
          <p:nvPr/>
        </p:nvSpPr>
        <p:spPr>
          <a:xfrm>
            <a:off x="4359346" y="2423160"/>
            <a:ext cx="783919" cy="274320"/>
          </a:xfrm>
          <a:prstGeom prst="roundRect">
            <a:avLst>
              <a:gd name="adj" fmla="val 16667"/>
            </a:avLst>
          </a:prstGeom>
          <a:solidFill>
            <a:srgbClr val="D6DAE2"/>
          </a:solidFill>
          <a:ln w="12700">
            <a:solidFill>
              <a:srgbClr val="D6DAE2"/>
            </a:solidFill>
            <a:prstDash val="solid"/>
          </a:ln>
        </p:spPr>
      </p:sp>
      <p:sp>
        <p:nvSpPr>
          <p:cNvPr id="32" name="Text 30"/>
          <p:cNvSpPr txBox="1"/>
          <p:nvPr/>
        </p:nvSpPr>
        <p:spPr>
          <a:xfrm>
            <a:off x="4432498" y="2459736"/>
            <a:ext cx="2011680" cy="219456"/>
          </a:xfrm>
          <a:prstGeom prst="rect">
            <a:avLst/>
          </a:prstGeom>
          <a:noFill/>
          <a:ln/>
        </p:spPr>
        <p:txBody>
          <a:bodyPr wrap="square" lIns="0" tIns="0" rIns="0" bIns="0" rtlCol="0" anchor="ctr"/>
          <a:lstStyle/>
          <a:p>
            <a:pPr indent="0" marL="0">
              <a:buNone/>
            </a:pPr>
            <a:r>
              <a:rPr lang="en-US" sz="850" dirty="0">
                <a:solidFill>
                  <a:srgbClr val="1F2430"/>
                </a:solidFill>
                <a:latin typeface="Meiryo" pitchFamily="34" charset="0"/>
                <a:ea typeface="Meiryo" pitchFamily="34" charset="-122"/>
                <a:cs typeface="Meiryo" pitchFamily="34" charset="-120"/>
              </a:rPr>
              <a:t>簡易プラン30万前後</a:t>
            </a:r>
            <a:endParaRPr lang="en-US" sz="850" dirty="0"/>
          </a:p>
        </p:txBody>
      </p:sp>
      <p:sp>
        <p:nvSpPr>
          <p:cNvPr id="33" name="Shape 31"/>
          <p:cNvSpPr/>
          <p:nvPr/>
        </p:nvSpPr>
        <p:spPr>
          <a:xfrm>
            <a:off x="4663440" y="2788920"/>
            <a:ext cx="1635924" cy="274320"/>
          </a:xfrm>
          <a:prstGeom prst="roundRect">
            <a:avLst>
              <a:gd name="adj" fmla="val 16667"/>
            </a:avLst>
          </a:prstGeom>
          <a:solidFill>
            <a:srgbClr val="D6DAE2"/>
          </a:solidFill>
          <a:ln w="12700">
            <a:solidFill>
              <a:srgbClr val="D6DAE2"/>
            </a:solidFill>
            <a:prstDash val="solid"/>
          </a:ln>
        </p:spPr>
      </p:sp>
      <p:sp>
        <p:nvSpPr>
          <p:cNvPr id="34" name="Text 32"/>
          <p:cNvSpPr txBox="1"/>
          <p:nvPr/>
        </p:nvSpPr>
        <p:spPr>
          <a:xfrm>
            <a:off x="4736592" y="2825496"/>
            <a:ext cx="2011680" cy="219456"/>
          </a:xfrm>
          <a:prstGeom prst="rect">
            <a:avLst/>
          </a:prstGeom>
          <a:noFill/>
          <a:ln/>
        </p:spPr>
        <p:txBody>
          <a:bodyPr wrap="square" lIns="0" tIns="0" rIns="0" bIns="0" rtlCol="0" anchor="ctr"/>
          <a:lstStyle/>
          <a:p>
            <a:pPr indent="0" marL="0">
              <a:buNone/>
            </a:pPr>
            <a:r>
              <a:rPr lang="en-US" sz="850" dirty="0">
                <a:solidFill>
                  <a:srgbClr val="1F2430"/>
                </a:solidFill>
                <a:latin typeface="Meiryo" pitchFamily="34" charset="0"/>
                <a:ea typeface="Meiryo" pitchFamily="34" charset="-122"/>
                <a:cs typeface="Meiryo" pitchFamily="34" charset="-120"/>
              </a:rPr>
              <a:t>実写×AIハイブリッド</a:t>
            </a:r>
            <a:endParaRPr lang="en-US" sz="850" dirty="0"/>
          </a:p>
        </p:txBody>
      </p:sp>
      <p:sp>
        <p:nvSpPr>
          <p:cNvPr id="35" name="Shape 33"/>
          <p:cNvSpPr/>
          <p:nvPr/>
        </p:nvSpPr>
        <p:spPr>
          <a:xfrm>
            <a:off x="5819540" y="3154680"/>
            <a:ext cx="1528281" cy="274320"/>
          </a:xfrm>
          <a:prstGeom prst="roundRect">
            <a:avLst>
              <a:gd name="adj" fmla="val 16667"/>
            </a:avLst>
          </a:prstGeom>
          <a:solidFill>
            <a:srgbClr val="D6DAE2"/>
          </a:solidFill>
          <a:ln w="12700">
            <a:solidFill>
              <a:srgbClr val="D6DAE2"/>
            </a:solidFill>
            <a:prstDash val="solid"/>
          </a:ln>
        </p:spPr>
      </p:sp>
      <p:sp>
        <p:nvSpPr>
          <p:cNvPr id="36" name="Text 34"/>
          <p:cNvSpPr txBox="1"/>
          <p:nvPr/>
        </p:nvSpPr>
        <p:spPr>
          <a:xfrm>
            <a:off x="5892692" y="3191256"/>
            <a:ext cx="2011680" cy="219456"/>
          </a:xfrm>
          <a:prstGeom prst="rect">
            <a:avLst/>
          </a:prstGeom>
          <a:noFill/>
          <a:ln/>
        </p:spPr>
        <p:txBody>
          <a:bodyPr wrap="square" lIns="0" tIns="0" rIns="0" bIns="0" rtlCol="0" anchor="ctr"/>
          <a:lstStyle/>
          <a:p>
            <a:pPr indent="0" marL="0">
              <a:buNone/>
            </a:pPr>
            <a:r>
              <a:rPr lang="en-US" sz="850" dirty="0">
                <a:solidFill>
                  <a:srgbClr val="1F2430"/>
                </a:solidFill>
                <a:latin typeface="Meiryo" pitchFamily="34" charset="0"/>
                <a:ea typeface="Meiryo" pitchFamily="34" charset="-122"/>
                <a:cs typeface="Meiryo" pitchFamily="34" charset="-120"/>
              </a:rPr>
              <a:t>AIドラマ広告</a:t>
            </a:r>
            <a:endParaRPr lang="en-US" sz="850" dirty="0"/>
          </a:p>
        </p:txBody>
      </p:sp>
      <p:sp>
        <p:nvSpPr>
          <p:cNvPr id="37" name="Shape 35"/>
          <p:cNvSpPr/>
          <p:nvPr/>
        </p:nvSpPr>
        <p:spPr>
          <a:xfrm>
            <a:off x="6299364" y="3520440"/>
            <a:ext cx="1048456" cy="274320"/>
          </a:xfrm>
          <a:prstGeom prst="roundRect">
            <a:avLst>
              <a:gd name="adj" fmla="val 16667"/>
            </a:avLst>
          </a:prstGeom>
          <a:solidFill>
            <a:srgbClr val="D6DAE2"/>
          </a:solidFill>
          <a:ln w="12700">
            <a:solidFill>
              <a:srgbClr val="D6DAE2"/>
            </a:solidFill>
            <a:prstDash val="solid"/>
          </a:ln>
        </p:spPr>
      </p:sp>
      <p:sp>
        <p:nvSpPr>
          <p:cNvPr id="38" name="Text 36"/>
          <p:cNvSpPr txBox="1"/>
          <p:nvPr/>
        </p:nvSpPr>
        <p:spPr>
          <a:xfrm>
            <a:off x="6372516" y="3557016"/>
            <a:ext cx="2011680" cy="219456"/>
          </a:xfrm>
          <a:prstGeom prst="rect">
            <a:avLst/>
          </a:prstGeom>
          <a:noFill/>
          <a:ln/>
        </p:spPr>
        <p:txBody>
          <a:bodyPr wrap="square" lIns="0" tIns="0" rIns="0" bIns="0" rtlCol="0" anchor="ctr"/>
          <a:lstStyle/>
          <a:p>
            <a:pPr indent="0" marL="0">
              <a:buNone/>
            </a:pPr>
            <a:r>
              <a:rPr lang="en-US" sz="850" dirty="0">
                <a:solidFill>
                  <a:srgbClr val="1F2430"/>
                </a:solidFill>
                <a:latin typeface="Meiryo" pitchFamily="34" charset="0"/>
                <a:ea typeface="Meiryo" pitchFamily="34" charset="-122"/>
                <a:cs typeface="Meiryo" pitchFamily="34" charset="-120"/>
              </a:rPr>
              <a:t>シリーズ（1話換算）</a:t>
            </a:r>
            <a:endParaRPr lang="en-US" sz="850" dirty="0"/>
          </a:p>
        </p:txBody>
      </p:sp>
      <p:sp>
        <p:nvSpPr>
          <p:cNvPr id="39" name="Shape 37"/>
          <p:cNvSpPr/>
          <p:nvPr/>
        </p:nvSpPr>
        <p:spPr>
          <a:xfrm>
            <a:off x="6671545" y="3840480"/>
            <a:ext cx="1832375" cy="274320"/>
          </a:xfrm>
          <a:prstGeom prst="roundRect">
            <a:avLst>
              <a:gd name="adj" fmla="val 16667"/>
            </a:avLst>
          </a:prstGeom>
          <a:solidFill>
            <a:srgbClr val="D6DAE2"/>
          </a:solidFill>
          <a:ln w="12700">
            <a:solidFill>
              <a:srgbClr val="D6DAE2"/>
            </a:solidFill>
            <a:prstDash val="solid"/>
          </a:ln>
        </p:spPr>
      </p:sp>
      <p:sp>
        <p:nvSpPr>
          <p:cNvPr id="40" name="Text 38"/>
          <p:cNvSpPr txBox="1"/>
          <p:nvPr/>
        </p:nvSpPr>
        <p:spPr>
          <a:xfrm>
            <a:off x="6744697" y="3877056"/>
            <a:ext cx="2011680" cy="219456"/>
          </a:xfrm>
          <a:prstGeom prst="rect">
            <a:avLst/>
          </a:prstGeom>
          <a:noFill/>
          <a:ln/>
        </p:spPr>
        <p:txBody>
          <a:bodyPr wrap="square" lIns="0" tIns="0" rIns="0" bIns="0" rtlCol="0" anchor="ctr"/>
          <a:lstStyle/>
          <a:p>
            <a:pPr indent="0" marL="0">
              <a:buNone/>
            </a:pPr>
            <a:r>
              <a:rPr lang="en-US" sz="850" dirty="0">
                <a:solidFill>
                  <a:srgbClr val="1F2430"/>
                </a:solidFill>
                <a:latin typeface="Meiryo" pitchFamily="34" charset="0"/>
                <a:ea typeface="Meiryo" pitchFamily="34" charset="-122"/>
                <a:cs typeface="Meiryo" pitchFamily="34" charset="-120"/>
              </a:rPr>
              <a:t>3話100万〜／タレント起用</a:t>
            </a:r>
            <a:endParaRPr lang="en-US" sz="850" dirty="0"/>
          </a:p>
        </p:txBody>
      </p:sp>
      <p:sp>
        <p:nvSpPr>
          <p:cNvPr id="41" name="Shape 39"/>
          <p:cNvSpPr/>
          <p:nvPr/>
        </p:nvSpPr>
        <p:spPr>
          <a:xfrm>
            <a:off x="2831065" y="1234440"/>
            <a:ext cx="0" cy="2926080"/>
          </a:xfrm>
          <a:prstGeom prst="line">
            <a:avLst/>
          </a:prstGeom>
          <a:noFill/>
          <a:ln w="25400">
            <a:solidFill>
              <a:srgbClr val="1D3557"/>
            </a:solidFill>
            <a:prstDash val="dash"/>
          </a:ln>
        </p:spPr>
      </p:sp>
      <p:sp>
        <p:nvSpPr>
          <p:cNvPr id="42" name="Shape 40"/>
          <p:cNvSpPr/>
          <p:nvPr/>
        </p:nvSpPr>
        <p:spPr>
          <a:xfrm>
            <a:off x="2328145" y="960120"/>
            <a:ext cx="1005840" cy="274320"/>
          </a:xfrm>
          <a:prstGeom prst="roundRect">
            <a:avLst>
              <a:gd name="adj" fmla="val 16667"/>
            </a:avLst>
          </a:prstGeom>
          <a:solidFill>
            <a:srgbClr val="1D3557"/>
          </a:solidFill>
          <a:ln w="12700">
            <a:solidFill>
              <a:srgbClr val="1D3557"/>
            </a:solidFill>
            <a:prstDash val="solid"/>
          </a:ln>
        </p:spPr>
      </p:sp>
      <p:sp>
        <p:nvSpPr>
          <p:cNvPr id="43" name="Text 41"/>
          <p:cNvSpPr txBox="1"/>
          <p:nvPr/>
        </p:nvSpPr>
        <p:spPr>
          <a:xfrm>
            <a:off x="2328145" y="960120"/>
            <a:ext cx="1005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Meiryo" pitchFamily="34" charset="0"/>
                <a:ea typeface="Meiryo" pitchFamily="34" charset="-122"/>
                <a:cs typeface="Meiryo" pitchFamily="34" charset="-120"/>
              </a:rPr>
              <a:t>AI軸 10万</a:t>
            </a:r>
            <a:endParaRPr lang="en-US" sz="950" dirty="0"/>
          </a:p>
        </p:txBody>
      </p:sp>
      <p:sp>
        <p:nvSpPr>
          <p:cNvPr id="44" name="Shape 42"/>
          <p:cNvSpPr/>
          <p:nvPr/>
        </p:nvSpPr>
        <p:spPr>
          <a:xfrm>
            <a:off x="4663440" y="1234440"/>
            <a:ext cx="0" cy="2926080"/>
          </a:xfrm>
          <a:prstGeom prst="line">
            <a:avLst/>
          </a:prstGeom>
          <a:noFill/>
          <a:ln w="25400">
            <a:solidFill>
              <a:srgbClr val="E63946"/>
            </a:solidFill>
            <a:prstDash val="dash"/>
          </a:ln>
        </p:spPr>
      </p:sp>
      <p:sp>
        <p:nvSpPr>
          <p:cNvPr id="45" name="Shape 43"/>
          <p:cNvSpPr/>
          <p:nvPr/>
        </p:nvSpPr>
        <p:spPr>
          <a:xfrm>
            <a:off x="4160520" y="960120"/>
            <a:ext cx="1005840" cy="274320"/>
          </a:xfrm>
          <a:prstGeom prst="roundRect">
            <a:avLst>
              <a:gd name="adj" fmla="val 16667"/>
            </a:avLst>
          </a:prstGeom>
          <a:solidFill>
            <a:srgbClr val="E63946"/>
          </a:solidFill>
          <a:ln w="12700">
            <a:solidFill>
              <a:srgbClr val="E63946"/>
            </a:solidFill>
            <a:prstDash val="solid"/>
          </a:ln>
        </p:spPr>
      </p:sp>
      <p:sp>
        <p:nvSpPr>
          <p:cNvPr id="46" name="Text 44"/>
          <p:cNvSpPr txBox="1"/>
          <p:nvPr/>
        </p:nvSpPr>
        <p:spPr>
          <a:xfrm>
            <a:off x="4160520" y="960120"/>
            <a:ext cx="1005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Meiryo" pitchFamily="34" charset="0"/>
                <a:ea typeface="Meiryo" pitchFamily="34" charset="-122"/>
                <a:cs typeface="Meiryo" pitchFamily="34" charset="-120"/>
              </a:rPr>
              <a:t>実写軸 30万</a:t>
            </a:r>
            <a:endParaRPr lang="en-US" sz="950" dirty="0"/>
          </a:p>
        </p:txBody>
      </p:sp>
      <p:sp>
        <p:nvSpPr>
          <p:cNvPr id="47" name="Text 45"/>
          <p:cNvSpPr txBox="1"/>
          <p:nvPr/>
        </p:nvSpPr>
        <p:spPr>
          <a:xfrm>
            <a:off x="548640" y="4663440"/>
            <a:ext cx="8046720" cy="320040"/>
          </a:xfrm>
          <a:prstGeom prst="rect">
            <a:avLst/>
          </a:prstGeom>
          <a:noFill/>
          <a:ln/>
        </p:spPr>
        <p:txBody>
          <a:bodyPr wrap="square" lIns="0" tIns="0" rIns="0" bIns="0" rtlCol="0" anchor="t"/>
          <a:lstStyle/>
          <a:p>
            <a:pPr indent="0" marL="0">
              <a:buNone/>
            </a:pPr>
            <a:r>
              <a:rPr lang="en-US" sz="950" i="1" dirty="0">
                <a:solidFill>
                  <a:srgbClr val="1D3557"/>
                </a:solidFill>
                <a:latin typeface="Meiryo" pitchFamily="34" charset="0"/>
                <a:ea typeface="Meiryo" pitchFamily="34" charset="-122"/>
                <a:cs typeface="Meiryo" pitchFamily="34" charset="-120"/>
              </a:rPr>
              <a:t>価格帯は各社公開記事の「目安」。安さでは勝てないが、低価格帯の価格でミドル帯の企画・運用品質を出せれば空白地帯になる。</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228600"/>
          </a:xfrm>
          <a:prstGeom prst="rect">
            <a:avLst/>
          </a:prstGeom>
          <a:noFill/>
          <a:ln/>
        </p:spPr>
        <p:txBody>
          <a:bodyPr wrap="square" lIns="0" tIns="0" rIns="0" bIns="0" rtlCol="0" anchor="t"/>
          <a:lstStyle/>
          <a:p>
            <a:pPr indent="0" marL="0">
              <a:buNone/>
            </a:pPr>
            <a:r>
              <a:rPr lang="en-US" sz="1100" b="1" dirty="0">
                <a:solidFill>
                  <a:srgbClr val="E63946"/>
                </a:solidFill>
                <a:latin typeface="Meiryo" pitchFamily="34" charset="0"/>
                <a:ea typeface="Meiryo" pitchFamily="34" charset="-122"/>
                <a:cs typeface="Meiryo" pitchFamily="34" charset="-120"/>
              </a:rPr>
              <a:t>2. 競合分析</a:t>
            </a:r>
            <a:endParaRPr lang="en-US" sz="1100" dirty="0"/>
          </a:p>
        </p:txBody>
      </p:sp>
      <p:sp>
        <p:nvSpPr>
          <p:cNvPr id="3" name="Text 1"/>
          <p:cNvSpPr txBox="1"/>
          <p:nvPr/>
        </p:nvSpPr>
        <p:spPr>
          <a:xfrm>
            <a:off x="548640" y="548640"/>
            <a:ext cx="8046720" cy="548640"/>
          </a:xfrm>
          <a:prstGeom prst="rect">
            <a:avLst/>
          </a:prstGeom>
          <a:noFill/>
          <a:ln/>
        </p:spPr>
        <p:txBody>
          <a:bodyPr wrap="square" lIns="0" tIns="0" rIns="0" bIns="0" rtlCol="0" anchor="t"/>
          <a:lstStyle/>
          <a:p>
            <a:pPr indent="0" marL="0">
              <a:buNone/>
            </a:pPr>
            <a:r>
              <a:rPr lang="en-US" sz="2200" b="1" dirty="0">
                <a:solidFill>
                  <a:srgbClr val="111318"/>
                </a:solidFill>
                <a:latin typeface="Meiryo" pitchFamily="34" charset="0"/>
                <a:ea typeface="Meiryo" pitchFamily="34" charset="-122"/>
                <a:cs typeface="Meiryo" pitchFamily="34" charset="-120"/>
              </a:rPr>
              <a:t>主要競合は大手志向か広告寄り。中小の小口に隙がある</a:t>
            </a:r>
            <a:endParaRPr lang="en-US" sz="2200" dirty="0"/>
          </a:p>
        </p:txBody>
      </p:sp>
      <p:sp>
        <p:nvSpPr>
          <p:cNvPr id="4" name="Text 2"/>
          <p:cNvSpPr txBox="1"/>
          <p:nvPr/>
        </p:nvSpPr>
        <p:spPr>
          <a:xfrm>
            <a:off x="8229600" y="4754880"/>
            <a:ext cx="4572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pitchFamily="34" charset="0"/>
                <a:ea typeface="Meiryo" pitchFamily="34" charset="-122"/>
                <a:cs typeface="Meiryo" pitchFamily="34" charset="-120"/>
              </a:rPr>
              <a:t>07</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8046720" cy="914400"/>
        </p:xfrm>
        <a:graphic>
          <a:graphicData uri="http://schemas.openxmlformats.org/drawingml/2006/table">
            <a:tbl>
              <a:tblPr/>
              <a:tblGrid>
                <a:gridCol w="1325880"/>
                <a:gridCol w="960120"/>
                <a:gridCol w="1645920"/>
                <a:gridCol w="1828800"/>
                <a:gridCol w="2286000"/>
              </a:tblGrid>
              <a:tr h="457200">
                <a:tc>
                  <a:txBody>
                    <a:bodyPr/>
                    <a:lstStyle/>
                    <a:p>
                      <a:pPr indent="0" marL="0">
                        <a:buNone/>
                      </a:pPr>
                      <a:r>
                        <a:rPr lang="en-US" sz="900" b="1" dirty="0">
                          <a:solidFill>
                            <a:srgbClr val="FFFFFF"/>
                          </a:solidFill>
                          <a:latin typeface="Meiryo" pitchFamily="34" charset="0"/>
                          <a:ea typeface="Meiryo" pitchFamily="34" charset="-122"/>
                          <a:cs typeface="Meiryo" pitchFamily="34" charset="-120"/>
                        </a:rPr>
                        <a:t>会社</a:t>
                      </a:r>
                      <a:endParaRPr lang="en-US" sz="9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111318"/>
                    </a:solidFill>
                  </a:tcPr>
                </a:tc>
                <a:tc>
                  <a:txBody>
                    <a:bodyPr/>
                    <a:lstStyle/>
                    <a:p>
                      <a:pPr indent="0" marL="0">
                        <a:buNone/>
                      </a:pPr>
                      <a:r>
                        <a:rPr lang="en-US" sz="900" b="1" dirty="0">
                          <a:solidFill>
                            <a:srgbClr val="FFFFFF"/>
                          </a:solidFill>
                          <a:latin typeface="Meiryo" pitchFamily="34" charset="0"/>
                          <a:ea typeface="Meiryo" pitchFamily="34" charset="-122"/>
                          <a:cs typeface="Meiryo" pitchFamily="34" charset="-120"/>
                        </a:rPr>
                        <a:t>タイプ</a:t>
                      </a:r>
                      <a:endParaRPr lang="en-US" sz="9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111318"/>
                    </a:solidFill>
                  </a:tcPr>
                </a:tc>
                <a:tc>
                  <a:txBody>
                    <a:bodyPr/>
                    <a:lstStyle/>
                    <a:p>
                      <a:pPr indent="0" marL="0">
                        <a:buNone/>
                      </a:pPr>
                      <a:r>
                        <a:rPr lang="en-US" sz="900" b="1" dirty="0">
                          <a:solidFill>
                            <a:srgbClr val="FFFFFF"/>
                          </a:solidFill>
                          <a:latin typeface="Meiryo" pitchFamily="34" charset="0"/>
                          <a:ea typeface="Meiryo" pitchFamily="34" charset="-122"/>
                          <a:cs typeface="Meiryo" pitchFamily="34" charset="-120"/>
                        </a:rPr>
                        <a:t>強み</a:t>
                      </a:r>
                      <a:endParaRPr lang="en-US" sz="9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111318"/>
                    </a:solidFill>
                  </a:tcPr>
                </a:tc>
                <a:tc>
                  <a:txBody>
                    <a:bodyPr/>
                    <a:lstStyle/>
                    <a:p>
                      <a:pPr indent="0" marL="0">
                        <a:buNone/>
                      </a:pPr>
                      <a:r>
                        <a:rPr lang="en-US" sz="900" b="1" dirty="0">
                          <a:solidFill>
                            <a:srgbClr val="FFFFFF"/>
                          </a:solidFill>
                          <a:latin typeface="Meiryo" pitchFamily="34" charset="0"/>
                          <a:ea typeface="Meiryo" pitchFamily="34" charset="-122"/>
                          <a:cs typeface="Meiryo" pitchFamily="34" charset="-120"/>
                        </a:rPr>
                        <a:t>価格帯（公開情報）</a:t>
                      </a:r>
                      <a:endParaRPr lang="en-US" sz="9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111318"/>
                    </a:solidFill>
                  </a:tcPr>
                </a:tc>
                <a:tc>
                  <a:txBody>
                    <a:bodyPr/>
                    <a:lstStyle/>
                    <a:p>
                      <a:pPr indent="0" marL="0">
                        <a:buNone/>
                      </a:pPr>
                      <a:r>
                        <a:rPr lang="en-US" sz="900" b="1" dirty="0">
                          <a:solidFill>
                            <a:srgbClr val="FFFFFF"/>
                          </a:solidFill>
                          <a:latin typeface="Meiryo" pitchFamily="34" charset="0"/>
                          <a:ea typeface="Meiryo" pitchFamily="34" charset="-122"/>
                          <a:cs typeface="Meiryo" pitchFamily="34" charset="-120"/>
                        </a:rPr>
                        <a:t>隙</a:t>
                      </a:r>
                      <a:endParaRPr lang="en-US" sz="9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111318"/>
                    </a:solidFill>
                  </a:tcPr>
                </a:tc>
              </a:tr>
              <a:tr h="457200">
                <a:tc>
                  <a:txBody>
                    <a:bodyPr/>
                    <a:lstStyle/>
                    <a:p>
                      <a:pPr indent="0" marL="0">
                        <a:buNone/>
                      </a:pPr>
                      <a:r>
                        <a:rPr lang="en-US" sz="900" b="1" dirty="0">
                          <a:solidFill>
                            <a:srgbClr val="1F2430"/>
                          </a:solidFill>
                          <a:latin typeface="Meiryo" pitchFamily="34" charset="0"/>
                          <a:ea typeface="Meiryo" pitchFamily="34" charset="-122"/>
                          <a:cs typeface="Meiryo" pitchFamily="34" charset="-120"/>
                        </a:rPr>
                        <a:t>GOKKO</a:t>
                      </a:r>
                      <a:endParaRPr lang="en-US" sz="9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900" dirty="0">
                          <a:solidFill>
                            <a:srgbClr val="1F2430"/>
                          </a:solidFill>
                          <a:latin typeface="Meiryo" pitchFamily="34" charset="0"/>
                          <a:ea typeface="Meiryo" pitchFamily="34" charset="-122"/>
                          <a:cs typeface="Meiryo" pitchFamily="34" charset="-120"/>
                        </a:rPr>
                        <a:t>レーベル</a:t>
                      </a:r>
                      <a:endParaRPr lang="en-US" sz="9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900" dirty="0">
                          <a:solidFill>
                            <a:srgbClr val="1F2430"/>
                          </a:solidFill>
                          <a:latin typeface="Meiryo" pitchFamily="34" charset="0"/>
                          <a:ea typeface="Meiryo" pitchFamily="34" charset="-122"/>
                          <a:cs typeface="Meiryo" pitchFamily="34" charset="-120"/>
                        </a:rPr>
                        <a:t>累計100億再生、11億円調達</a:t>
                      </a:r>
                      <a:endParaRPr lang="en-US" sz="9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900" dirty="0">
                          <a:solidFill>
                            <a:srgbClr val="1F2430"/>
                          </a:solidFill>
                          <a:latin typeface="Meiryo" pitchFamily="34" charset="0"/>
                          <a:ea typeface="Meiryo" pitchFamily="34" charset="-122"/>
                          <a:cs typeface="Meiryo" pitchFamily="34" charset="-120"/>
                        </a:rPr>
                        <a:t>非公開（ハイエンド）</a:t>
                      </a:r>
                      <a:endParaRPr lang="en-US" sz="9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900" dirty="0">
                          <a:solidFill>
                            <a:srgbClr val="1F2430"/>
                          </a:solidFill>
                          <a:latin typeface="Meiryo" pitchFamily="34" charset="0"/>
                          <a:ea typeface="Meiryo" pitchFamily="34" charset="-122"/>
                          <a:cs typeface="Meiryo" pitchFamily="34" charset="-120"/>
                        </a:rPr>
                        <a:t>企業案件は「3倍時間・バズ1/3」とCEOが公言。小口は対象外</a:t>
                      </a:r>
                      <a:endParaRPr lang="en-US" sz="9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r>
              <a:tr h="457200">
                <a:tc>
                  <a:txBody>
                    <a:bodyPr/>
                    <a:lstStyle/>
                    <a:p>
                      <a:pPr indent="0" marL="0">
                        <a:buNone/>
                      </a:pPr>
                      <a:r>
                        <a:rPr lang="en-US" sz="900" b="1" dirty="0">
                          <a:solidFill>
                            <a:srgbClr val="1F2430"/>
                          </a:solidFill>
                          <a:latin typeface="Meiryo" pitchFamily="34" charset="0"/>
                          <a:ea typeface="Meiryo" pitchFamily="34" charset="-122"/>
                          <a:cs typeface="Meiryo" pitchFamily="34" charset="-120"/>
                        </a:rPr>
                        <a:t>HA-LU</a:t>
                      </a:r>
                      <a:endParaRPr lang="en-US" sz="9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c>
                  <a:txBody>
                    <a:bodyPr/>
                    <a:lstStyle/>
                    <a:p>
                      <a:pPr indent="0" marL="0">
                        <a:buNone/>
                      </a:pPr>
                      <a:r>
                        <a:rPr lang="en-US" sz="900" dirty="0">
                          <a:solidFill>
                            <a:srgbClr val="1F2430"/>
                          </a:solidFill>
                          <a:latin typeface="Meiryo" pitchFamily="34" charset="0"/>
                          <a:ea typeface="Meiryo" pitchFamily="34" charset="-122"/>
                          <a:cs typeface="Meiryo" pitchFamily="34" charset="-120"/>
                        </a:rPr>
                        <a:t>Z世代レーベル</a:t>
                      </a:r>
                      <a:endParaRPr lang="en-US" sz="9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c>
                  <a:txBody>
                    <a:bodyPr/>
                    <a:lstStyle/>
                    <a:p>
                      <a:pPr indent="0" marL="0">
                        <a:buNone/>
                      </a:pPr>
                      <a:r>
                        <a:rPr lang="en-US" sz="900" dirty="0">
                          <a:solidFill>
                            <a:srgbClr val="1F2430"/>
                          </a:solidFill>
                          <a:latin typeface="Meiryo" pitchFamily="34" charset="0"/>
                          <a:ea typeface="Meiryo" pitchFamily="34" charset="-122"/>
                          <a:cs typeface="Meiryo" pitchFamily="34" charset="-120"/>
                        </a:rPr>
                        <a:t>年500話、アプリ向け長編</a:t>
                      </a:r>
                      <a:endParaRPr lang="en-US" sz="9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c>
                  <a:txBody>
                    <a:bodyPr/>
                    <a:lstStyle/>
                    <a:p>
                      <a:pPr indent="0" marL="0">
                        <a:buNone/>
                      </a:pPr>
                      <a:r>
                        <a:rPr lang="en-US" sz="900" dirty="0">
                          <a:solidFill>
                            <a:srgbClr val="1F2430"/>
                          </a:solidFill>
                          <a:latin typeface="Meiryo" pitchFamily="34" charset="0"/>
                          <a:ea typeface="Meiryo" pitchFamily="34" charset="-122"/>
                          <a:cs typeface="Meiryo" pitchFamily="34" charset="-120"/>
                        </a:rPr>
                        <a:t>非公開</a:t>
                      </a:r>
                      <a:endParaRPr lang="en-US" sz="9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c>
                  <a:txBody>
                    <a:bodyPr/>
                    <a:lstStyle/>
                    <a:p>
                      <a:pPr indent="0" marL="0">
                        <a:buNone/>
                      </a:pPr>
                      <a:r>
                        <a:rPr lang="en-US" sz="900" dirty="0">
                          <a:solidFill>
                            <a:srgbClr val="1F2430"/>
                          </a:solidFill>
                          <a:latin typeface="Meiryo" pitchFamily="34" charset="0"/>
                          <a:ea typeface="Meiryo" pitchFamily="34" charset="-122"/>
                          <a:cs typeface="Meiryo" pitchFamily="34" charset="-120"/>
                        </a:rPr>
                        <a:t>若年層特化。採用・地方・BtoBが手薄</a:t>
                      </a:r>
                      <a:endParaRPr lang="en-US" sz="9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r>
              <a:tr h="457200">
                <a:tc>
                  <a:txBody>
                    <a:bodyPr/>
                    <a:lstStyle/>
                    <a:p>
                      <a:pPr indent="0" marL="0">
                        <a:buNone/>
                      </a:pPr>
                      <a:r>
                        <a:rPr lang="en-US" sz="900" b="1" dirty="0">
                          <a:solidFill>
                            <a:srgbClr val="1F2430"/>
                          </a:solidFill>
                          <a:latin typeface="Meiryo" pitchFamily="34" charset="0"/>
                          <a:ea typeface="Meiryo" pitchFamily="34" charset="-122"/>
                          <a:cs typeface="Meiryo" pitchFamily="34" charset="-120"/>
                        </a:rPr>
                        <a:t>シバケン（B4B）</a:t>
                      </a:r>
                      <a:endParaRPr lang="en-US" sz="9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900" dirty="0">
                          <a:solidFill>
                            <a:srgbClr val="1F2430"/>
                          </a:solidFill>
                          <a:latin typeface="Meiryo" pitchFamily="34" charset="0"/>
                          <a:ea typeface="Meiryo" pitchFamily="34" charset="-122"/>
                          <a:cs typeface="Meiryo" pitchFamily="34" charset="-120"/>
                        </a:rPr>
                        <a:t>実写スタジオ</a:t>
                      </a:r>
                      <a:endParaRPr lang="en-US" sz="9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900" dirty="0">
                          <a:solidFill>
                            <a:srgbClr val="1F2430"/>
                          </a:solidFill>
                          <a:latin typeface="Meiryo" pitchFamily="34" charset="0"/>
                          <a:ea typeface="Meiryo" pitchFamily="34" charset="-122"/>
                          <a:cs typeface="Meiryo" pitchFamily="34" charset="-120"/>
                        </a:rPr>
                        <a:t>俳優集団＋クリエイター250名</a:t>
                      </a:r>
                      <a:endParaRPr lang="en-US" sz="9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900" dirty="0">
                          <a:solidFill>
                            <a:srgbClr val="1F2430"/>
                          </a:solidFill>
                          <a:latin typeface="Meiryo" pitchFamily="34" charset="0"/>
                          <a:ea typeface="Meiryo" pitchFamily="34" charset="-122"/>
                          <a:cs typeface="Meiryo" pitchFamily="34" charset="-120"/>
                        </a:rPr>
                        <a:t>3話 約100万〜</a:t>
                      </a:r>
                      <a:endParaRPr lang="en-US" sz="9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900" dirty="0">
                          <a:solidFill>
                            <a:srgbClr val="1F2430"/>
                          </a:solidFill>
                          <a:latin typeface="Meiryo" pitchFamily="34" charset="0"/>
                          <a:ea typeface="Meiryo" pitchFamily="34" charset="-122"/>
                          <a:cs typeface="Meiryo" pitchFamily="34" charset="-120"/>
                        </a:rPr>
                        <a:t>3話から。運用は別</a:t>
                      </a:r>
                      <a:endParaRPr lang="en-US" sz="9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r>
              <a:tr h="457200">
                <a:tc>
                  <a:txBody>
                    <a:bodyPr/>
                    <a:lstStyle/>
                    <a:p>
                      <a:pPr indent="0" marL="0">
                        <a:buNone/>
                      </a:pPr>
                      <a:r>
                        <a:rPr lang="en-US" sz="900" b="1" dirty="0">
                          <a:solidFill>
                            <a:srgbClr val="1F2430"/>
                          </a:solidFill>
                          <a:latin typeface="Meiryo" pitchFamily="34" charset="0"/>
                          <a:ea typeface="Meiryo" pitchFamily="34" charset="-122"/>
                          <a:cs typeface="Meiryo" pitchFamily="34" charset="-120"/>
                        </a:rPr>
                        <a:t>ムービーインパクト</a:t>
                      </a:r>
                      <a:endParaRPr lang="en-US" sz="9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c>
                  <a:txBody>
                    <a:bodyPr/>
                    <a:lstStyle/>
                    <a:p>
                      <a:pPr indent="0" marL="0">
                        <a:buNone/>
                      </a:pPr>
                      <a:r>
                        <a:rPr lang="en-US" sz="900" dirty="0">
                          <a:solidFill>
                            <a:srgbClr val="1F2430"/>
                          </a:solidFill>
                          <a:latin typeface="Meiryo" pitchFamily="34" charset="0"/>
                          <a:ea typeface="Meiryo" pitchFamily="34" charset="-122"/>
                          <a:cs typeface="Meiryo" pitchFamily="34" charset="-120"/>
                        </a:rPr>
                        <a:t>AI×実写</a:t>
                      </a:r>
                      <a:endParaRPr lang="en-US" sz="9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c>
                  <a:txBody>
                    <a:bodyPr/>
                    <a:lstStyle/>
                    <a:p>
                      <a:pPr indent="0" marL="0">
                        <a:buNone/>
                      </a:pPr>
                      <a:r>
                        <a:rPr lang="en-US" sz="900" dirty="0">
                          <a:solidFill>
                            <a:srgbClr val="1F2430"/>
                          </a:solidFill>
                          <a:latin typeface="Meiryo" pitchFamily="34" charset="0"/>
                          <a:ea typeface="Meiryo" pitchFamily="34" charset="-122"/>
                          <a:cs typeface="Meiryo" pitchFamily="34" charset="-120"/>
                        </a:rPr>
                        <a:t>料金公開、ハイブリッド訴求</a:t>
                      </a:r>
                      <a:endParaRPr lang="en-US" sz="9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c>
                  <a:txBody>
                    <a:bodyPr/>
                    <a:lstStyle/>
                    <a:p>
                      <a:pPr indent="0" marL="0">
                        <a:buNone/>
                      </a:pPr>
                      <a:r>
                        <a:rPr lang="en-US" sz="900" dirty="0">
                          <a:solidFill>
                            <a:srgbClr val="1F2430"/>
                          </a:solidFill>
                          <a:latin typeface="Meiryo" pitchFamily="34" charset="0"/>
                          <a:ea typeface="Meiryo" pitchFamily="34" charset="-122"/>
                          <a:cs typeface="Meiryo" pitchFamily="34" charset="-120"/>
                        </a:rPr>
                        <a:t>AI3〜10万、ハイブリッド30〜80万、AIドラマ広告60万〜</a:t>
                      </a:r>
                      <a:endParaRPr lang="en-US" sz="9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c>
                  <a:txBody>
                    <a:bodyPr/>
                    <a:lstStyle/>
                    <a:p>
                      <a:pPr indent="0" marL="0">
                        <a:buNone/>
                      </a:pPr>
                      <a:r>
                        <a:rPr lang="en-US" sz="900" dirty="0">
                          <a:solidFill>
                            <a:srgbClr val="1F2430"/>
                          </a:solidFill>
                          <a:latin typeface="Meiryo" pitchFamily="34" charset="0"/>
                          <a:ea typeface="Meiryo" pitchFamily="34" charset="-122"/>
                          <a:cs typeface="Meiryo" pitchFamily="34" charset="-120"/>
                        </a:rPr>
                        <a:t>広告寄り。連続ドラマ運用が弱い</a:t>
                      </a:r>
                      <a:endParaRPr lang="en-US" sz="9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r>
              <a:tr h="457200">
                <a:tc>
                  <a:txBody>
                    <a:bodyPr/>
                    <a:lstStyle/>
                    <a:p>
                      <a:pPr indent="0" marL="0">
                        <a:buNone/>
                      </a:pPr>
                      <a:r>
                        <a:rPr lang="en-US" sz="900" b="1" dirty="0">
                          <a:solidFill>
                            <a:srgbClr val="1F2430"/>
                          </a:solidFill>
                          <a:latin typeface="Meiryo" pitchFamily="34" charset="0"/>
                          <a:ea typeface="Meiryo" pitchFamily="34" charset="-122"/>
                          <a:cs typeface="Meiryo" pitchFamily="34" charset="-120"/>
                        </a:rPr>
                        <a:t>MintoStudio</a:t>
                      </a:r>
                      <a:endParaRPr lang="en-US" sz="9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900" dirty="0">
                          <a:solidFill>
                            <a:srgbClr val="1F2430"/>
                          </a:solidFill>
                          <a:latin typeface="Meiryo" pitchFamily="34" charset="0"/>
                          <a:ea typeface="Meiryo" pitchFamily="34" charset="-122"/>
                          <a:cs typeface="Meiryo" pitchFamily="34" charset="-120"/>
                        </a:rPr>
                        <a:t>大手スタジオ</a:t>
                      </a:r>
                      <a:endParaRPr lang="en-US" sz="9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900" dirty="0">
                          <a:solidFill>
                            <a:srgbClr val="1F2430"/>
                          </a:solidFill>
                          <a:latin typeface="Meiryo" pitchFamily="34" charset="0"/>
                          <a:ea typeface="Meiryo" pitchFamily="34" charset="-122"/>
                          <a:cs typeface="Meiryo" pitchFamily="34" charset="-120"/>
                        </a:rPr>
                        <a:t>生成AI参入、受賞歴</a:t>
                      </a:r>
                      <a:endParaRPr lang="en-US" sz="9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900" dirty="0">
                          <a:solidFill>
                            <a:srgbClr val="1F2430"/>
                          </a:solidFill>
                          <a:latin typeface="Meiryo" pitchFamily="34" charset="0"/>
                          <a:ea typeface="Meiryo" pitchFamily="34" charset="-122"/>
                          <a:cs typeface="Meiryo" pitchFamily="34" charset="-120"/>
                        </a:rPr>
                        <a:t>非公開</a:t>
                      </a:r>
                      <a:endParaRPr lang="en-US" sz="9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900" dirty="0">
                          <a:solidFill>
                            <a:srgbClr val="1F2430"/>
                          </a:solidFill>
                          <a:latin typeface="Meiryo" pitchFamily="34" charset="0"/>
                          <a:ea typeface="Meiryo" pitchFamily="34" charset="-122"/>
                          <a:cs typeface="Meiryo" pitchFamily="34" charset="-120"/>
                        </a:rPr>
                        <a:t>大手・IP案件中心</a:t>
                      </a:r>
                      <a:endParaRPr lang="en-US" sz="9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r>
              <a:tr h="457200">
                <a:tc>
                  <a:txBody>
                    <a:bodyPr/>
                    <a:lstStyle/>
                    <a:p>
                      <a:pPr indent="0" marL="0">
                        <a:buNone/>
                      </a:pPr>
                      <a:r>
                        <a:rPr lang="en-US" sz="900" b="1" dirty="0">
                          <a:solidFill>
                            <a:srgbClr val="1F2430"/>
                          </a:solidFill>
                          <a:latin typeface="Meiryo" pitchFamily="34" charset="0"/>
                          <a:ea typeface="Meiryo" pitchFamily="34" charset="-122"/>
                          <a:cs typeface="Meiryo" pitchFamily="34" charset="-120"/>
                        </a:rPr>
                        <a:t>量産型・フリーランス</a:t>
                      </a:r>
                      <a:endParaRPr lang="en-US" sz="9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c>
                  <a:txBody>
                    <a:bodyPr/>
                    <a:lstStyle/>
                    <a:p>
                      <a:pPr indent="0" marL="0">
                        <a:buNone/>
                      </a:pPr>
                      <a:r>
                        <a:rPr lang="en-US" sz="900" dirty="0">
                          <a:solidFill>
                            <a:srgbClr val="1F2430"/>
                          </a:solidFill>
                          <a:latin typeface="Meiryo" pitchFamily="34" charset="0"/>
                          <a:ea typeface="Meiryo" pitchFamily="34" charset="-122"/>
                          <a:cs typeface="Meiryo" pitchFamily="34" charset="-120"/>
                        </a:rPr>
                        <a:t>低価格</a:t>
                      </a:r>
                      <a:endParaRPr lang="en-US" sz="9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c>
                  <a:txBody>
                    <a:bodyPr/>
                    <a:lstStyle/>
                    <a:p>
                      <a:pPr indent="0" marL="0">
                        <a:buNone/>
                      </a:pPr>
                      <a:r>
                        <a:rPr lang="en-US" sz="900" dirty="0">
                          <a:solidFill>
                            <a:srgbClr val="1F2430"/>
                          </a:solidFill>
                          <a:latin typeface="Meiryo" pitchFamily="34" charset="0"/>
                          <a:ea typeface="Meiryo" pitchFamily="34" charset="-122"/>
                          <a:cs typeface="Meiryo" pitchFamily="34" charset="-120"/>
                        </a:rPr>
                        <a:t>初回5万、3〜10万</a:t>
                      </a:r>
                      <a:endParaRPr lang="en-US" sz="9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c>
                  <a:txBody>
                    <a:bodyPr/>
                    <a:lstStyle/>
                    <a:p>
                      <a:pPr indent="0" marL="0">
                        <a:buNone/>
                      </a:pPr>
                      <a:r>
                        <a:rPr lang="en-US" sz="900" dirty="0">
                          <a:solidFill>
                            <a:srgbClr val="1F2430"/>
                          </a:solidFill>
                          <a:latin typeface="Meiryo" pitchFamily="34" charset="0"/>
                          <a:ea typeface="Meiryo" pitchFamily="34" charset="-122"/>
                          <a:cs typeface="Meiryo" pitchFamily="34" charset="-120"/>
                        </a:rPr>
                        <a:t>5〜10万</a:t>
                      </a:r>
                      <a:endParaRPr lang="en-US" sz="9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c>
                  <a:txBody>
                    <a:bodyPr/>
                    <a:lstStyle/>
                    <a:p>
                      <a:pPr indent="0" marL="0">
                        <a:buNone/>
                      </a:pPr>
                      <a:r>
                        <a:rPr lang="en-US" sz="900" dirty="0">
                          <a:solidFill>
                            <a:srgbClr val="1F2430"/>
                          </a:solidFill>
                          <a:latin typeface="Meiryo" pitchFamily="34" charset="0"/>
                          <a:ea typeface="Meiryo" pitchFamily="34" charset="-122"/>
                          <a:cs typeface="Meiryo" pitchFamily="34" charset="-120"/>
                        </a:rPr>
                        <a:t>脚本・企画・運用の一貫性なし。品質不足と指摘される帯</a:t>
                      </a:r>
                      <a:endParaRPr lang="en-US" sz="9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228600"/>
          </a:xfrm>
          <a:prstGeom prst="rect">
            <a:avLst/>
          </a:prstGeom>
          <a:noFill/>
          <a:ln/>
        </p:spPr>
        <p:txBody>
          <a:bodyPr wrap="square" lIns="0" tIns="0" rIns="0" bIns="0" rtlCol="0" anchor="t"/>
          <a:lstStyle/>
          <a:p>
            <a:pPr indent="0" marL="0">
              <a:buNone/>
            </a:pPr>
            <a:r>
              <a:rPr lang="en-US" sz="1100" b="1" dirty="0">
                <a:solidFill>
                  <a:srgbClr val="E63946"/>
                </a:solidFill>
                <a:latin typeface="Meiryo" pitchFamily="34" charset="0"/>
                <a:ea typeface="Meiryo" pitchFamily="34" charset="-122"/>
                <a:cs typeface="Meiryo" pitchFamily="34" charset="-120"/>
              </a:rPr>
              <a:t>2. 競合分析</a:t>
            </a:r>
            <a:endParaRPr lang="en-US" sz="1100" dirty="0"/>
          </a:p>
        </p:txBody>
      </p:sp>
      <p:sp>
        <p:nvSpPr>
          <p:cNvPr id="3" name="Text 1"/>
          <p:cNvSpPr txBox="1"/>
          <p:nvPr/>
        </p:nvSpPr>
        <p:spPr>
          <a:xfrm>
            <a:off x="548640" y="548640"/>
            <a:ext cx="8046720" cy="548640"/>
          </a:xfrm>
          <a:prstGeom prst="rect">
            <a:avLst/>
          </a:prstGeom>
          <a:noFill/>
          <a:ln/>
        </p:spPr>
        <p:txBody>
          <a:bodyPr wrap="square" lIns="0" tIns="0" rIns="0" bIns="0" rtlCol="0" anchor="t"/>
          <a:lstStyle/>
          <a:p>
            <a:pPr indent="0" marL="0">
              <a:buNone/>
            </a:pPr>
            <a:r>
              <a:rPr lang="en-US" sz="2200" b="1" dirty="0">
                <a:solidFill>
                  <a:srgbClr val="111318"/>
                </a:solidFill>
                <a:latin typeface="Meiryo" pitchFamily="34" charset="0"/>
                <a:ea typeface="Meiryo" pitchFamily="34" charset="-122"/>
                <a:cs typeface="Meiryo" pitchFamily="34" charset="-120"/>
              </a:rPr>
              <a:t>失敗する4つの理由が、そのまま差別化の根拠になる</a:t>
            </a:r>
            <a:endParaRPr lang="en-US" sz="2200" dirty="0"/>
          </a:p>
        </p:txBody>
      </p:sp>
      <p:sp>
        <p:nvSpPr>
          <p:cNvPr id="4" name="Text 2"/>
          <p:cNvSpPr txBox="1"/>
          <p:nvPr/>
        </p:nvSpPr>
        <p:spPr>
          <a:xfrm>
            <a:off x="8229600" y="4754880"/>
            <a:ext cx="4572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pitchFamily="34" charset="0"/>
                <a:ea typeface="Meiryo" pitchFamily="34" charset="-122"/>
                <a:cs typeface="Meiryo" pitchFamily="34" charset="-120"/>
              </a:rPr>
              <a:t>08</a:t>
            </a:r>
            <a:endParaRPr lang="en-US" sz="900" dirty="0"/>
          </a:p>
        </p:txBody>
      </p:sp>
      <p:sp>
        <p:nvSpPr>
          <p:cNvPr id="5" name="Shape 3"/>
          <p:cNvSpPr/>
          <p:nvPr/>
        </p:nvSpPr>
        <p:spPr>
          <a:xfrm>
            <a:off x="548640" y="1280160"/>
            <a:ext cx="3749040" cy="3383280"/>
          </a:xfrm>
          <a:prstGeom prst="roundRect">
            <a:avLst>
              <a:gd name="adj" fmla="val 2162"/>
            </a:avLst>
          </a:prstGeom>
          <a:solidFill>
            <a:srgbClr val="F3F4F6"/>
          </a:solidFill>
          <a:ln w="12700">
            <a:solidFill>
              <a:srgbClr val="F3F4F6"/>
            </a:solidFill>
            <a:prstDash val="solid"/>
          </a:ln>
        </p:spPr>
      </p:sp>
      <p:sp>
        <p:nvSpPr>
          <p:cNvPr id="6" name="Text 4"/>
          <p:cNvSpPr txBox="1"/>
          <p:nvPr/>
        </p:nvSpPr>
        <p:spPr>
          <a:xfrm>
            <a:off x="777240" y="1463040"/>
            <a:ext cx="3291840" cy="274320"/>
          </a:xfrm>
          <a:prstGeom prst="rect">
            <a:avLst/>
          </a:prstGeom>
          <a:noFill/>
          <a:ln/>
        </p:spPr>
        <p:txBody>
          <a:bodyPr wrap="square" lIns="0" tIns="0" rIns="0" bIns="0" rtlCol="0" anchor="t"/>
          <a:lstStyle/>
          <a:p>
            <a:pPr indent="0" marL="0">
              <a:buNone/>
            </a:pPr>
            <a:r>
              <a:rPr lang="en-US" sz="1300" b="1" dirty="0">
                <a:solidFill>
                  <a:srgbClr val="111318"/>
                </a:solidFill>
                <a:latin typeface="Meiryo" pitchFamily="34" charset="0"/>
                <a:ea typeface="Meiryo" pitchFamily="34" charset="-122"/>
                <a:cs typeface="Meiryo" pitchFamily="34" charset="-120"/>
              </a:rPr>
              <a:t>業界記事に共通する失敗要因</a:t>
            </a:r>
            <a:endParaRPr lang="en-US" sz="1300" dirty="0"/>
          </a:p>
        </p:txBody>
      </p:sp>
      <p:sp>
        <p:nvSpPr>
          <p:cNvPr id="7" name="Shape 5"/>
          <p:cNvSpPr/>
          <p:nvPr/>
        </p:nvSpPr>
        <p:spPr>
          <a:xfrm>
            <a:off x="777240" y="1920240"/>
            <a:ext cx="365760" cy="365760"/>
          </a:xfrm>
          <a:prstGeom prst="ellipse">
            <a:avLst/>
          </a:prstGeom>
          <a:solidFill>
            <a:srgbClr val="6B7280"/>
          </a:solidFill>
          <a:ln w="12700">
            <a:solidFill>
              <a:srgbClr val="6B7280"/>
            </a:solidFill>
            <a:prstDash val="solid"/>
          </a:ln>
        </p:spPr>
      </p:sp>
      <p:sp>
        <p:nvSpPr>
          <p:cNvPr id="8" name="Text 6"/>
          <p:cNvSpPr txBox="1"/>
          <p:nvPr/>
        </p:nvSpPr>
        <p:spPr>
          <a:xfrm>
            <a:off x="777240" y="19202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1</a:t>
            </a:r>
            <a:endParaRPr lang="en-US" sz="1200" dirty="0"/>
          </a:p>
        </p:txBody>
      </p:sp>
      <p:sp>
        <p:nvSpPr>
          <p:cNvPr id="9" name="Text 7"/>
          <p:cNvSpPr txBox="1"/>
          <p:nvPr/>
        </p:nvSpPr>
        <p:spPr>
          <a:xfrm>
            <a:off x="1280160" y="1938528"/>
            <a:ext cx="2834640" cy="457200"/>
          </a:xfrm>
          <a:prstGeom prst="rect">
            <a:avLst/>
          </a:prstGeom>
          <a:noFill/>
          <a:ln/>
        </p:spPr>
        <p:txBody>
          <a:bodyPr wrap="square" lIns="0" tIns="0" rIns="0" bIns="0" rtlCol="0" anchor="ctr"/>
          <a:lstStyle/>
          <a:p>
            <a:pPr indent="0" marL="0">
              <a:buNone/>
            </a:pPr>
            <a:r>
              <a:rPr lang="en-US" sz="1050" dirty="0">
                <a:solidFill>
                  <a:srgbClr val="1F2430"/>
                </a:solidFill>
                <a:latin typeface="Meiryo" pitchFamily="34" charset="0"/>
                <a:ea typeface="Meiryo" pitchFamily="34" charset="-122"/>
                <a:cs typeface="Meiryo" pitchFamily="34" charset="-120"/>
              </a:rPr>
              <a:t>縦型フォーマットの理解不足（横型流用、テロップなし）</a:t>
            </a:r>
            <a:endParaRPr lang="en-US" sz="1050" dirty="0"/>
          </a:p>
        </p:txBody>
      </p:sp>
      <p:sp>
        <p:nvSpPr>
          <p:cNvPr id="10" name="Shape 8"/>
          <p:cNvSpPr/>
          <p:nvPr/>
        </p:nvSpPr>
        <p:spPr>
          <a:xfrm>
            <a:off x="777240" y="2560320"/>
            <a:ext cx="365760" cy="365760"/>
          </a:xfrm>
          <a:prstGeom prst="ellipse">
            <a:avLst/>
          </a:prstGeom>
          <a:solidFill>
            <a:srgbClr val="6B7280"/>
          </a:solidFill>
          <a:ln w="12700">
            <a:solidFill>
              <a:srgbClr val="6B7280"/>
            </a:solidFill>
            <a:prstDash val="solid"/>
          </a:ln>
        </p:spPr>
      </p:sp>
      <p:sp>
        <p:nvSpPr>
          <p:cNvPr id="11" name="Text 9"/>
          <p:cNvSpPr txBox="1"/>
          <p:nvPr/>
        </p:nvSpPr>
        <p:spPr>
          <a:xfrm>
            <a:off x="777240" y="25603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2</a:t>
            </a:r>
            <a:endParaRPr lang="en-US" sz="1200" dirty="0"/>
          </a:p>
        </p:txBody>
      </p:sp>
      <p:sp>
        <p:nvSpPr>
          <p:cNvPr id="12" name="Text 10"/>
          <p:cNvSpPr txBox="1"/>
          <p:nvPr/>
        </p:nvSpPr>
        <p:spPr>
          <a:xfrm>
            <a:off x="1280160" y="2578608"/>
            <a:ext cx="2834640" cy="457200"/>
          </a:xfrm>
          <a:prstGeom prst="rect">
            <a:avLst/>
          </a:prstGeom>
          <a:noFill/>
          <a:ln/>
        </p:spPr>
        <p:txBody>
          <a:bodyPr wrap="square" lIns="0" tIns="0" rIns="0" bIns="0" rtlCol="0" anchor="ctr"/>
          <a:lstStyle/>
          <a:p>
            <a:pPr indent="0" marL="0">
              <a:buNone/>
            </a:pPr>
            <a:r>
              <a:rPr lang="en-US" sz="1050" dirty="0">
                <a:solidFill>
                  <a:srgbClr val="1F2430"/>
                </a:solidFill>
                <a:latin typeface="Meiryo" pitchFamily="34" charset="0"/>
                <a:ea typeface="Meiryo" pitchFamily="34" charset="-122"/>
                <a:cs typeface="Meiryo" pitchFamily="34" charset="-120"/>
              </a:rPr>
              <a:t>単発で終わり、シリーズ化・継続投稿をしない</a:t>
            </a:r>
            <a:endParaRPr lang="en-US" sz="1050" dirty="0"/>
          </a:p>
        </p:txBody>
      </p:sp>
      <p:sp>
        <p:nvSpPr>
          <p:cNvPr id="13" name="Shape 11"/>
          <p:cNvSpPr/>
          <p:nvPr/>
        </p:nvSpPr>
        <p:spPr>
          <a:xfrm>
            <a:off x="777240" y="3200400"/>
            <a:ext cx="365760" cy="365760"/>
          </a:xfrm>
          <a:prstGeom prst="ellipse">
            <a:avLst/>
          </a:prstGeom>
          <a:solidFill>
            <a:srgbClr val="6B7280"/>
          </a:solidFill>
          <a:ln w="12700">
            <a:solidFill>
              <a:srgbClr val="6B7280"/>
            </a:solidFill>
            <a:prstDash val="solid"/>
          </a:ln>
        </p:spPr>
      </p:sp>
      <p:sp>
        <p:nvSpPr>
          <p:cNvPr id="14" name="Text 12"/>
          <p:cNvSpPr txBox="1"/>
          <p:nvPr/>
        </p:nvSpPr>
        <p:spPr>
          <a:xfrm>
            <a:off x="777240" y="32004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3</a:t>
            </a:r>
            <a:endParaRPr lang="en-US" sz="1200" dirty="0"/>
          </a:p>
        </p:txBody>
      </p:sp>
      <p:sp>
        <p:nvSpPr>
          <p:cNvPr id="15" name="Text 13"/>
          <p:cNvSpPr txBox="1"/>
          <p:nvPr/>
        </p:nvSpPr>
        <p:spPr>
          <a:xfrm>
            <a:off x="1280160" y="3218688"/>
            <a:ext cx="2834640" cy="457200"/>
          </a:xfrm>
          <a:prstGeom prst="rect">
            <a:avLst/>
          </a:prstGeom>
          <a:noFill/>
          <a:ln/>
        </p:spPr>
        <p:txBody>
          <a:bodyPr wrap="square" lIns="0" tIns="0" rIns="0" bIns="0" rtlCol="0" anchor="ctr"/>
          <a:lstStyle/>
          <a:p>
            <a:pPr indent="0" marL="0">
              <a:buNone/>
            </a:pPr>
            <a:r>
              <a:rPr lang="en-US" sz="1050" dirty="0">
                <a:solidFill>
                  <a:srgbClr val="1F2430"/>
                </a:solidFill>
                <a:latin typeface="Meiryo" pitchFamily="34" charset="0"/>
                <a:ea typeface="Meiryo" pitchFamily="34" charset="-122"/>
                <a:cs typeface="Meiryo" pitchFamily="34" charset="-120"/>
              </a:rPr>
              <a:t>ターゲット・配信・効果測定のない「作って終わり」</a:t>
            </a:r>
            <a:endParaRPr lang="en-US" sz="1050" dirty="0"/>
          </a:p>
        </p:txBody>
      </p:sp>
      <p:sp>
        <p:nvSpPr>
          <p:cNvPr id="16" name="Shape 14"/>
          <p:cNvSpPr/>
          <p:nvPr/>
        </p:nvSpPr>
        <p:spPr>
          <a:xfrm>
            <a:off x="777240" y="3840480"/>
            <a:ext cx="365760" cy="365760"/>
          </a:xfrm>
          <a:prstGeom prst="ellipse">
            <a:avLst/>
          </a:prstGeom>
          <a:solidFill>
            <a:srgbClr val="6B7280"/>
          </a:solidFill>
          <a:ln w="12700">
            <a:solidFill>
              <a:srgbClr val="6B7280"/>
            </a:solidFill>
            <a:prstDash val="solid"/>
          </a:ln>
        </p:spPr>
      </p:sp>
      <p:sp>
        <p:nvSpPr>
          <p:cNvPr id="17" name="Text 15"/>
          <p:cNvSpPr txBox="1"/>
          <p:nvPr/>
        </p:nvSpPr>
        <p:spPr>
          <a:xfrm>
            <a:off x="777240" y="384048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4</a:t>
            </a:r>
            <a:endParaRPr lang="en-US" sz="1200" dirty="0"/>
          </a:p>
        </p:txBody>
      </p:sp>
      <p:sp>
        <p:nvSpPr>
          <p:cNvPr id="18" name="Text 16"/>
          <p:cNvSpPr txBox="1"/>
          <p:nvPr/>
        </p:nvSpPr>
        <p:spPr>
          <a:xfrm>
            <a:off x="1280160" y="3858768"/>
            <a:ext cx="2834640" cy="457200"/>
          </a:xfrm>
          <a:prstGeom prst="rect">
            <a:avLst/>
          </a:prstGeom>
          <a:noFill/>
          <a:ln/>
        </p:spPr>
        <p:txBody>
          <a:bodyPr wrap="square" lIns="0" tIns="0" rIns="0" bIns="0" rtlCol="0" anchor="ctr"/>
          <a:lstStyle/>
          <a:p>
            <a:pPr indent="0" marL="0">
              <a:buNone/>
            </a:pPr>
            <a:r>
              <a:rPr lang="en-US" sz="1050" dirty="0">
                <a:solidFill>
                  <a:srgbClr val="1F2430"/>
                </a:solidFill>
                <a:latin typeface="Meiryo" pitchFamily="34" charset="0"/>
                <a:ea typeface="Meiryo" pitchFamily="34" charset="-122"/>
                <a:cs typeface="Meiryo" pitchFamily="34" charset="-120"/>
              </a:rPr>
              <a:t>低価格帯での品質不足</a:t>
            </a:r>
            <a:endParaRPr lang="en-US" sz="1050" dirty="0"/>
          </a:p>
        </p:txBody>
      </p:sp>
      <p:sp>
        <p:nvSpPr>
          <p:cNvPr id="19" name="Shape 17"/>
          <p:cNvSpPr/>
          <p:nvPr/>
        </p:nvSpPr>
        <p:spPr>
          <a:xfrm>
            <a:off x="4434840" y="2743200"/>
            <a:ext cx="457200" cy="457200"/>
          </a:xfrm>
          <a:prstGeom prst="rightArrow">
            <a:avLst/>
          </a:prstGeom>
          <a:solidFill>
            <a:srgbClr val="E63946"/>
          </a:solidFill>
          <a:ln w="12700">
            <a:solidFill>
              <a:srgbClr val="E63946"/>
            </a:solidFill>
            <a:prstDash val="solid"/>
          </a:ln>
        </p:spPr>
      </p:sp>
      <p:sp>
        <p:nvSpPr>
          <p:cNvPr id="20" name="Shape 18"/>
          <p:cNvSpPr/>
          <p:nvPr/>
        </p:nvSpPr>
        <p:spPr>
          <a:xfrm>
            <a:off x="5029200" y="1280160"/>
            <a:ext cx="3566160" cy="1005840"/>
          </a:xfrm>
          <a:prstGeom prst="roundRect">
            <a:avLst>
              <a:gd name="adj" fmla="val 7273"/>
            </a:avLst>
          </a:prstGeom>
          <a:solidFill>
            <a:srgbClr val="111318"/>
          </a:solidFill>
          <a:ln w="12700">
            <a:solidFill>
              <a:srgbClr val="111318"/>
            </a:solidFill>
            <a:prstDash val="solid"/>
          </a:ln>
        </p:spPr>
      </p:sp>
      <p:sp>
        <p:nvSpPr>
          <p:cNvPr id="21" name="Shape 19"/>
          <p:cNvSpPr/>
          <p:nvPr/>
        </p:nvSpPr>
        <p:spPr>
          <a:xfrm>
            <a:off x="5212080" y="1554480"/>
            <a:ext cx="457200" cy="457200"/>
          </a:xfrm>
          <a:prstGeom prst="ellipse">
            <a:avLst/>
          </a:prstGeom>
          <a:solidFill>
            <a:srgbClr val="E63946"/>
          </a:solidFill>
          <a:ln w="12700">
            <a:solidFill>
              <a:srgbClr val="E63946"/>
            </a:solidFill>
            <a:prstDash val="solid"/>
          </a:ln>
        </p:spPr>
      </p:sp>
      <p:pic>
        <p:nvPicPr>
          <p:cNvPr id="22" name="Image 0" descr="preencoded.png">    </p:cNvPr>
          <p:cNvPicPr>
            <a:picLocks noChangeAspect="1"/>
          </p:cNvPicPr>
          <p:nvPr/>
        </p:nvPicPr>
        <p:blipFill>
          <a:blip r:embed="rId1"/>
          <a:stretch>
            <a:fillRect/>
          </a:stretch>
        </p:blipFill>
        <p:spPr>
          <a:xfrm>
            <a:off x="5326380" y="1668780"/>
            <a:ext cx="228600" cy="228600"/>
          </a:xfrm>
          <a:prstGeom prst="rect">
            <a:avLst/>
          </a:prstGeom>
        </p:spPr>
      </p:pic>
      <p:sp>
        <p:nvSpPr>
          <p:cNvPr id="23" name="Text 20"/>
          <p:cNvSpPr txBox="1"/>
          <p:nvPr/>
        </p:nvSpPr>
        <p:spPr>
          <a:xfrm>
            <a:off x="5806440" y="1444752"/>
            <a:ext cx="2651760" cy="274320"/>
          </a:xfrm>
          <a:prstGeom prst="rect">
            <a:avLst/>
          </a:prstGeom>
          <a:noFill/>
          <a:ln/>
        </p:spPr>
        <p:txBody>
          <a:bodyPr wrap="square" lIns="0" tIns="0" rIns="0" bIns="0" rtlCol="0" anchor="t"/>
          <a:lstStyle/>
          <a:p>
            <a:pPr indent="0" marL="0">
              <a:buNone/>
            </a:pPr>
            <a:r>
              <a:rPr lang="en-US" sz="1250" b="1" dirty="0">
                <a:solidFill>
                  <a:srgbClr val="FFFFFF"/>
                </a:solidFill>
                <a:latin typeface="Meiryo" pitchFamily="34" charset="0"/>
                <a:ea typeface="Meiryo" pitchFamily="34" charset="-122"/>
                <a:cs typeface="Meiryo" pitchFamily="34" charset="-120"/>
              </a:rPr>
              <a:t>型化された脚本</a:t>
            </a:r>
            <a:endParaRPr lang="en-US" sz="1250" dirty="0"/>
          </a:p>
        </p:txBody>
      </p:sp>
      <p:sp>
        <p:nvSpPr>
          <p:cNvPr id="24" name="Text 21"/>
          <p:cNvSpPr txBox="1"/>
          <p:nvPr/>
        </p:nvSpPr>
        <p:spPr>
          <a:xfrm>
            <a:off x="5806440" y="1755648"/>
            <a:ext cx="2697480" cy="457200"/>
          </a:xfrm>
          <a:prstGeom prst="rect">
            <a:avLst/>
          </a:prstGeom>
          <a:noFill/>
          <a:ln/>
        </p:spPr>
        <p:txBody>
          <a:bodyPr wrap="square" lIns="0" tIns="0" rIns="0" bIns="0" rtlCol="0" anchor="t"/>
          <a:lstStyle/>
          <a:p>
            <a:pPr indent="0" marL="0">
              <a:buNone/>
            </a:pPr>
            <a:r>
              <a:rPr lang="en-US" sz="950" dirty="0">
                <a:solidFill>
                  <a:srgbClr val="C9CED8"/>
                </a:solidFill>
                <a:latin typeface="Meiryo" pitchFamily="34" charset="0"/>
                <a:ea typeface="Meiryo" pitchFamily="34" charset="-122"/>
                <a:cs typeface="Meiryo" pitchFamily="34" charset="-120"/>
              </a:rPr>
              <a:t>3秒フック、登場人物3人まで、60〜90秒、CTA設計</a:t>
            </a:r>
            <a:endParaRPr lang="en-US" sz="950" dirty="0"/>
          </a:p>
        </p:txBody>
      </p:sp>
      <p:sp>
        <p:nvSpPr>
          <p:cNvPr id="25" name="Shape 22"/>
          <p:cNvSpPr/>
          <p:nvPr/>
        </p:nvSpPr>
        <p:spPr>
          <a:xfrm>
            <a:off x="5029200" y="2423160"/>
            <a:ext cx="3566160" cy="1005840"/>
          </a:xfrm>
          <a:prstGeom prst="roundRect">
            <a:avLst>
              <a:gd name="adj" fmla="val 7273"/>
            </a:avLst>
          </a:prstGeom>
          <a:solidFill>
            <a:srgbClr val="111318"/>
          </a:solidFill>
          <a:ln w="12700">
            <a:solidFill>
              <a:srgbClr val="111318"/>
            </a:solidFill>
            <a:prstDash val="solid"/>
          </a:ln>
        </p:spPr>
      </p:sp>
      <p:sp>
        <p:nvSpPr>
          <p:cNvPr id="26" name="Shape 23"/>
          <p:cNvSpPr/>
          <p:nvPr/>
        </p:nvSpPr>
        <p:spPr>
          <a:xfrm>
            <a:off x="5212080" y="2697480"/>
            <a:ext cx="457200" cy="457200"/>
          </a:xfrm>
          <a:prstGeom prst="ellipse">
            <a:avLst/>
          </a:prstGeom>
          <a:solidFill>
            <a:srgbClr val="E63946"/>
          </a:solidFill>
          <a:ln w="12700">
            <a:solidFill>
              <a:srgbClr val="E63946"/>
            </a:solidFill>
            <a:prstDash val="solid"/>
          </a:ln>
        </p:spPr>
      </p:sp>
      <p:pic>
        <p:nvPicPr>
          <p:cNvPr id="27" name="Image 1" descr="preencoded.png">    </p:cNvPr>
          <p:cNvPicPr>
            <a:picLocks noChangeAspect="1"/>
          </p:cNvPicPr>
          <p:nvPr/>
        </p:nvPicPr>
        <p:blipFill>
          <a:blip r:embed="rId2"/>
          <a:stretch>
            <a:fillRect/>
          </a:stretch>
        </p:blipFill>
        <p:spPr>
          <a:xfrm>
            <a:off x="5326380" y="2811780"/>
            <a:ext cx="228600" cy="228600"/>
          </a:xfrm>
          <a:prstGeom prst="rect">
            <a:avLst/>
          </a:prstGeom>
        </p:spPr>
      </p:pic>
      <p:sp>
        <p:nvSpPr>
          <p:cNvPr id="28" name="Text 24"/>
          <p:cNvSpPr txBox="1"/>
          <p:nvPr/>
        </p:nvSpPr>
        <p:spPr>
          <a:xfrm>
            <a:off x="5806440" y="2587752"/>
            <a:ext cx="2651760" cy="274320"/>
          </a:xfrm>
          <a:prstGeom prst="rect">
            <a:avLst/>
          </a:prstGeom>
          <a:noFill/>
          <a:ln/>
        </p:spPr>
        <p:txBody>
          <a:bodyPr wrap="square" lIns="0" tIns="0" rIns="0" bIns="0" rtlCol="0" anchor="t"/>
          <a:lstStyle/>
          <a:p>
            <a:pPr indent="0" marL="0">
              <a:buNone/>
            </a:pPr>
            <a:r>
              <a:rPr lang="en-US" sz="1250" b="1" dirty="0">
                <a:solidFill>
                  <a:srgbClr val="FFFFFF"/>
                </a:solidFill>
                <a:latin typeface="Meiryo" pitchFamily="34" charset="0"/>
                <a:ea typeface="Meiryo" pitchFamily="34" charset="-122"/>
                <a:cs typeface="Meiryo" pitchFamily="34" charset="-120"/>
              </a:rPr>
              <a:t>シリーズ前提の設計</a:t>
            </a:r>
            <a:endParaRPr lang="en-US" sz="1250" dirty="0"/>
          </a:p>
        </p:txBody>
      </p:sp>
      <p:sp>
        <p:nvSpPr>
          <p:cNvPr id="29" name="Text 25"/>
          <p:cNvSpPr txBox="1"/>
          <p:nvPr/>
        </p:nvSpPr>
        <p:spPr>
          <a:xfrm>
            <a:off x="5806440" y="2898648"/>
            <a:ext cx="2697480" cy="457200"/>
          </a:xfrm>
          <a:prstGeom prst="rect">
            <a:avLst/>
          </a:prstGeom>
          <a:noFill/>
          <a:ln/>
        </p:spPr>
        <p:txBody>
          <a:bodyPr wrap="square" lIns="0" tIns="0" rIns="0" bIns="0" rtlCol="0" anchor="t"/>
          <a:lstStyle/>
          <a:p>
            <a:pPr indent="0" marL="0">
              <a:buNone/>
            </a:pPr>
            <a:r>
              <a:rPr lang="en-US" sz="950" dirty="0">
                <a:solidFill>
                  <a:srgbClr val="C9CED8"/>
                </a:solidFill>
                <a:latin typeface="Meiryo" pitchFamily="34" charset="0"/>
                <a:ea typeface="Meiryo" pitchFamily="34" charset="-122"/>
                <a:cs typeface="Meiryo" pitchFamily="34" charset="-120"/>
              </a:rPr>
              <a:t>キャラクターと世界観を先に固め、話数で売る</a:t>
            </a:r>
            <a:endParaRPr lang="en-US" sz="950" dirty="0"/>
          </a:p>
        </p:txBody>
      </p:sp>
      <p:sp>
        <p:nvSpPr>
          <p:cNvPr id="30" name="Shape 26"/>
          <p:cNvSpPr/>
          <p:nvPr/>
        </p:nvSpPr>
        <p:spPr>
          <a:xfrm>
            <a:off x="5029200" y="3566160"/>
            <a:ext cx="3566160" cy="1005840"/>
          </a:xfrm>
          <a:prstGeom prst="roundRect">
            <a:avLst>
              <a:gd name="adj" fmla="val 7273"/>
            </a:avLst>
          </a:prstGeom>
          <a:solidFill>
            <a:srgbClr val="111318"/>
          </a:solidFill>
          <a:ln w="12700">
            <a:solidFill>
              <a:srgbClr val="111318"/>
            </a:solidFill>
            <a:prstDash val="solid"/>
          </a:ln>
        </p:spPr>
      </p:sp>
      <p:sp>
        <p:nvSpPr>
          <p:cNvPr id="31" name="Shape 27"/>
          <p:cNvSpPr/>
          <p:nvPr/>
        </p:nvSpPr>
        <p:spPr>
          <a:xfrm>
            <a:off x="5212080" y="3840480"/>
            <a:ext cx="457200" cy="457200"/>
          </a:xfrm>
          <a:prstGeom prst="ellipse">
            <a:avLst/>
          </a:prstGeom>
          <a:solidFill>
            <a:srgbClr val="E63946"/>
          </a:solidFill>
          <a:ln w="12700">
            <a:solidFill>
              <a:srgbClr val="E63946"/>
            </a:solidFill>
            <a:prstDash val="solid"/>
          </a:ln>
        </p:spPr>
      </p:sp>
      <p:pic>
        <p:nvPicPr>
          <p:cNvPr id="32" name="Image 2" descr="preencoded.png">    </p:cNvPr>
          <p:cNvPicPr>
            <a:picLocks noChangeAspect="1"/>
          </p:cNvPicPr>
          <p:nvPr/>
        </p:nvPicPr>
        <p:blipFill>
          <a:blip r:embed="rId3"/>
          <a:stretch>
            <a:fillRect/>
          </a:stretch>
        </p:blipFill>
        <p:spPr>
          <a:xfrm>
            <a:off x="5326380" y="3954780"/>
            <a:ext cx="228600" cy="228600"/>
          </a:xfrm>
          <a:prstGeom prst="rect">
            <a:avLst/>
          </a:prstGeom>
        </p:spPr>
      </p:pic>
      <p:sp>
        <p:nvSpPr>
          <p:cNvPr id="33" name="Text 28"/>
          <p:cNvSpPr txBox="1"/>
          <p:nvPr/>
        </p:nvSpPr>
        <p:spPr>
          <a:xfrm>
            <a:off x="5806440" y="3730752"/>
            <a:ext cx="2651760" cy="274320"/>
          </a:xfrm>
          <a:prstGeom prst="rect">
            <a:avLst/>
          </a:prstGeom>
          <a:noFill/>
          <a:ln/>
        </p:spPr>
        <p:txBody>
          <a:bodyPr wrap="square" lIns="0" tIns="0" rIns="0" bIns="0" rtlCol="0" anchor="t"/>
          <a:lstStyle/>
          <a:p>
            <a:pPr indent="0" marL="0">
              <a:buNone/>
            </a:pPr>
            <a:r>
              <a:rPr lang="en-US" sz="1250" b="1" dirty="0">
                <a:solidFill>
                  <a:srgbClr val="FFFFFF"/>
                </a:solidFill>
                <a:latin typeface="Meiryo" pitchFamily="34" charset="0"/>
                <a:ea typeface="Meiryo" pitchFamily="34" charset="-122"/>
                <a:cs typeface="Meiryo" pitchFamily="34" charset="-120"/>
              </a:rPr>
              <a:t>運用込み</a:t>
            </a:r>
            <a:endParaRPr lang="en-US" sz="1250" dirty="0"/>
          </a:p>
        </p:txBody>
      </p:sp>
      <p:sp>
        <p:nvSpPr>
          <p:cNvPr id="34" name="Text 29"/>
          <p:cNvSpPr txBox="1"/>
          <p:nvPr/>
        </p:nvSpPr>
        <p:spPr>
          <a:xfrm>
            <a:off x="5806440" y="4041648"/>
            <a:ext cx="2697480" cy="457200"/>
          </a:xfrm>
          <a:prstGeom prst="rect">
            <a:avLst/>
          </a:prstGeom>
          <a:noFill/>
          <a:ln/>
        </p:spPr>
        <p:txBody>
          <a:bodyPr wrap="square" lIns="0" tIns="0" rIns="0" bIns="0" rtlCol="0" anchor="t"/>
          <a:lstStyle/>
          <a:p>
            <a:pPr indent="0" marL="0">
              <a:buNone/>
            </a:pPr>
            <a:r>
              <a:rPr lang="en-US" sz="950" dirty="0">
                <a:solidFill>
                  <a:srgbClr val="C9CED8"/>
                </a:solidFill>
                <a:latin typeface="Meiryo" pitchFamily="34" charset="0"/>
                <a:ea typeface="Meiryo" pitchFamily="34" charset="-122"/>
                <a:cs typeface="Meiryo" pitchFamily="34" charset="-120"/>
              </a:rPr>
              <a:t>投稿・分析・フックABテストまで含める</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318"/>
        </a:solidFill>
      </p:bgPr>
    </p:bg>
    <p:spTree>
      <p:nvGrpSpPr>
        <p:cNvPr id="1" name=""/>
        <p:cNvGrpSpPr/>
        <p:nvPr/>
      </p:nvGrpSpPr>
      <p:grpSpPr>
        <a:xfrm>
          <a:off x="0" y="0"/>
          <a:ext cx="0" cy="0"/>
          <a:chOff x="0" y="0"/>
          <a:chExt cx="0" cy="0"/>
        </a:xfrm>
      </p:grpSpPr>
      <p:sp>
        <p:nvSpPr>
          <p:cNvPr id="2" name="Text 0"/>
          <p:cNvSpPr txBox="1"/>
          <p:nvPr/>
        </p:nvSpPr>
        <p:spPr>
          <a:xfrm>
            <a:off x="548640" y="457200"/>
            <a:ext cx="8046720" cy="274320"/>
          </a:xfrm>
          <a:prstGeom prst="rect">
            <a:avLst/>
          </a:prstGeom>
          <a:noFill/>
          <a:ln/>
        </p:spPr>
        <p:txBody>
          <a:bodyPr wrap="square" lIns="0" tIns="0" rIns="0" bIns="0" rtlCol="0" anchor="t"/>
          <a:lstStyle/>
          <a:p>
            <a:pPr indent="0" marL="0">
              <a:buNone/>
            </a:pPr>
            <a:r>
              <a:rPr lang="en-US" sz="1200" b="1" dirty="0">
                <a:solidFill>
                  <a:srgbClr val="D9A441"/>
                </a:solidFill>
                <a:latin typeface="Meiryo" pitchFamily="34" charset="0"/>
                <a:ea typeface="Meiryo" pitchFamily="34" charset="-122"/>
                <a:cs typeface="Meiryo" pitchFamily="34" charset="-120"/>
              </a:rPr>
              <a:t>ポジショニング</a:t>
            </a:r>
            <a:endParaRPr lang="en-US" sz="1200" dirty="0"/>
          </a:p>
        </p:txBody>
      </p:sp>
      <p:sp>
        <p:nvSpPr>
          <p:cNvPr id="3" name="Text 1"/>
          <p:cNvSpPr txBox="1"/>
          <p:nvPr/>
        </p:nvSpPr>
        <p:spPr>
          <a:xfrm>
            <a:off x="548640" y="822960"/>
            <a:ext cx="8046720" cy="1280160"/>
          </a:xfrm>
          <a:prstGeom prst="rect">
            <a:avLst/>
          </a:prstGeom>
          <a:noFill/>
          <a:ln/>
        </p:spPr>
        <p:txBody>
          <a:bodyPr wrap="square" lIns="0" tIns="0" rIns="0" bIns="0" rtlCol="0" anchor="t"/>
          <a:lstStyle/>
          <a:p>
            <a:pPr indent="0" marL="0">
              <a:buNone/>
            </a:pPr>
            <a:r>
              <a:rPr lang="en-US" sz="3000" b="1" dirty="0">
                <a:solidFill>
                  <a:srgbClr val="FFFFFF"/>
                </a:solidFill>
                <a:latin typeface="Meiryo" pitchFamily="34" charset="0"/>
                <a:ea typeface="Meiryo" pitchFamily="34" charset="-122"/>
                <a:cs typeface="Meiryo" pitchFamily="34" charset="-120"/>
              </a:rPr>
              <a:t>中小企業のための、</a:t>
            </a:r>
            <a:endParaRPr lang="en-US" sz="3000" dirty="0"/>
          </a:p>
          <a:p>
            <a:pPr indent="0" marL="0">
              <a:buNone/>
            </a:pPr>
            <a:r>
              <a:rPr lang="en-US" sz="3000" b="1" dirty="0">
                <a:solidFill>
                  <a:srgbClr val="FFFFFF"/>
                </a:solidFill>
                <a:latin typeface="Meiryo" pitchFamily="34" charset="0"/>
                <a:ea typeface="Meiryo" pitchFamily="34" charset="-122"/>
                <a:cs typeface="Meiryo" pitchFamily="34" charset="-120"/>
              </a:rPr>
              <a:t>シリーズ前提ショートドラマ工房</a:t>
            </a:r>
            <a:endParaRPr lang="en-US" sz="3000" dirty="0"/>
          </a:p>
        </p:txBody>
      </p:sp>
      <p:sp>
        <p:nvSpPr>
          <p:cNvPr id="4" name="Text 2"/>
          <p:cNvSpPr txBox="1"/>
          <p:nvPr/>
        </p:nvSpPr>
        <p:spPr>
          <a:xfrm>
            <a:off x="548640" y="2148840"/>
            <a:ext cx="8046720" cy="457200"/>
          </a:xfrm>
          <a:prstGeom prst="rect">
            <a:avLst/>
          </a:prstGeom>
          <a:noFill/>
          <a:ln/>
        </p:spPr>
        <p:txBody>
          <a:bodyPr wrap="square" lIns="0" tIns="0" rIns="0" bIns="0" rtlCol="0" anchor="t"/>
          <a:lstStyle/>
          <a:p>
            <a:pPr indent="0" marL="0">
              <a:buNone/>
            </a:pPr>
            <a:r>
              <a:rPr lang="en-US" sz="1300" dirty="0">
                <a:solidFill>
                  <a:srgbClr val="C9CED8"/>
                </a:solidFill>
                <a:latin typeface="Meiryo" pitchFamily="34" charset="0"/>
                <a:ea typeface="Meiryo" pitchFamily="34" charset="-122"/>
                <a:cs typeface="Meiryo" pitchFamily="34" charset="-120"/>
              </a:rPr>
              <a:t>大手レーベルには小さすぎ、量産屋には物足りない案件を、AI×実写の2軸で月額運用まで請け負う。</a:t>
            </a:r>
            <a:endParaRPr lang="en-US" sz="1300" dirty="0"/>
          </a:p>
        </p:txBody>
      </p:sp>
      <p:sp>
        <p:nvSpPr>
          <p:cNvPr id="5" name="Shape 3"/>
          <p:cNvSpPr/>
          <p:nvPr/>
        </p:nvSpPr>
        <p:spPr>
          <a:xfrm>
            <a:off x="548640" y="2788920"/>
            <a:ext cx="3931920" cy="1874520"/>
          </a:xfrm>
          <a:prstGeom prst="roundRect">
            <a:avLst>
              <a:gd name="adj" fmla="val 3902"/>
            </a:avLst>
          </a:prstGeom>
          <a:solidFill>
            <a:srgbClr val="1C1F26"/>
          </a:solidFill>
          <a:ln w="12700">
            <a:solidFill>
              <a:srgbClr val="2A2E38"/>
            </a:solidFill>
            <a:prstDash val="solid"/>
          </a:ln>
        </p:spPr>
      </p:sp>
      <p:sp>
        <p:nvSpPr>
          <p:cNvPr id="6" name="Shape 4"/>
          <p:cNvSpPr/>
          <p:nvPr/>
        </p:nvSpPr>
        <p:spPr>
          <a:xfrm>
            <a:off x="777240" y="3017520"/>
            <a:ext cx="502920" cy="502920"/>
          </a:xfrm>
          <a:prstGeom prst="ellipse">
            <a:avLst/>
          </a:prstGeom>
          <a:solidFill>
            <a:srgbClr val="1D3557"/>
          </a:solidFill>
          <a:ln w="12700">
            <a:solidFill>
              <a:srgbClr val="1D3557"/>
            </a:solidFill>
            <a:prstDash val="solid"/>
          </a:ln>
        </p:spPr>
      </p:sp>
      <p:pic>
        <p:nvPicPr>
          <p:cNvPr id="7" name="Image 0" descr="preencoded.png">    </p:cNvPr>
          <p:cNvPicPr>
            <a:picLocks noChangeAspect="1"/>
          </p:cNvPicPr>
          <p:nvPr/>
        </p:nvPicPr>
        <p:blipFill>
          <a:blip r:embed="rId1"/>
          <a:stretch>
            <a:fillRect/>
          </a:stretch>
        </p:blipFill>
        <p:spPr>
          <a:xfrm>
            <a:off x="902970" y="3143250"/>
            <a:ext cx="251460" cy="251460"/>
          </a:xfrm>
          <a:prstGeom prst="rect">
            <a:avLst/>
          </a:prstGeom>
        </p:spPr>
      </p:pic>
      <p:sp>
        <p:nvSpPr>
          <p:cNvPr id="8" name="Text 5"/>
          <p:cNvSpPr txBox="1"/>
          <p:nvPr/>
        </p:nvSpPr>
        <p:spPr>
          <a:xfrm>
            <a:off x="1417320" y="3017520"/>
            <a:ext cx="1828800" cy="320040"/>
          </a:xfrm>
          <a:prstGeom prst="rect">
            <a:avLst/>
          </a:prstGeom>
          <a:noFill/>
          <a:ln/>
        </p:spPr>
        <p:txBody>
          <a:bodyPr wrap="square" lIns="0" tIns="0" rIns="0" bIns="0" rtlCol="0" anchor="t"/>
          <a:lstStyle/>
          <a:p>
            <a:pPr indent="0" marL="0">
              <a:buNone/>
            </a:pPr>
            <a:r>
              <a:rPr lang="en-US" sz="1600" b="1" dirty="0">
                <a:solidFill>
                  <a:srgbClr val="FFFFFF"/>
                </a:solidFill>
                <a:latin typeface="Meiryo" pitchFamily="34" charset="0"/>
                <a:ea typeface="Meiryo" pitchFamily="34" charset="-122"/>
                <a:cs typeface="Meiryo" pitchFamily="34" charset="-120"/>
              </a:rPr>
              <a:t>AIドラマ</a:t>
            </a:r>
            <a:endParaRPr lang="en-US" sz="1600" dirty="0"/>
          </a:p>
        </p:txBody>
      </p:sp>
      <p:sp>
        <p:nvSpPr>
          <p:cNvPr id="9" name="Text 6"/>
          <p:cNvSpPr txBox="1"/>
          <p:nvPr/>
        </p:nvSpPr>
        <p:spPr>
          <a:xfrm>
            <a:off x="2926080" y="3044952"/>
            <a:ext cx="1371600" cy="320040"/>
          </a:xfrm>
          <a:prstGeom prst="rect">
            <a:avLst/>
          </a:prstGeom>
          <a:noFill/>
          <a:ln/>
        </p:spPr>
        <p:txBody>
          <a:bodyPr wrap="square" lIns="0" tIns="0" rIns="0" bIns="0" rtlCol="0" anchor="t"/>
          <a:lstStyle/>
          <a:p>
            <a:pPr algn="r" indent="0" marL="0">
              <a:buNone/>
            </a:pPr>
            <a:r>
              <a:rPr lang="en-US" sz="1400" b="1" dirty="0">
                <a:solidFill>
                  <a:srgbClr val="D9A441"/>
                </a:solidFill>
                <a:latin typeface="Meiryo" pitchFamily="34" charset="0"/>
                <a:ea typeface="Meiryo" pitchFamily="34" charset="-122"/>
                <a:cs typeface="Meiryo" pitchFamily="34" charset="-120"/>
              </a:rPr>
              <a:t>1話10万円</a:t>
            </a:r>
            <a:endParaRPr lang="en-US" sz="1400" dirty="0"/>
          </a:p>
        </p:txBody>
      </p:sp>
      <p:sp>
        <p:nvSpPr>
          <p:cNvPr id="10" name="Text 7"/>
          <p:cNvSpPr txBox="1"/>
          <p:nvPr/>
        </p:nvSpPr>
        <p:spPr>
          <a:xfrm>
            <a:off x="777240" y="3703320"/>
            <a:ext cx="3520440" cy="822960"/>
          </a:xfrm>
          <a:prstGeom prst="rect">
            <a:avLst/>
          </a:prstGeom>
          <a:noFill/>
          <a:ln/>
        </p:spPr>
        <p:txBody>
          <a:bodyPr wrap="square" lIns="0" tIns="0" rIns="0" bIns="0" rtlCol="0" anchor="t"/>
          <a:lstStyle/>
          <a:p>
            <a:pPr indent="0" marL="0">
              <a:buNone/>
            </a:pPr>
            <a:r>
              <a:rPr lang="en-US" sz="1050" dirty="0">
                <a:solidFill>
                  <a:srgbClr val="C9CED8"/>
                </a:solidFill>
                <a:latin typeface="Meiryo" pitchFamily="34" charset="0"/>
                <a:ea typeface="Meiryo" pitchFamily="34" charset="-122"/>
                <a:cs typeface="Meiryo" pitchFamily="34" charset="-120"/>
              </a:rPr>
              <a:t>士業・BtoB・多言語・毎日投稿・顔出しNG。生成ではなく脚本・キャラ設計・権利対応に価値を置く</a:t>
            </a:r>
            <a:endParaRPr lang="en-US" sz="1050" dirty="0"/>
          </a:p>
        </p:txBody>
      </p:sp>
      <p:sp>
        <p:nvSpPr>
          <p:cNvPr id="11" name="Shape 8"/>
          <p:cNvSpPr/>
          <p:nvPr/>
        </p:nvSpPr>
        <p:spPr>
          <a:xfrm>
            <a:off x="4663440" y="2788920"/>
            <a:ext cx="3931920" cy="1874520"/>
          </a:xfrm>
          <a:prstGeom prst="roundRect">
            <a:avLst>
              <a:gd name="adj" fmla="val 3902"/>
            </a:avLst>
          </a:prstGeom>
          <a:solidFill>
            <a:srgbClr val="1C1F26"/>
          </a:solidFill>
          <a:ln w="12700">
            <a:solidFill>
              <a:srgbClr val="2A2E38"/>
            </a:solidFill>
            <a:prstDash val="solid"/>
          </a:ln>
        </p:spPr>
      </p:sp>
      <p:sp>
        <p:nvSpPr>
          <p:cNvPr id="12" name="Shape 9"/>
          <p:cNvSpPr/>
          <p:nvPr/>
        </p:nvSpPr>
        <p:spPr>
          <a:xfrm>
            <a:off x="4892040" y="3017520"/>
            <a:ext cx="502920" cy="502920"/>
          </a:xfrm>
          <a:prstGeom prst="ellipse">
            <a:avLst/>
          </a:prstGeom>
          <a:solidFill>
            <a:srgbClr val="E63946"/>
          </a:solidFill>
          <a:ln w="12700">
            <a:solidFill>
              <a:srgbClr val="E63946"/>
            </a:solidFill>
            <a:prstDash val="solid"/>
          </a:ln>
        </p:spPr>
      </p:sp>
      <p:pic>
        <p:nvPicPr>
          <p:cNvPr id="13" name="Image 1" descr="preencoded.png">    </p:cNvPr>
          <p:cNvPicPr>
            <a:picLocks noChangeAspect="1"/>
          </p:cNvPicPr>
          <p:nvPr/>
        </p:nvPicPr>
        <p:blipFill>
          <a:blip r:embed="rId2"/>
          <a:stretch>
            <a:fillRect/>
          </a:stretch>
        </p:blipFill>
        <p:spPr>
          <a:xfrm>
            <a:off x="5017770" y="3143250"/>
            <a:ext cx="251460" cy="251460"/>
          </a:xfrm>
          <a:prstGeom prst="rect">
            <a:avLst/>
          </a:prstGeom>
        </p:spPr>
      </p:pic>
      <p:sp>
        <p:nvSpPr>
          <p:cNvPr id="14" name="Text 10"/>
          <p:cNvSpPr txBox="1"/>
          <p:nvPr/>
        </p:nvSpPr>
        <p:spPr>
          <a:xfrm>
            <a:off x="5532120" y="3017520"/>
            <a:ext cx="1828800" cy="320040"/>
          </a:xfrm>
          <a:prstGeom prst="rect">
            <a:avLst/>
          </a:prstGeom>
          <a:noFill/>
          <a:ln/>
        </p:spPr>
        <p:txBody>
          <a:bodyPr wrap="square" lIns="0" tIns="0" rIns="0" bIns="0" rtlCol="0" anchor="t"/>
          <a:lstStyle/>
          <a:p>
            <a:pPr indent="0" marL="0">
              <a:buNone/>
            </a:pPr>
            <a:r>
              <a:rPr lang="en-US" sz="1600" b="1" dirty="0">
                <a:solidFill>
                  <a:srgbClr val="FFFFFF"/>
                </a:solidFill>
                <a:latin typeface="Meiryo" pitchFamily="34" charset="0"/>
                <a:ea typeface="Meiryo" pitchFamily="34" charset="-122"/>
                <a:cs typeface="Meiryo" pitchFamily="34" charset="-120"/>
              </a:rPr>
              <a:t>実写ドラマ</a:t>
            </a:r>
            <a:endParaRPr lang="en-US" sz="1600" dirty="0"/>
          </a:p>
        </p:txBody>
      </p:sp>
      <p:sp>
        <p:nvSpPr>
          <p:cNvPr id="15" name="Text 11"/>
          <p:cNvSpPr txBox="1"/>
          <p:nvPr/>
        </p:nvSpPr>
        <p:spPr>
          <a:xfrm>
            <a:off x="7040880" y="3044952"/>
            <a:ext cx="1371600" cy="320040"/>
          </a:xfrm>
          <a:prstGeom prst="rect">
            <a:avLst/>
          </a:prstGeom>
          <a:noFill/>
          <a:ln/>
        </p:spPr>
        <p:txBody>
          <a:bodyPr wrap="square" lIns="0" tIns="0" rIns="0" bIns="0" rtlCol="0" anchor="t"/>
          <a:lstStyle/>
          <a:p>
            <a:pPr algn="r" indent="0" marL="0">
              <a:buNone/>
            </a:pPr>
            <a:r>
              <a:rPr lang="en-US" sz="1400" b="1" dirty="0">
                <a:solidFill>
                  <a:srgbClr val="D9A441"/>
                </a:solidFill>
                <a:latin typeface="Meiryo" pitchFamily="34" charset="0"/>
                <a:ea typeface="Meiryo" pitchFamily="34" charset="-122"/>
                <a:cs typeface="Meiryo" pitchFamily="34" charset="-120"/>
              </a:rPr>
              <a:t>1話30万円</a:t>
            </a:r>
            <a:endParaRPr lang="en-US" sz="1400" dirty="0"/>
          </a:p>
        </p:txBody>
      </p:sp>
      <p:sp>
        <p:nvSpPr>
          <p:cNvPr id="16" name="Text 12"/>
          <p:cNvSpPr txBox="1"/>
          <p:nvPr/>
        </p:nvSpPr>
        <p:spPr>
          <a:xfrm>
            <a:off x="4892040" y="3703320"/>
            <a:ext cx="3520440" cy="822960"/>
          </a:xfrm>
          <a:prstGeom prst="rect">
            <a:avLst/>
          </a:prstGeom>
          <a:noFill/>
          <a:ln/>
        </p:spPr>
        <p:txBody>
          <a:bodyPr wrap="square" lIns="0" tIns="0" rIns="0" bIns="0" rtlCol="0" anchor="t"/>
          <a:lstStyle/>
          <a:p>
            <a:pPr indent="0" marL="0">
              <a:buNone/>
            </a:pPr>
            <a:r>
              <a:rPr lang="en-US" sz="1050" dirty="0">
                <a:solidFill>
                  <a:srgbClr val="C9CED8"/>
                </a:solidFill>
                <a:latin typeface="Meiryo" pitchFamily="34" charset="0"/>
                <a:ea typeface="Meiryo" pitchFamily="34" charset="-122"/>
                <a:cs typeface="Meiryo" pitchFamily="34" charset="-120"/>
              </a:rPr>
              <a:t>採用・飲食・美容・地域。職場と社員の顔が主役。1撮影日3〜4話まとめ撮りが条件</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228600"/>
          </a:xfrm>
          <a:prstGeom prst="rect">
            <a:avLst/>
          </a:prstGeom>
          <a:noFill/>
          <a:ln/>
        </p:spPr>
        <p:txBody>
          <a:bodyPr wrap="square" lIns="0" tIns="0" rIns="0" bIns="0" rtlCol="0" anchor="t"/>
          <a:lstStyle/>
          <a:p>
            <a:pPr indent="0" marL="0">
              <a:buNone/>
            </a:pPr>
            <a:r>
              <a:rPr lang="en-US" sz="1100" b="1" dirty="0">
                <a:solidFill>
                  <a:srgbClr val="E63946"/>
                </a:solidFill>
                <a:latin typeface="Meiryo" pitchFamily="34" charset="0"/>
                <a:ea typeface="Meiryo" pitchFamily="34" charset="-122"/>
                <a:cs typeface="Meiryo" pitchFamily="34" charset="-120"/>
              </a:rPr>
              <a:t>3. 商品設計</a:t>
            </a:r>
            <a:endParaRPr lang="en-US" sz="1100" dirty="0"/>
          </a:p>
        </p:txBody>
      </p:sp>
      <p:sp>
        <p:nvSpPr>
          <p:cNvPr id="3" name="Text 1"/>
          <p:cNvSpPr txBox="1"/>
          <p:nvPr/>
        </p:nvSpPr>
        <p:spPr>
          <a:xfrm>
            <a:off x="548640" y="548640"/>
            <a:ext cx="8046720" cy="548640"/>
          </a:xfrm>
          <a:prstGeom prst="rect">
            <a:avLst/>
          </a:prstGeom>
          <a:noFill/>
          <a:ln/>
        </p:spPr>
        <p:txBody>
          <a:bodyPr wrap="square" lIns="0" tIns="0" rIns="0" bIns="0" rtlCol="0" anchor="t"/>
          <a:lstStyle/>
          <a:p>
            <a:pPr indent="0" marL="0">
              <a:buNone/>
            </a:pPr>
            <a:r>
              <a:rPr lang="en-US" sz="2200" b="1" dirty="0">
                <a:solidFill>
                  <a:srgbClr val="111318"/>
                </a:solidFill>
                <a:latin typeface="Meiryo" pitchFamily="34" charset="0"/>
                <a:ea typeface="Meiryo" pitchFamily="34" charset="-122"/>
                <a:cs typeface="Meiryo" pitchFamily="34" charset="-120"/>
              </a:rPr>
              <a:t>商品① AIドラマ 1話10万円（粗利44%→62%）</a:t>
            </a:r>
            <a:endParaRPr lang="en-US" sz="2200" dirty="0"/>
          </a:p>
        </p:txBody>
      </p:sp>
      <p:sp>
        <p:nvSpPr>
          <p:cNvPr id="4" name="Text 2"/>
          <p:cNvSpPr txBox="1"/>
          <p:nvPr/>
        </p:nvSpPr>
        <p:spPr>
          <a:xfrm>
            <a:off x="8229600" y="4754880"/>
            <a:ext cx="4572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pitchFamily="34" charset="0"/>
                <a:ea typeface="Meiryo" pitchFamily="34" charset="-122"/>
                <a:cs typeface="Meiryo" pitchFamily="34" charset="-120"/>
              </a:rPr>
              <a:t>10</a:t>
            </a:r>
            <a:endParaRPr lang="en-US" sz="900" dirty="0"/>
          </a:p>
        </p:txBody>
      </p:sp>
      <p:sp>
        <p:nvSpPr>
          <p:cNvPr id="5" name="Shape 3"/>
          <p:cNvSpPr/>
          <p:nvPr/>
        </p:nvSpPr>
        <p:spPr>
          <a:xfrm>
            <a:off x="548640" y="1280160"/>
            <a:ext cx="3291840" cy="3429000"/>
          </a:xfrm>
          <a:prstGeom prst="roundRect">
            <a:avLst>
              <a:gd name="adj" fmla="val 2222"/>
            </a:avLst>
          </a:prstGeom>
          <a:solidFill>
            <a:srgbClr val="F3F4F6"/>
          </a:solidFill>
          <a:ln w="12700">
            <a:solidFill>
              <a:srgbClr val="F3F4F6"/>
            </a:solidFill>
            <a:prstDash val="solid"/>
          </a:ln>
        </p:spPr>
      </p:sp>
      <p:sp>
        <p:nvSpPr>
          <p:cNvPr id="6" name="Text 4"/>
          <p:cNvSpPr txBox="1"/>
          <p:nvPr/>
        </p:nvSpPr>
        <p:spPr>
          <a:xfrm>
            <a:off x="777240" y="1417320"/>
            <a:ext cx="2743200" cy="274320"/>
          </a:xfrm>
          <a:prstGeom prst="rect">
            <a:avLst/>
          </a:prstGeom>
          <a:noFill/>
          <a:ln/>
        </p:spPr>
        <p:txBody>
          <a:bodyPr wrap="square" lIns="0" tIns="0" rIns="0" bIns="0" rtlCol="0" anchor="t"/>
          <a:lstStyle/>
          <a:p>
            <a:pPr indent="0" marL="0">
              <a:buNone/>
            </a:pPr>
            <a:r>
              <a:rPr lang="en-US" sz="1250" b="1" dirty="0">
                <a:solidFill>
                  <a:srgbClr val="111318"/>
                </a:solidFill>
                <a:latin typeface="Meiryo" pitchFamily="34" charset="0"/>
                <a:ea typeface="Meiryo" pitchFamily="34" charset="-122"/>
                <a:cs typeface="Meiryo" pitchFamily="34" charset="-120"/>
              </a:rPr>
              <a:t>標準仕様</a:t>
            </a:r>
            <a:endParaRPr lang="en-US" sz="1250" dirty="0"/>
          </a:p>
        </p:txBody>
      </p:sp>
      <p:sp>
        <p:nvSpPr>
          <p:cNvPr id="7" name="Text 5"/>
          <p:cNvSpPr txBox="1"/>
          <p:nvPr/>
        </p:nvSpPr>
        <p:spPr>
          <a:xfrm>
            <a:off x="777240" y="1783080"/>
            <a:ext cx="2880360" cy="2834640"/>
          </a:xfrm>
          <a:prstGeom prst="rect">
            <a:avLst/>
          </a:prstGeom>
          <a:noFill/>
          <a:ln/>
        </p:spPr>
        <p:txBody>
          <a:bodyPr wrap="square" lIns="0" tIns="0" rIns="0" bIns="0" rtlCol="0" anchor="t"/>
          <a:lstStyle/>
          <a:p>
            <a:pPr marL="152400" indent="-152400">
              <a:spcAft>
                <a:spcPts val="500"/>
              </a:spcAft>
              <a:buSzPct val="100000"/>
              <a:buChar char="•"/>
            </a:pPr>
            <a:r>
              <a:rPr lang="en-US" sz="1000" dirty="0">
                <a:solidFill>
                  <a:srgbClr val="1F2430"/>
                </a:solidFill>
                <a:latin typeface="Meiryo" pitchFamily="34" charset="0"/>
                <a:ea typeface="Meiryo" pitchFamily="34" charset="-122"/>
                <a:cs typeface="Meiryo" pitchFamily="34" charset="-120"/>
              </a:rPr>
              <a:t>尺60〜90秒、縦型、登場人物2〜3名（キャラクターバンクで一貫性）</a:t>
            </a:r>
            <a:endParaRPr lang="en-US" sz="1000" dirty="0"/>
          </a:p>
          <a:p>
            <a:pPr marL="152400" indent="-152400">
              <a:spcAft>
                <a:spcPts val="500"/>
              </a:spcAft>
              <a:buSzPct val="100000"/>
              <a:buChar char="•"/>
            </a:pPr>
            <a:r>
              <a:rPr lang="en-US" sz="1000" dirty="0">
                <a:solidFill>
                  <a:srgbClr val="1F2430"/>
                </a:solidFill>
                <a:latin typeface="Meiryo" pitchFamily="34" charset="0"/>
                <a:ea typeface="Meiryo" pitchFamily="34" charset="-122"/>
                <a:cs typeface="Meiryo" pitchFamily="34" charset="-120"/>
              </a:rPr>
              <a:t>日本語AI音声、テロップ、BGM、SE</a:t>
            </a:r>
            <a:endParaRPr lang="en-US" sz="1000" dirty="0"/>
          </a:p>
          <a:p>
            <a:pPr marL="152400" indent="-152400">
              <a:spcAft>
                <a:spcPts val="500"/>
              </a:spcAft>
              <a:buSzPct val="100000"/>
              <a:buChar char="•"/>
            </a:pPr>
            <a:r>
              <a:rPr lang="en-US" sz="1000" dirty="0">
                <a:solidFill>
                  <a:srgbClr val="1F2430"/>
                </a:solidFill>
                <a:latin typeface="Meiryo" pitchFamily="34" charset="0"/>
                <a:ea typeface="Meiryo" pitchFamily="34" charset="-122"/>
                <a:cs typeface="Meiryo" pitchFamily="34" charset="-120"/>
              </a:rPr>
              <a:t>冒頭フック3パターン納品（ABテスト用）</a:t>
            </a:r>
            <a:endParaRPr lang="en-US" sz="1000" dirty="0"/>
          </a:p>
          <a:p>
            <a:pPr marL="152400" indent="-152400">
              <a:spcAft>
                <a:spcPts val="500"/>
              </a:spcAft>
              <a:buSzPct val="100000"/>
              <a:buChar char="•"/>
            </a:pPr>
            <a:r>
              <a:rPr lang="en-US" sz="1000" dirty="0">
                <a:solidFill>
                  <a:srgbClr val="1F2430"/>
                </a:solidFill>
                <a:latin typeface="Meiryo" pitchFamily="34" charset="0"/>
                <a:ea typeface="Meiryo" pitchFamily="34" charset="-122"/>
                <a:cs typeface="Meiryo" pitchFamily="34" charset="-120"/>
              </a:rPr>
              <a:t>納期3〜5営業日（キャラ確定後）</a:t>
            </a:r>
            <a:endParaRPr lang="en-US" sz="1000" dirty="0"/>
          </a:p>
          <a:p>
            <a:pPr marL="152400" indent="-152400">
              <a:spcAft>
                <a:spcPts val="500"/>
              </a:spcAft>
              <a:buSzPct val="100000"/>
              <a:buChar char="•"/>
            </a:pPr>
            <a:r>
              <a:rPr lang="en-US" sz="1000" dirty="0">
                <a:solidFill>
                  <a:srgbClr val="1F2430"/>
                </a:solidFill>
                <a:latin typeface="Meiryo" pitchFamily="34" charset="0"/>
                <a:ea typeface="Meiryo" pitchFamily="34" charset="-122"/>
                <a:cs typeface="Meiryo" pitchFamily="34" charset="-120"/>
              </a:rPr>
              <a:t>AI開示ポリシー付き（顧客が選択、海外配信は必ず開示）</a:t>
            </a:r>
            <a:endParaRPr lang="en-US" sz="1000" dirty="0"/>
          </a:p>
          <a:p>
            <a:pPr marL="152400" indent="-152400">
              <a:spcAft>
                <a:spcPts val="500"/>
              </a:spcAft>
              <a:buSzPct val="100000"/>
              <a:buChar char="•"/>
            </a:pPr>
            <a:r>
              <a:rPr lang="en-US" sz="1000" dirty="0">
                <a:solidFill>
                  <a:srgbClr val="1F2430"/>
                </a:solidFill>
                <a:latin typeface="Meiryo" pitchFamily="34" charset="0"/>
                <a:ea typeface="Meiryo" pitchFamily="34" charset="-122"/>
                <a:cs typeface="Meiryo" pitchFamily="34" charset="-120"/>
              </a:rPr>
              <a:t>実在人物・既存キャラ名をプロンプトに使わない権利チェック</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114800" y="1280160"/>
          <a:ext cx="4480560" cy="914400"/>
        </p:xfrm>
        <a:graphic>
          <a:graphicData uri="http://schemas.openxmlformats.org/drawingml/2006/table">
            <a:tbl>
              <a:tblPr/>
              <a:tblGrid>
                <a:gridCol w="2651760"/>
                <a:gridCol w="914400"/>
                <a:gridCol w="914400"/>
              </a:tblGrid>
              <a:tr h="329184">
                <a:tc>
                  <a:txBody>
                    <a:bodyPr/>
                    <a:lstStyle/>
                    <a:p>
                      <a:pPr indent="0" marL="0">
                        <a:buNone/>
                      </a:pPr>
                      <a:r>
                        <a:rPr lang="en-US" sz="950" b="1" dirty="0">
                          <a:solidFill>
                            <a:srgbClr val="FFFFFF"/>
                          </a:solidFill>
                          <a:latin typeface="Meiryo" pitchFamily="34" charset="0"/>
                          <a:ea typeface="Meiryo" pitchFamily="34" charset="-122"/>
                          <a:cs typeface="Meiryo" pitchFamily="34" charset="-120"/>
                        </a:rPr>
                        <a:t>原価項目（1話）</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111318"/>
                    </a:solidFill>
                  </a:tcPr>
                </a:tc>
                <a:tc>
                  <a:txBody>
                    <a:bodyPr/>
                    <a:lstStyle/>
                    <a:p>
                      <a:pPr indent="0" marL="0">
                        <a:buNone/>
                      </a:pPr>
                      <a:r>
                        <a:rPr lang="en-US" sz="950" b="1" dirty="0">
                          <a:solidFill>
                            <a:srgbClr val="FFFFFF"/>
                          </a:solidFill>
                          <a:latin typeface="Meiryo" pitchFamily="34" charset="0"/>
                          <a:ea typeface="Meiryo" pitchFamily="34" charset="-122"/>
                          <a:cs typeface="Meiryo" pitchFamily="34" charset="-120"/>
                        </a:rPr>
                        <a:t>初期</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111318"/>
                    </a:solidFill>
                  </a:tcPr>
                </a:tc>
                <a:tc>
                  <a:txBody>
                    <a:bodyPr/>
                    <a:lstStyle/>
                    <a:p>
                      <a:pPr indent="0" marL="0">
                        <a:buNone/>
                      </a:pPr>
                      <a:r>
                        <a:rPr lang="en-US" sz="950" b="1" dirty="0">
                          <a:solidFill>
                            <a:srgbClr val="FFFFFF"/>
                          </a:solidFill>
                          <a:latin typeface="Meiryo" pitchFamily="34" charset="0"/>
                          <a:ea typeface="Meiryo" pitchFamily="34" charset="-122"/>
                          <a:cs typeface="Meiryo" pitchFamily="34" charset="-120"/>
                        </a:rPr>
                        <a:t>習熟後</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111318"/>
                    </a:solidFill>
                  </a:tcPr>
                </a:tc>
              </a:tr>
              <a:tr h="329184">
                <a:tc>
                  <a:txBody>
                    <a:bodyPr/>
                    <a:lstStyle/>
                    <a:p>
                      <a:pPr indent="0" marL="0">
                        <a:buNone/>
                      </a:pPr>
                      <a:r>
                        <a:rPr lang="en-US" sz="950" dirty="0">
                          <a:solidFill>
                            <a:srgbClr val="1F2430"/>
                          </a:solidFill>
                          <a:latin typeface="Meiryo" pitchFamily="34" charset="0"/>
                          <a:ea typeface="Meiryo" pitchFamily="34" charset="-122"/>
                          <a:cs typeface="Meiryo" pitchFamily="34" charset="-120"/>
                        </a:rPr>
                        <a:t>動画生成API（採用率1/5で約450秒）</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950" dirty="0">
                          <a:solidFill>
                            <a:srgbClr val="1F2430"/>
                          </a:solidFill>
                          <a:latin typeface="Meiryo" pitchFamily="34" charset="0"/>
                          <a:ea typeface="Meiryo" pitchFamily="34" charset="-122"/>
                          <a:cs typeface="Meiryo" pitchFamily="34" charset="-120"/>
                        </a:rPr>
                        <a:t>9,000</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950" dirty="0">
                          <a:solidFill>
                            <a:srgbClr val="1F2430"/>
                          </a:solidFill>
                          <a:latin typeface="Meiryo" pitchFamily="34" charset="0"/>
                          <a:ea typeface="Meiryo" pitchFamily="34" charset="-122"/>
                          <a:cs typeface="Meiryo" pitchFamily="34" charset="-120"/>
                        </a:rPr>
                        <a:t>6,000</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r>
              <a:tr h="329184">
                <a:tc>
                  <a:txBody>
                    <a:bodyPr/>
                    <a:lstStyle/>
                    <a:p>
                      <a:pPr indent="0" marL="0">
                        <a:buNone/>
                      </a:pPr>
                      <a:r>
                        <a:rPr lang="en-US" sz="950" dirty="0">
                          <a:solidFill>
                            <a:srgbClr val="1F2430"/>
                          </a:solidFill>
                          <a:latin typeface="Meiryo" pitchFamily="34" charset="0"/>
                          <a:ea typeface="Meiryo" pitchFamily="34" charset="-122"/>
                          <a:cs typeface="Meiryo" pitchFamily="34" charset="-120"/>
                        </a:rPr>
                        <a:t>音声・BGM</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c>
                  <a:txBody>
                    <a:bodyPr/>
                    <a:lstStyle/>
                    <a:p>
                      <a:pPr indent="0" marL="0">
                        <a:buNone/>
                      </a:pPr>
                      <a:r>
                        <a:rPr lang="en-US" sz="950" dirty="0">
                          <a:solidFill>
                            <a:srgbClr val="1F2430"/>
                          </a:solidFill>
                          <a:latin typeface="Meiryo" pitchFamily="34" charset="0"/>
                          <a:ea typeface="Meiryo" pitchFamily="34" charset="-122"/>
                          <a:cs typeface="Meiryo" pitchFamily="34" charset="-120"/>
                        </a:rPr>
                        <a:t>3,000</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c>
                  <a:txBody>
                    <a:bodyPr/>
                    <a:lstStyle/>
                    <a:p>
                      <a:pPr indent="0" marL="0">
                        <a:buNone/>
                      </a:pPr>
                      <a:r>
                        <a:rPr lang="en-US" sz="950" dirty="0">
                          <a:solidFill>
                            <a:srgbClr val="1F2430"/>
                          </a:solidFill>
                          <a:latin typeface="Meiryo" pitchFamily="34" charset="0"/>
                          <a:ea typeface="Meiryo" pitchFamily="34" charset="-122"/>
                          <a:cs typeface="Meiryo" pitchFamily="34" charset="-120"/>
                        </a:rPr>
                        <a:t>2,000</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r>
              <a:tr h="329184">
                <a:tc>
                  <a:txBody>
                    <a:bodyPr/>
                    <a:lstStyle/>
                    <a:p>
                      <a:pPr indent="0" marL="0">
                        <a:buNone/>
                      </a:pPr>
                      <a:r>
                        <a:rPr lang="en-US" sz="950" dirty="0">
                          <a:solidFill>
                            <a:srgbClr val="1F2430"/>
                          </a:solidFill>
                          <a:latin typeface="Meiryo" pitchFamily="34" charset="0"/>
                          <a:ea typeface="Meiryo" pitchFamily="34" charset="-122"/>
                          <a:cs typeface="Meiryo" pitchFamily="34" charset="-120"/>
                        </a:rPr>
                        <a:t>脚本（テンプレ＋LLM下書き＋人）</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950" dirty="0">
                          <a:solidFill>
                            <a:srgbClr val="1F2430"/>
                          </a:solidFill>
                          <a:latin typeface="Meiryo" pitchFamily="34" charset="0"/>
                          <a:ea typeface="Meiryo" pitchFamily="34" charset="-122"/>
                          <a:cs typeface="Meiryo" pitchFamily="34" charset="-120"/>
                        </a:rPr>
                        <a:t>15,000</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950" dirty="0">
                          <a:solidFill>
                            <a:srgbClr val="1F2430"/>
                          </a:solidFill>
                          <a:latin typeface="Meiryo" pitchFamily="34" charset="0"/>
                          <a:ea typeface="Meiryo" pitchFamily="34" charset="-122"/>
                          <a:cs typeface="Meiryo" pitchFamily="34" charset="-120"/>
                        </a:rPr>
                        <a:t>10,000</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r>
              <a:tr h="329184">
                <a:tc>
                  <a:txBody>
                    <a:bodyPr/>
                    <a:lstStyle/>
                    <a:p>
                      <a:pPr indent="0" marL="0">
                        <a:buNone/>
                      </a:pPr>
                      <a:r>
                        <a:rPr lang="en-US" sz="950" dirty="0">
                          <a:solidFill>
                            <a:srgbClr val="1F2430"/>
                          </a:solidFill>
                          <a:latin typeface="Meiryo" pitchFamily="34" charset="0"/>
                          <a:ea typeface="Meiryo" pitchFamily="34" charset="-122"/>
                          <a:cs typeface="Meiryo" pitchFamily="34" charset="-120"/>
                        </a:rPr>
                        <a:t>AIオペ・編集（6h→4h）</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c>
                  <a:txBody>
                    <a:bodyPr/>
                    <a:lstStyle/>
                    <a:p>
                      <a:pPr indent="0" marL="0">
                        <a:buNone/>
                      </a:pPr>
                      <a:r>
                        <a:rPr lang="en-US" sz="950" dirty="0">
                          <a:solidFill>
                            <a:srgbClr val="1F2430"/>
                          </a:solidFill>
                          <a:latin typeface="Meiryo" pitchFamily="34" charset="0"/>
                          <a:ea typeface="Meiryo" pitchFamily="34" charset="-122"/>
                          <a:cs typeface="Meiryo" pitchFamily="34" charset="-120"/>
                        </a:rPr>
                        <a:t>24,000</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c>
                  <a:txBody>
                    <a:bodyPr/>
                    <a:lstStyle/>
                    <a:p>
                      <a:pPr indent="0" marL="0">
                        <a:buNone/>
                      </a:pPr>
                      <a:r>
                        <a:rPr lang="en-US" sz="950" dirty="0">
                          <a:solidFill>
                            <a:srgbClr val="1F2430"/>
                          </a:solidFill>
                          <a:latin typeface="Meiryo" pitchFamily="34" charset="0"/>
                          <a:ea typeface="Meiryo" pitchFamily="34" charset="-122"/>
                          <a:cs typeface="Meiryo" pitchFamily="34" charset="-120"/>
                        </a:rPr>
                        <a:t>16,000</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r>
              <a:tr h="329184">
                <a:tc>
                  <a:txBody>
                    <a:bodyPr/>
                    <a:lstStyle/>
                    <a:p>
                      <a:pPr indent="0" marL="0">
                        <a:buNone/>
                      </a:pPr>
                      <a:r>
                        <a:rPr lang="en-US" sz="950" dirty="0">
                          <a:solidFill>
                            <a:srgbClr val="1F2430"/>
                          </a:solidFill>
                          <a:latin typeface="Meiryo" pitchFamily="34" charset="0"/>
                          <a:ea typeface="Meiryo" pitchFamily="34" charset="-122"/>
                          <a:cs typeface="Meiryo" pitchFamily="34" charset="-120"/>
                        </a:rPr>
                        <a:t>QA・ディレクション</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950" dirty="0">
                          <a:solidFill>
                            <a:srgbClr val="1F2430"/>
                          </a:solidFill>
                          <a:latin typeface="Meiryo" pitchFamily="34" charset="0"/>
                          <a:ea typeface="Meiryo" pitchFamily="34" charset="-122"/>
                          <a:cs typeface="Meiryo" pitchFamily="34" charset="-120"/>
                        </a:rPr>
                        <a:t>5,000</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950" dirty="0">
                          <a:solidFill>
                            <a:srgbClr val="1F2430"/>
                          </a:solidFill>
                          <a:latin typeface="Meiryo" pitchFamily="34" charset="0"/>
                          <a:ea typeface="Meiryo" pitchFamily="34" charset="-122"/>
                          <a:cs typeface="Meiryo" pitchFamily="34" charset="-120"/>
                        </a:rPr>
                        <a:t>4,000</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r>
              <a:tr h="329184">
                <a:tc>
                  <a:txBody>
                    <a:bodyPr/>
                    <a:lstStyle/>
                    <a:p>
                      <a:pPr indent="0" marL="0">
                        <a:buNone/>
                      </a:pPr>
                      <a:r>
                        <a:rPr lang="en-US" sz="950" dirty="0">
                          <a:solidFill>
                            <a:srgbClr val="1F2430"/>
                          </a:solidFill>
                          <a:latin typeface="Meiryo" pitchFamily="34" charset="0"/>
                          <a:ea typeface="Meiryo" pitchFamily="34" charset="-122"/>
                          <a:cs typeface="Meiryo" pitchFamily="34" charset="-120"/>
                        </a:rPr>
                        <a:t>合計</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c>
                  <a:txBody>
                    <a:bodyPr/>
                    <a:lstStyle/>
                    <a:p>
                      <a:pPr indent="0" marL="0">
                        <a:buNone/>
                      </a:pPr>
                      <a:r>
                        <a:rPr lang="en-US" sz="950" dirty="0">
                          <a:solidFill>
                            <a:srgbClr val="1F2430"/>
                          </a:solidFill>
                          <a:latin typeface="Meiryo" pitchFamily="34" charset="0"/>
                          <a:ea typeface="Meiryo" pitchFamily="34" charset="-122"/>
                          <a:cs typeface="Meiryo" pitchFamily="34" charset="-120"/>
                        </a:rPr>
                        <a:t>56,000</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c>
                  <a:txBody>
                    <a:bodyPr/>
                    <a:lstStyle/>
                    <a:p>
                      <a:pPr indent="0" marL="0">
                        <a:buNone/>
                      </a:pPr>
                      <a:r>
                        <a:rPr lang="en-US" sz="950" dirty="0">
                          <a:solidFill>
                            <a:srgbClr val="1F2430"/>
                          </a:solidFill>
                          <a:latin typeface="Meiryo" pitchFamily="34" charset="0"/>
                          <a:ea typeface="Meiryo" pitchFamily="34" charset="-122"/>
                          <a:cs typeface="Meiryo" pitchFamily="34" charset="-120"/>
                        </a:rPr>
                        <a:t>38,000</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r>
              <a:tr h="329184">
                <a:tc>
                  <a:txBody>
                    <a:bodyPr/>
                    <a:lstStyle/>
                    <a:p>
                      <a:pPr indent="0" marL="0">
                        <a:buNone/>
                      </a:pPr>
                      <a:r>
                        <a:rPr lang="en-US" sz="950" dirty="0">
                          <a:solidFill>
                            <a:srgbClr val="1F2430"/>
                          </a:solidFill>
                          <a:latin typeface="Meiryo" pitchFamily="34" charset="0"/>
                          <a:ea typeface="Meiryo" pitchFamily="34" charset="-122"/>
                          <a:cs typeface="Meiryo" pitchFamily="34" charset="-120"/>
                        </a:rPr>
                        <a:t>粗利率</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950" dirty="0">
                          <a:solidFill>
                            <a:srgbClr val="1F2430"/>
                          </a:solidFill>
                          <a:latin typeface="Meiryo" pitchFamily="34" charset="0"/>
                          <a:ea typeface="Meiryo" pitchFamily="34" charset="-122"/>
                          <a:cs typeface="Meiryo" pitchFamily="34" charset="-120"/>
                        </a:rPr>
                        <a:t>44%</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950" dirty="0">
                          <a:solidFill>
                            <a:srgbClr val="1F2430"/>
                          </a:solidFill>
                          <a:latin typeface="Meiryo" pitchFamily="34" charset="0"/>
                          <a:ea typeface="Meiryo" pitchFamily="34" charset="-122"/>
                          <a:cs typeface="Meiryo" pitchFamily="34" charset="-120"/>
                        </a:rPr>
                        <a:t>62%</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r>
            </a:tbl>
          </a:graphicData>
        </a:graphic>
      </p:graphicFrame>
      <p:sp>
        <p:nvSpPr>
          <p:cNvPr id="9" name="Shape 6"/>
          <p:cNvSpPr/>
          <p:nvPr/>
        </p:nvSpPr>
        <p:spPr>
          <a:xfrm>
            <a:off x="4114800" y="4023360"/>
            <a:ext cx="4480560" cy="685800"/>
          </a:xfrm>
          <a:prstGeom prst="roundRect">
            <a:avLst>
              <a:gd name="adj" fmla="val 8000"/>
            </a:avLst>
          </a:prstGeom>
          <a:solidFill>
            <a:srgbClr val="1D3557"/>
          </a:solidFill>
          <a:ln w="12700">
            <a:solidFill>
              <a:srgbClr val="1D3557"/>
            </a:solidFill>
            <a:prstDash val="solid"/>
          </a:ln>
        </p:spPr>
      </p:sp>
      <p:sp>
        <p:nvSpPr>
          <p:cNvPr id="10" name="Text 7"/>
          <p:cNvSpPr txBox="1"/>
          <p:nvPr/>
        </p:nvSpPr>
        <p:spPr>
          <a:xfrm>
            <a:off x="4297680" y="4096512"/>
            <a:ext cx="4114800" cy="548640"/>
          </a:xfrm>
          <a:prstGeom prst="rect">
            <a:avLst/>
          </a:prstGeom>
          <a:noFill/>
          <a:ln/>
        </p:spPr>
        <p:txBody>
          <a:bodyPr wrap="square" lIns="0" tIns="0" rIns="0" bIns="0" rtlCol="0" anchor="ctr"/>
          <a:lstStyle/>
          <a:p>
            <a:pPr indent="0" marL="0">
              <a:buNone/>
            </a:pPr>
            <a:r>
              <a:rPr lang="en-US" sz="950" dirty="0">
                <a:solidFill>
                  <a:srgbClr val="FFFFFF"/>
                </a:solidFill>
                <a:latin typeface="Meiryo" pitchFamily="34" charset="0"/>
                <a:ea typeface="Meiryo" pitchFamily="34" charset="-122"/>
                <a:cs typeface="Meiryo" pitchFamily="34" charset="-120"/>
              </a:rPr>
              <a:t>キャラクターバンクはシリーズで再利用するため、2話目以降はさらに原価が下がる。生成コスト自体は競合も同じ。差は脚本と品質管理。</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228600"/>
          </a:xfrm>
          <a:prstGeom prst="rect">
            <a:avLst/>
          </a:prstGeom>
          <a:noFill/>
          <a:ln/>
        </p:spPr>
        <p:txBody>
          <a:bodyPr wrap="square" lIns="0" tIns="0" rIns="0" bIns="0" rtlCol="0" anchor="t"/>
          <a:lstStyle/>
          <a:p>
            <a:pPr indent="0" marL="0">
              <a:buNone/>
            </a:pPr>
            <a:r>
              <a:rPr lang="en-US" sz="1100" b="1" dirty="0">
                <a:solidFill>
                  <a:srgbClr val="E63946"/>
                </a:solidFill>
                <a:latin typeface="Meiryo" pitchFamily="34" charset="0"/>
                <a:ea typeface="Meiryo" pitchFamily="34" charset="-122"/>
                <a:cs typeface="Meiryo" pitchFamily="34" charset="-120"/>
              </a:rPr>
              <a:t>3. 商品設計</a:t>
            </a:r>
            <a:endParaRPr lang="en-US" sz="1100" dirty="0"/>
          </a:p>
        </p:txBody>
      </p:sp>
      <p:sp>
        <p:nvSpPr>
          <p:cNvPr id="3" name="Text 1"/>
          <p:cNvSpPr txBox="1"/>
          <p:nvPr/>
        </p:nvSpPr>
        <p:spPr>
          <a:xfrm>
            <a:off x="548640" y="548640"/>
            <a:ext cx="8046720" cy="548640"/>
          </a:xfrm>
          <a:prstGeom prst="rect">
            <a:avLst/>
          </a:prstGeom>
          <a:noFill/>
          <a:ln/>
        </p:spPr>
        <p:txBody>
          <a:bodyPr wrap="square" lIns="0" tIns="0" rIns="0" bIns="0" rtlCol="0" anchor="t"/>
          <a:lstStyle/>
          <a:p>
            <a:pPr indent="0" marL="0">
              <a:buNone/>
            </a:pPr>
            <a:r>
              <a:rPr lang="en-US" sz="2200" b="1" dirty="0">
                <a:solidFill>
                  <a:srgbClr val="111318"/>
                </a:solidFill>
                <a:latin typeface="Meiryo" pitchFamily="34" charset="0"/>
                <a:ea typeface="Meiryo" pitchFamily="34" charset="-122"/>
                <a:cs typeface="Meiryo" pitchFamily="34" charset="-120"/>
              </a:rPr>
              <a:t>商品② 実写ドラマ 1話30万円（まとめ撮りで粗利69%）</a:t>
            </a:r>
            <a:endParaRPr lang="en-US" sz="2200" dirty="0"/>
          </a:p>
        </p:txBody>
      </p:sp>
      <p:sp>
        <p:nvSpPr>
          <p:cNvPr id="4" name="Text 2"/>
          <p:cNvSpPr txBox="1"/>
          <p:nvPr/>
        </p:nvSpPr>
        <p:spPr>
          <a:xfrm>
            <a:off x="8229600" y="4754880"/>
            <a:ext cx="4572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pitchFamily="34" charset="0"/>
                <a:ea typeface="Meiryo" pitchFamily="34" charset="-122"/>
                <a:cs typeface="Meiryo" pitchFamily="34" charset="-120"/>
              </a:rPr>
              <a:t>11</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3840480" cy="914400"/>
        </p:xfrm>
        <a:graphic>
          <a:graphicData uri="http://schemas.openxmlformats.org/drawingml/2006/table">
            <a:tbl>
              <a:tblPr/>
              <a:tblGrid>
                <a:gridCol w="2743200"/>
                <a:gridCol w="1097280"/>
              </a:tblGrid>
              <a:tr h="329184">
                <a:tc>
                  <a:txBody>
                    <a:bodyPr/>
                    <a:lstStyle/>
                    <a:p>
                      <a:pPr indent="0" marL="0">
                        <a:buNone/>
                      </a:pPr>
                      <a:r>
                        <a:rPr lang="en-US" sz="950" b="1" dirty="0">
                          <a:solidFill>
                            <a:srgbClr val="FFFFFF"/>
                          </a:solidFill>
                          <a:latin typeface="Meiryo" pitchFamily="34" charset="0"/>
                          <a:ea typeface="Meiryo" pitchFamily="34" charset="-122"/>
                          <a:cs typeface="Meiryo" pitchFamily="34" charset="-120"/>
                        </a:rPr>
                        <a:t>原価項目（1撮影日=4話）</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111318"/>
                    </a:solidFill>
                  </a:tcPr>
                </a:tc>
                <a:tc>
                  <a:txBody>
                    <a:bodyPr/>
                    <a:lstStyle/>
                    <a:p>
                      <a:pPr indent="0" marL="0">
                        <a:buNone/>
                      </a:pPr>
                      <a:r>
                        <a:rPr lang="en-US" sz="950" b="1" dirty="0">
                          <a:solidFill>
                            <a:srgbClr val="FFFFFF"/>
                          </a:solidFill>
                          <a:latin typeface="Meiryo" pitchFamily="34" charset="0"/>
                          <a:ea typeface="Meiryo" pitchFamily="34" charset="-122"/>
                          <a:cs typeface="Meiryo" pitchFamily="34" charset="-120"/>
                        </a:rPr>
                        <a:t>金額</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111318"/>
                    </a:solidFill>
                  </a:tcPr>
                </a:tc>
              </a:tr>
              <a:tr h="329184">
                <a:tc>
                  <a:txBody>
                    <a:bodyPr/>
                    <a:lstStyle/>
                    <a:p>
                      <a:pPr indent="0" marL="0">
                        <a:buNone/>
                      </a:pPr>
                      <a:r>
                        <a:rPr lang="en-US" sz="950" dirty="0">
                          <a:solidFill>
                            <a:srgbClr val="1F2430"/>
                          </a:solidFill>
                          <a:latin typeface="Meiryo" pitchFamily="34" charset="0"/>
                          <a:ea typeface="Meiryo" pitchFamily="34" charset="-122"/>
                          <a:cs typeface="Meiryo" pitchFamily="34" charset="-120"/>
                        </a:rPr>
                        <a:t>監督兼カメラ</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950" dirty="0">
                          <a:solidFill>
                            <a:srgbClr val="1F2430"/>
                          </a:solidFill>
                          <a:latin typeface="Meiryo" pitchFamily="34" charset="0"/>
                          <a:ea typeface="Meiryo" pitchFamily="34" charset="-122"/>
                          <a:cs typeface="Meiryo" pitchFamily="34" charset="-120"/>
                        </a:rPr>
                        <a:t>70,000</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r>
              <a:tr h="329184">
                <a:tc>
                  <a:txBody>
                    <a:bodyPr/>
                    <a:lstStyle/>
                    <a:p>
                      <a:pPr indent="0" marL="0">
                        <a:buNone/>
                      </a:pPr>
                      <a:r>
                        <a:rPr lang="en-US" sz="950" dirty="0">
                          <a:solidFill>
                            <a:srgbClr val="1F2430"/>
                          </a:solidFill>
                          <a:latin typeface="Meiryo" pitchFamily="34" charset="0"/>
                          <a:ea typeface="Meiryo" pitchFamily="34" charset="-122"/>
                          <a:cs typeface="Meiryo" pitchFamily="34" charset="-120"/>
                        </a:rPr>
                        <a:t>録音・照明アシスタント</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c>
                  <a:txBody>
                    <a:bodyPr/>
                    <a:lstStyle/>
                    <a:p>
                      <a:pPr indent="0" marL="0">
                        <a:buNone/>
                      </a:pPr>
                      <a:r>
                        <a:rPr lang="en-US" sz="950" dirty="0">
                          <a:solidFill>
                            <a:srgbClr val="1F2430"/>
                          </a:solidFill>
                          <a:latin typeface="Meiryo" pitchFamily="34" charset="0"/>
                          <a:ea typeface="Meiryo" pitchFamily="34" charset="-122"/>
                          <a:cs typeface="Meiryo" pitchFamily="34" charset="-120"/>
                        </a:rPr>
                        <a:t>35,000</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r>
              <a:tr h="329184">
                <a:tc>
                  <a:txBody>
                    <a:bodyPr/>
                    <a:lstStyle/>
                    <a:p>
                      <a:pPr indent="0" marL="0">
                        <a:buNone/>
                      </a:pPr>
                      <a:r>
                        <a:rPr lang="en-US" sz="950" dirty="0">
                          <a:solidFill>
                            <a:srgbClr val="1F2430"/>
                          </a:solidFill>
                          <a:latin typeface="Meiryo" pitchFamily="34" charset="0"/>
                          <a:ea typeface="Meiryo" pitchFamily="34" charset="-122"/>
                          <a:cs typeface="Meiryo" pitchFamily="34" charset="-120"/>
                        </a:rPr>
                        <a:t>機材</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950" dirty="0">
                          <a:solidFill>
                            <a:srgbClr val="1F2430"/>
                          </a:solidFill>
                          <a:latin typeface="Meiryo" pitchFamily="34" charset="0"/>
                          <a:ea typeface="Meiryo" pitchFamily="34" charset="-122"/>
                          <a:cs typeface="Meiryo" pitchFamily="34" charset="-120"/>
                        </a:rPr>
                        <a:t>25,000</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r>
              <a:tr h="329184">
                <a:tc>
                  <a:txBody>
                    <a:bodyPr/>
                    <a:lstStyle/>
                    <a:p>
                      <a:pPr indent="0" marL="0">
                        <a:buNone/>
                      </a:pPr>
                      <a:r>
                        <a:rPr lang="en-US" sz="950" dirty="0">
                          <a:solidFill>
                            <a:srgbClr val="1F2430"/>
                          </a:solidFill>
                          <a:latin typeface="Meiryo" pitchFamily="34" charset="0"/>
                          <a:ea typeface="Meiryo" pitchFamily="34" charset="-122"/>
                          <a:cs typeface="Meiryo" pitchFamily="34" charset="-120"/>
                        </a:rPr>
                        <a:t>俳優2〜3名（1人2〜3万/日）</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c>
                  <a:txBody>
                    <a:bodyPr/>
                    <a:lstStyle/>
                    <a:p>
                      <a:pPr indent="0" marL="0">
                        <a:buNone/>
                      </a:pPr>
                      <a:r>
                        <a:rPr lang="en-US" sz="950" dirty="0">
                          <a:solidFill>
                            <a:srgbClr val="1F2430"/>
                          </a:solidFill>
                          <a:latin typeface="Meiryo" pitchFamily="34" charset="0"/>
                          <a:ea typeface="Meiryo" pitchFamily="34" charset="-122"/>
                          <a:cs typeface="Meiryo" pitchFamily="34" charset="-120"/>
                        </a:rPr>
                        <a:t>75,000</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r>
              <a:tr h="329184">
                <a:tc>
                  <a:txBody>
                    <a:bodyPr/>
                    <a:lstStyle/>
                    <a:p>
                      <a:pPr indent="0" marL="0">
                        <a:buNone/>
                      </a:pPr>
                      <a:r>
                        <a:rPr lang="en-US" sz="950" dirty="0">
                          <a:solidFill>
                            <a:srgbClr val="1F2430"/>
                          </a:solidFill>
                          <a:latin typeface="Meiryo" pitchFamily="34" charset="0"/>
                          <a:ea typeface="Meiryo" pitchFamily="34" charset="-122"/>
                          <a:cs typeface="Meiryo" pitchFamily="34" charset="-120"/>
                        </a:rPr>
                        <a:t>脚本4話（1話1.5万）</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950" dirty="0">
                          <a:solidFill>
                            <a:srgbClr val="1F2430"/>
                          </a:solidFill>
                          <a:latin typeface="Meiryo" pitchFamily="34" charset="0"/>
                          <a:ea typeface="Meiryo" pitchFamily="34" charset="-122"/>
                          <a:cs typeface="Meiryo" pitchFamily="34" charset="-120"/>
                        </a:rPr>
                        <a:t>60,000</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r>
              <a:tr h="329184">
                <a:tc>
                  <a:txBody>
                    <a:bodyPr/>
                    <a:lstStyle/>
                    <a:p>
                      <a:pPr indent="0" marL="0">
                        <a:buNone/>
                      </a:pPr>
                      <a:r>
                        <a:rPr lang="en-US" sz="950" dirty="0">
                          <a:solidFill>
                            <a:srgbClr val="1F2430"/>
                          </a:solidFill>
                          <a:latin typeface="Meiryo" pitchFamily="34" charset="0"/>
                          <a:ea typeface="Meiryo" pitchFamily="34" charset="-122"/>
                          <a:cs typeface="Meiryo" pitchFamily="34" charset="-120"/>
                        </a:rPr>
                        <a:t>編集4話（1話2〜2.5万）</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c>
                  <a:txBody>
                    <a:bodyPr/>
                    <a:lstStyle/>
                    <a:p>
                      <a:pPr indent="0" marL="0">
                        <a:buNone/>
                      </a:pPr>
                      <a:r>
                        <a:rPr lang="en-US" sz="950" dirty="0">
                          <a:solidFill>
                            <a:srgbClr val="1F2430"/>
                          </a:solidFill>
                          <a:latin typeface="Meiryo" pitchFamily="34" charset="0"/>
                          <a:ea typeface="Meiryo" pitchFamily="34" charset="-122"/>
                          <a:cs typeface="Meiryo" pitchFamily="34" charset="-120"/>
                        </a:rPr>
                        <a:t>90,000</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r>
              <a:tr h="329184">
                <a:tc>
                  <a:txBody>
                    <a:bodyPr/>
                    <a:lstStyle/>
                    <a:p>
                      <a:pPr indent="0" marL="0">
                        <a:buNone/>
                      </a:pPr>
                      <a:r>
                        <a:rPr lang="en-US" sz="950" dirty="0">
                          <a:solidFill>
                            <a:srgbClr val="1F2430"/>
                          </a:solidFill>
                          <a:latin typeface="Meiryo" pitchFamily="34" charset="0"/>
                          <a:ea typeface="Meiryo" pitchFamily="34" charset="-122"/>
                          <a:cs typeface="Meiryo" pitchFamily="34" charset="-120"/>
                        </a:rPr>
                        <a:t>交通・雑費</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950" dirty="0">
                          <a:solidFill>
                            <a:srgbClr val="1F2430"/>
                          </a:solidFill>
                          <a:latin typeface="Meiryo" pitchFamily="34" charset="0"/>
                          <a:ea typeface="Meiryo" pitchFamily="34" charset="-122"/>
                          <a:cs typeface="Meiryo" pitchFamily="34" charset="-120"/>
                        </a:rPr>
                        <a:t>20,000</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r>
              <a:tr h="329184">
                <a:tc>
                  <a:txBody>
                    <a:bodyPr/>
                    <a:lstStyle/>
                    <a:p>
                      <a:pPr indent="0" marL="0">
                        <a:buNone/>
                      </a:pPr>
                      <a:r>
                        <a:rPr lang="en-US" sz="950" dirty="0">
                          <a:solidFill>
                            <a:srgbClr val="1F2430"/>
                          </a:solidFill>
                          <a:latin typeface="Meiryo" pitchFamily="34" charset="0"/>
                          <a:ea typeface="Meiryo" pitchFamily="34" charset="-122"/>
                          <a:cs typeface="Meiryo" pitchFamily="34" charset="-120"/>
                        </a:rPr>
                        <a:t>合計 ／ 売上120万</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c>
                  <a:txBody>
                    <a:bodyPr/>
                    <a:lstStyle/>
                    <a:p>
                      <a:pPr indent="0" marL="0">
                        <a:buNone/>
                      </a:pPr>
                      <a:r>
                        <a:rPr lang="en-US" sz="950" dirty="0">
                          <a:solidFill>
                            <a:srgbClr val="1F2430"/>
                          </a:solidFill>
                          <a:latin typeface="Meiryo" pitchFamily="34" charset="0"/>
                          <a:ea typeface="Meiryo" pitchFamily="34" charset="-122"/>
                          <a:cs typeface="Meiryo" pitchFamily="34" charset="-120"/>
                        </a:rPr>
                        <a:t>375,000</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r>
            </a:tbl>
          </a:graphicData>
        </a:graphic>
      </p:graphicFrame>
      <p:graphicFrame>
        <p:nvGraphicFramePr>
          <p:cNvPr id="6" name="Chart 0" descr=""/>
          <p:cNvGraphicFramePr/>
          <p:nvPr/>
        </p:nvGraphicFramePr>
        <p:xfrm>
          <a:off x="4663440" y="1280160"/>
          <a:ext cx="3931920" cy="228600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4663440" y="3703320"/>
            <a:ext cx="3931920" cy="1005840"/>
          </a:xfrm>
          <a:prstGeom prst="roundRect">
            <a:avLst>
              <a:gd name="adj" fmla="val 7273"/>
            </a:avLst>
          </a:prstGeom>
          <a:solidFill>
            <a:srgbClr val="111318"/>
          </a:solidFill>
          <a:ln w="12700">
            <a:solidFill>
              <a:srgbClr val="111318"/>
            </a:solidFill>
            <a:prstDash val="solid"/>
          </a:ln>
        </p:spPr>
      </p:sp>
      <p:sp>
        <p:nvSpPr>
          <p:cNvPr id="8" name="Text 4"/>
          <p:cNvSpPr txBox="1"/>
          <p:nvPr/>
        </p:nvSpPr>
        <p:spPr>
          <a:xfrm>
            <a:off x="4846320" y="3794760"/>
            <a:ext cx="3566160" cy="274320"/>
          </a:xfrm>
          <a:prstGeom prst="rect">
            <a:avLst/>
          </a:prstGeom>
          <a:noFill/>
          <a:ln/>
        </p:spPr>
        <p:txBody>
          <a:bodyPr wrap="square" lIns="0" tIns="0" rIns="0" bIns="0" rtlCol="0" anchor="t"/>
          <a:lstStyle/>
          <a:p>
            <a:pPr indent="0" marL="0">
              <a:buNone/>
            </a:pPr>
            <a:r>
              <a:rPr lang="en-US" sz="1250" b="1" dirty="0">
                <a:solidFill>
                  <a:srgbClr val="D9A441"/>
                </a:solidFill>
                <a:latin typeface="Meiryo" pitchFamily="34" charset="0"/>
                <a:ea typeface="Meiryo" pitchFamily="34" charset="-122"/>
                <a:cs typeface="Meiryo" pitchFamily="34" charset="-120"/>
              </a:rPr>
              <a:t>ルール：3話未満は受けない</a:t>
            </a:r>
            <a:endParaRPr lang="en-US" sz="1250" dirty="0"/>
          </a:p>
        </p:txBody>
      </p:sp>
      <p:sp>
        <p:nvSpPr>
          <p:cNvPr id="9" name="Text 5"/>
          <p:cNvSpPr txBox="1"/>
          <p:nvPr/>
        </p:nvSpPr>
        <p:spPr>
          <a:xfrm>
            <a:off x="4846320" y="4087368"/>
            <a:ext cx="3611880" cy="594360"/>
          </a:xfrm>
          <a:prstGeom prst="rect">
            <a:avLst/>
          </a:prstGeom>
          <a:noFill/>
          <a:ln/>
        </p:spPr>
        <p:txBody>
          <a:bodyPr wrap="square" lIns="0" tIns="0" rIns="0" bIns="0" rtlCol="0" anchor="t"/>
          <a:lstStyle/>
          <a:p>
            <a:pPr indent="0" marL="0">
              <a:buNone/>
            </a:pPr>
            <a:r>
              <a:rPr lang="en-US" sz="950" dirty="0">
                <a:solidFill>
                  <a:srgbClr val="C9CED8"/>
                </a:solidFill>
                <a:latin typeface="Meiryo" pitchFamily="34" charset="0"/>
                <a:ea typeface="Meiryo" pitchFamily="34" charset="-122"/>
                <a:cs typeface="Meiryo" pitchFamily="34" charset="-120"/>
              </a:rPr>
              <a:t>ロケは原則、顧客の店舗・オフィス（ロケ費ゼロ、採用に効く「うちの職場」感）。納期2〜3週間。俳優は養成所・小劇場のプールを自前で作る。</a:t>
            </a:r>
            <a:endParaRPr lang="en-US" sz="950" dirty="0"/>
          </a:p>
        </p:txBody>
      </p:sp>
      <p:sp>
        <p:nvSpPr>
          <p:cNvPr id="10" name="Text 6"/>
          <p:cNvSpPr txBox="1"/>
          <p:nvPr/>
        </p:nvSpPr>
        <p:spPr>
          <a:xfrm>
            <a:off x="548640" y="4343400"/>
            <a:ext cx="3840480" cy="365760"/>
          </a:xfrm>
          <a:prstGeom prst="rect">
            <a:avLst/>
          </a:prstGeom>
          <a:noFill/>
          <a:ln/>
        </p:spPr>
        <p:txBody>
          <a:bodyPr wrap="square" lIns="0" tIns="0" rIns="0" bIns="0" rtlCol="0" anchor="t"/>
          <a:lstStyle/>
          <a:p>
            <a:pPr indent="0" marL="0">
              <a:buNone/>
            </a:pPr>
            <a:r>
              <a:rPr lang="en-US" sz="950" i="1" dirty="0">
                <a:solidFill>
                  <a:srgbClr val="1D3557"/>
                </a:solidFill>
                <a:latin typeface="Meiryo" pitchFamily="34" charset="0"/>
                <a:ea typeface="Meiryo" pitchFamily="34" charset="-122"/>
                <a:cs typeface="Meiryo" pitchFamily="34" charset="-120"/>
              </a:rPr>
              <a:t>俳優の出演契約には「AI学習・音声合成への利用は別途同意」を明記。</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228600"/>
          </a:xfrm>
          <a:prstGeom prst="rect">
            <a:avLst/>
          </a:prstGeom>
          <a:noFill/>
          <a:ln/>
        </p:spPr>
        <p:txBody>
          <a:bodyPr wrap="square" lIns="0" tIns="0" rIns="0" bIns="0" rtlCol="0" anchor="t"/>
          <a:lstStyle/>
          <a:p>
            <a:pPr indent="0" marL="0">
              <a:buNone/>
            </a:pPr>
            <a:r>
              <a:rPr lang="en-US" sz="1100" b="1" dirty="0">
                <a:solidFill>
                  <a:srgbClr val="E63946"/>
                </a:solidFill>
                <a:latin typeface="Meiryo" pitchFamily="34" charset="0"/>
                <a:ea typeface="Meiryo" pitchFamily="34" charset="-122"/>
                <a:cs typeface="Meiryo" pitchFamily="34" charset="-120"/>
              </a:rPr>
              <a:t>3. 商品設計</a:t>
            </a:r>
            <a:endParaRPr lang="en-US" sz="1100" dirty="0"/>
          </a:p>
        </p:txBody>
      </p:sp>
      <p:sp>
        <p:nvSpPr>
          <p:cNvPr id="3" name="Text 1"/>
          <p:cNvSpPr txBox="1"/>
          <p:nvPr/>
        </p:nvSpPr>
        <p:spPr>
          <a:xfrm>
            <a:off x="548640" y="548640"/>
            <a:ext cx="8046720" cy="548640"/>
          </a:xfrm>
          <a:prstGeom prst="rect">
            <a:avLst/>
          </a:prstGeom>
          <a:noFill/>
          <a:ln/>
        </p:spPr>
        <p:txBody>
          <a:bodyPr wrap="square" lIns="0" tIns="0" rIns="0" bIns="0" rtlCol="0" anchor="t"/>
          <a:lstStyle/>
          <a:p>
            <a:pPr indent="0" marL="0">
              <a:buNone/>
            </a:pPr>
            <a:r>
              <a:rPr lang="en-US" sz="2200" b="1" dirty="0">
                <a:solidFill>
                  <a:srgbClr val="111318"/>
                </a:solidFill>
                <a:latin typeface="Meiryo" pitchFamily="34" charset="0"/>
                <a:ea typeface="Meiryo" pitchFamily="34" charset="-122"/>
                <a:cs typeface="Meiryo" pitchFamily="34" charset="-120"/>
              </a:rPr>
              <a:t>パック・月額で売る。単発は入口のトライアルだけ</a:t>
            </a:r>
            <a:endParaRPr lang="en-US" sz="2200" dirty="0"/>
          </a:p>
        </p:txBody>
      </p:sp>
      <p:sp>
        <p:nvSpPr>
          <p:cNvPr id="4" name="Text 2"/>
          <p:cNvSpPr txBox="1"/>
          <p:nvPr/>
        </p:nvSpPr>
        <p:spPr>
          <a:xfrm>
            <a:off x="8229600" y="4754880"/>
            <a:ext cx="4572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pitchFamily="34" charset="0"/>
                <a:ea typeface="Meiryo" pitchFamily="34" charset="-122"/>
                <a:cs typeface="Meiryo" pitchFamily="34" charset="-120"/>
              </a:rPr>
              <a:t>12</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3931920" cy="914400"/>
        </p:xfrm>
        <a:graphic>
          <a:graphicData uri="http://schemas.openxmlformats.org/drawingml/2006/table">
            <a:tbl>
              <a:tblPr/>
              <a:tblGrid>
                <a:gridCol w="1097280"/>
                <a:gridCol w="1371600"/>
                <a:gridCol w="822960"/>
                <a:gridCol w="640080"/>
              </a:tblGrid>
              <a:tr h="329184">
                <a:tc>
                  <a:txBody>
                    <a:bodyPr/>
                    <a:lstStyle/>
                    <a:p>
                      <a:pPr indent="0" marL="0">
                        <a:buNone/>
                      </a:pPr>
                      <a:r>
                        <a:rPr lang="en-US" sz="950" b="1" dirty="0">
                          <a:solidFill>
                            <a:srgbClr val="FFFFFF"/>
                          </a:solidFill>
                          <a:latin typeface="Meiryo" pitchFamily="34" charset="0"/>
                          <a:ea typeface="Meiryo" pitchFamily="34" charset="-122"/>
                          <a:cs typeface="Meiryo" pitchFamily="34" charset="-120"/>
                        </a:rPr>
                        <a:t>AIドラマ</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111318"/>
                    </a:solidFill>
                  </a:tcPr>
                </a:tc>
                <a:tc>
                  <a:txBody>
                    <a:bodyPr/>
                    <a:lstStyle/>
                    <a:p>
                      <a:pPr indent="0" marL="0">
                        <a:buNone/>
                      </a:pPr>
                      <a:r>
                        <a:rPr lang="en-US" sz="950" b="1" dirty="0">
                          <a:solidFill>
                            <a:srgbClr val="FFFFFF"/>
                          </a:solidFill>
                          <a:latin typeface="Meiryo" pitchFamily="34" charset="0"/>
                          <a:ea typeface="Meiryo" pitchFamily="34" charset="-122"/>
                          <a:cs typeface="Meiryo" pitchFamily="34" charset="-120"/>
                        </a:rPr>
                        <a:t>内容</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111318"/>
                    </a:solidFill>
                  </a:tcPr>
                </a:tc>
                <a:tc>
                  <a:txBody>
                    <a:bodyPr/>
                    <a:lstStyle/>
                    <a:p>
                      <a:pPr indent="0" marL="0">
                        <a:buNone/>
                      </a:pPr>
                      <a:r>
                        <a:rPr lang="en-US" sz="950" b="1" dirty="0">
                          <a:solidFill>
                            <a:srgbClr val="FFFFFF"/>
                          </a:solidFill>
                          <a:latin typeface="Meiryo" pitchFamily="34" charset="0"/>
                          <a:ea typeface="Meiryo" pitchFamily="34" charset="-122"/>
                          <a:cs typeface="Meiryo" pitchFamily="34" charset="-120"/>
                        </a:rPr>
                        <a:t>価格</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111318"/>
                    </a:solidFill>
                  </a:tcPr>
                </a:tc>
                <a:tc>
                  <a:txBody>
                    <a:bodyPr/>
                    <a:lstStyle/>
                    <a:p>
                      <a:pPr indent="0" marL="0">
                        <a:buNone/>
                      </a:pPr>
                      <a:r>
                        <a:rPr lang="en-US" sz="950" b="1" dirty="0">
                          <a:solidFill>
                            <a:srgbClr val="FFFFFF"/>
                          </a:solidFill>
                          <a:latin typeface="Meiryo" pitchFamily="34" charset="0"/>
                          <a:ea typeface="Meiryo" pitchFamily="34" charset="-122"/>
                          <a:cs typeface="Meiryo" pitchFamily="34" charset="-120"/>
                        </a:rPr>
                        <a:t>1話換算</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111318"/>
                    </a:solidFill>
                  </a:tcPr>
                </a:tc>
              </a:tr>
              <a:tr h="329184">
                <a:tc>
                  <a:txBody>
                    <a:bodyPr/>
                    <a:lstStyle/>
                    <a:p>
                      <a:pPr indent="0" marL="0">
                        <a:buNone/>
                      </a:pPr>
                      <a:r>
                        <a:rPr lang="en-US" sz="950" b="1" dirty="0">
                          <a:solidFill>
                            <a:srgbClr val="1F2430"/>
                          </a:solidFill>
                          <a:latin typeface="Meiryo" pitchFamily="34" charset="0"/>
                          <a:ea typeface="Meiryo" pitchFamily="34" charset="-122"/>
                          <a:cs typeface="Meiryo" pitchFamily="34" charset="-120"/>
                        </a:rPr>
                        <a:t>トライアル</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950" dirty="0">
                          <a:solidFill>
                            <a:srgbClr val="1F2430"/>
                          </a:solidFill>
                          <a:latin typeface="Meiryo" pitchFamily="34" charset="0"/>
                          <a:ea typeface="Meiryo" pitchFamily="34" charset="-122"/>
                          <a:cs typeface="Meiryo" pitchFamily="34" charset="-120"/>
                        </a:rPr>
                        <a:t>1話（初回限定）</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950" dirty="0">
                          <a:solidFill>
                            <a:srgbClr val="1F2430"/>
                          </a:solidFill>
                          <a:latin typeface="Meiryo" pitchFamily="34" charset="0"/>
                          <a:ea typeface="Meiryo" pitchFamily="34" charset="-122"/>
                          <a:cs typeface="Meiryo" pitchFamily="34" charset="-120"/>
                        </a:rPr>
                        <a:t>5万円</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950" dirty="0">
                          <a:solidFill>
                            <a:srgbClr val="1F2430"/>
                          </a:solidFill>
                          <a:latin typeface="Meiryo" pitchFamily="34" charset="0"/>
                          <a:ea typeface="Meiryo" pitchFamily="34" charset="-122"/>
                          <a:cs typeface="Meiryo" pitchFamily="34" charset="-120"/>
                        </a:rPr>
                        <a:t>5万</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r>
              <a:tr h="329184">
                <a:tc>
                  <a:txBody>
                    <a:bodyPr/>
                    <a:lstStyle/>
                    <a:p>
                      <a:pPr indent="0" marL="0">
                        <a:buNone/>
                      </a:pPr>
                      <a:r>
                        <a:rPr lang="en-US" sz="950" b="1" dirty="0">
                          <a:solidFill>
                            <a:srgbClr val="1F2430"/>
                          </a:solidFill>
                          <a:latin typeface="Meiryo" pitchFamily="34" charset="0"/>
                          <a:ea typeface="Meiryo" pitchFamily="34" charset="-122"/>
                          <a:cs typeface="Meiryo" pitchFamily="34" charset="-120"/>
                        </a:rPr>
                        <a:t>6話パック</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c>
                  <a:txBody>
                    <a:bodyPr/>
                    <a:lstStyle/>
                    <a:p>
                      <a:pPr indent="0" marL="0">
                        <a:buNone/>
                      </a:pPr>
                      <a:r>
                        <a:rPr lang="en-US" sz="950" dirty="0">
                          <a:solidFill>
                            <a:srgbClr val="1F2430"/>
                          </a:solidFill>
                          <a:latin typeface="Meiryo" pitchFamily="34" charset="0"/>
                          <a:ea typeface="Meiryo" pitchFamily="34" charset="-122"/>
                          <a:cs typeface="Meiryo" pitchFamily="34" charset="-120"/>
                        </a:rPr>
                        <a:t>キャラ設計＋6話</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c>
                  <a:txBody>
                    <a:bodyPr/>
                    <a:lstStyle/>
                    <a:p>
                      <a:pPr indent="0" marL="0">
                        <a:buNone/>
                      </a:pPr>
                      <a:r>
                        <a:rPr lang="en-US" sz="950" dirty="0">
                          <a:solidFill>
                            <a:srgbClr val="1F2430"/>
                          </a:solidFill>
                          <a:latin typeface="Meiryo" pitchFamily="34" charset="0"/>
                          <a:ea typeface="Meiryo" pitchFamily="34" charset="-122"/>
                          <a:cs typeface="Meiryo" pitchFamily="34" charset="-120"/>
                        </a:rPr>
                        <a:t>54万円</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c>
                  <a:txBody>
                    <a:bodyPr/>
                    <a:lstStyle/>
                    <a:p>
                      <a:pPr indent="0" marL="0">
                        <a:buNone/>
                      </a:pPr>
                      <a:r>
                        <a:rPr lang="en-US" sz="950" dirty="0">
                          <a:solidFill>
                            <a:srgbClr val="1F2430"/>
                          </a:solidFill>
                          <a:latin typeface="Meiryo" pitchFamily="34" charset="0"/>
                          <a:ea typeface="Meiryo" pitchFamily="34" charset="-122"/>
                          <a:cs typeface="Meiryo" pitchFamily="34" charset="-120"/>
                        </a:rPr>
                        <a:t>9万</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r>
              <a:tr h="329184">
                <a:tc>
                  <a:txBody>
                    <a:bodyPr/>
                    <a:lstStyle/>
                    <a:p>
                      <a:pPr indent="0" marL="0">
                        <a:buNone/>
                      </a:pPr>
                      <a:r>
                        <a:rPr lang="en-US" sz="950" b="1" dirty="0">
                          <a:solidFill>
                            <a:srgbClr val="1F2430"/>
                          </a:solidFill>
                          <a:latin typeface="Meiryo" pitchFamily="34" charset="0"/>
                          <a:ea typeface="Meiryo" pitchFamily="34" charset="-122"/>
                          <a:cs typeface="Meiryo" pitchFamily="34" charset="-120"/>
                        </a:rPr>
                        <a:t>12話パック</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950" dirty="0">
                          <a:solidFill>
                            <a:srgbClr val="1F2430"/>
                          </a:solidFill>
                          <a:latin typeface="Meiryo" pitchFamily="34" charset="0"/>
                          <a:ea typeface="Meiryo" pitchFamily="34" charset="-122"/>
                          <a:cs typeface="Meiryo" pitchFamily="34" charset="-120"/>
                        </a:rPr>
                        <a:t>キャラ設計＋12話</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950" dirty="0">
                          <a:solidFill>
                            <a:srgbClr val="1F2430"/>
                          </a:solidFill>
                          <a:latin typeface="Meiryo" pitchFamily="34" charset="0"/>
                          <a:ea typeface="Meiryo" pitchFamily="34" charset="-122"/>
                          <a:cs typeface="Meiryo" pitchFamily="34" charset="-120"/>
                        </a:rPr>
                        <a:t>96万円</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950" dirty="0">
                          <a:solidFill>
                            <a:srgbClr val="1F2430"/>
                          </a:solidFill>
                          <a:latin typeface="Meiryo" pitchFamily="34" charset="0"/>
                          <a:ea typeface="Meiryo" pitchFamily="34" charset="-122"/>
                          <a:cs typeface="Meiryo" pitchFamily="34" charset="-120"/>
                        </a:rPr>
                        <a:t>8万</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r>
              <a:tr h="329184">
                <a:tc>
                  <a:txBody>
                    <a:bodyPr/>
                    <a:lstStyle/>
                    <a:p>
                      <a:pPr indent="0" marL="0">
                        <a:buNone/>
                      </a:pPr>
                      <a:r>
                        <a:rPr lang="en-US" sz="950" b="1" dirty="0">
                          <a:solidFill>
                            <a:srgbClr val="1F2430"/>
                          </a:solidFill>
                          <a:latin typeface="Meiryo" pitchFamily="34" charset="0"/>
                          <a:ea typeface="Meiryo" pitchFamily="34" charset="-122"/>
                          <a:cs typeface="Meiryo" pitchFamily="34" charset="-120"/>
                        </a:rPr>
                        <a:t>月額AIライト</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c>
                  <a:txBody>
                    <a:bodyPr/>
                    <a:lstStyle/>
                    <a:p>
                      <a:pPr indent="0" marL="0">
                        <a:buNone/>
                      </a:pPr>
                      <a:r>
                        <a:rPr lang="en-US" sz="950" dirty="0">
                          <a:solidFill>
                            <a:srgbClr val="1F2430"/>
                          </a:solidFill>
                          <a:latin typeface="Meiryo" pitchFamily="34" charset="0"/>
                          <a:ea typeface="Meiryo" pitchFamily="34" charset="-122"/>
                          <a:cs typeface="Meiryo" pitchFamily="34" charset="-120"/>
                        </a:rPr>
                        <a:t>月4話＋投稿代行</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c>
                  <a:txBody>
                    <a:bodyPr/>
                    <a:lstStyle/>
                    <a:p>
                      <a:pPr indent="0" marL="0">
                        <a:buNone/>
                      </a:pPr>
                      <a:r>
                        <a:rPr lang="en-US" sz="950" dirty="0">
                          <a:solidFill>
                            <a:srgbClr val="1F2430"/>
                          </a:solidFill>
                          <a:latin typeface="Meiryo" pitchFamily="34" charset="0"/>
                          <a:ea typeface="Meiryo" pitchFamily="34" charset="-122"/>
                          <a:cs typeface="Meiryo" pitchFamily="34" charset="-120"/>
                        </a:rPr>
                        <a:t>38万円/月</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c>
                  <a:txBody>
                    <a:bodyPr/>
                    <a:lstStyle/>
                    <a:p>
                      <a:pPr indent="0" marL="0">
                        <a:buNone/>
                      </a:pPr>
                      <a:r>
                        <a:rPr lang="en-US" sz="950" dirty="0">
                          <a:solidFill>
                            <a:srgbClr val="1F2430"/>
                          </a:solidFill>
                          <a:latin typeface="Meiryo" pitchFamily="34" charset="0"/>
                          <a:ea typeface="Meiryo" pitchFamily="34" charset="-122"/>
                          <a:cs typeface="Meiryo" pitchFamily="34" charset="-120"/>
                        </a:rPr>
                        <a:t>9.5万</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r>
            </a:tbl>
          </a:graphicData>
        </a:graphic>
      </p:graphicFrame>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4663440" y="1280160"/>
          <a:ext cx="3931920" cy="914400"/>
        </p:xfrm>
        <a:graphic>
          <a:graphicData uri="http://schemas.openxmlformats.org/drawingml/2006/table">
            <a:tbl>
              <a:tblPr/>
              <a:tblGrid>
                <a:gridCol w="1417320"/>
                <a:gridCol w="1234440"/>
                <a:gridCol w="731520"/>
                <a:gridCol w="548640"/>
              </a:tblGrid>
              <a:tr h="329184">
                <a:tc>
                  <a:txBody>
                    <a:bodyPr/>
                    <a:lstStyle/>
                    <a:p>
                      <a:pPr indent="0" marL="0">
                        <a:buNone/>
                      </a:pPr>
                      <a:r>
                        <a:rPr lang="en-US" sz="900" b="1" dirty="0">
                          <a:solidFill>
                            <a:srgbClr val="FFFFFF"/>
                          </a:solidFill>
                          <a:latin typeface="Meiryo" pitchFamily="34" charset="0"/>
                          <a:ea typeface="Meiryo" pitchFamily="34" charset="-122"/>
                          <a:cs typeface="Meiryo" pitchFamily="34" charset="-120"/>
                        </a:rPr>
                        <a:t>実写ドラマ</a:t>
                      </a:r>
                      <a:endParaRPr lang="en-US" sz="9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111318"/>
                    </a:solidFill>
                  </a:tcPr>
                </a:tc>
                <a:tc>
                  <a:txBody>
                    <a:bodyPr/>
                    <a:lstStyle/>
                    <a:p>
                      <a:pPr indent="0" marL="0">
                        <a:buNone/>
                      </a:pPr>
                      <a:r>
                        <a:rPr lang="en-US" sz="900" b="1" dirty="0">
                          <a:solidFill>
                            <a:srgbClr val="FFFFFF"/>
                          </a:solidFill>
                          <a:latin typeface="Meiryo" pitchFamily="34" charset="0"/>
                          <a:ea typeface="Meiryo" pitchFamily="34" charset="-122"/>
                          <a:cs typeface="Meiryo" pitchFamily="34" charset="-120"/>
                        </a:rPr>
                        <a:t>内容</a:t>
                      </a:r>
                      <a:endParaRPr lang="en-US" sz="9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111318"/>
                    </a:solidFill>
                  </a:tcPr>
                </a:tc>
                <a:tc>
                  <a:txBody>
                    <a:bodyPr/>
                    <a:lstStyle/>
                    <a:p>
                      <a:pPr indent="0" marL="0">
                        <a:buNone/>
                      </a:pPr>
                      <a:r>
                        <a:rPr lang="en-US" sz="900" b="1" dirty="0">
                          <a:solidFill>
                            <a:srgbClr val="FFFFFF"/>
                          </a:solidFill>
                          <a:latin typeface="Meiryo" pitchFamily="34" charset="0"/>
                          <a:ea typeface="Meiryo" pitchFamily="34" charset="-122"/>
                          <a:cs typeface="Meiryo" pitchFamily="34" charset="-120"/>
                        </a:rPr>
                        <a:t>価格</a:t>
                      </a:r>
                      <a:endParaRPr lang="en-US" sz="9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111318"/>
                    </a:solidFill>
                  </a:tcPr>
                </a:tc>
                <a:tc>
                  <a:txBody>
                    <a:bodyPr/>
                    <a:lstStyle/>
                    <a:p>
                      <a:pPr indent="0" marL="0">
                        <a:buNone/>
                      </a:pPr>
                      <a:r>
                        <a:rPr lang="en-US" sz="900" b="1" dirty="0">
                          <a:solidFill>
                            <a:srgbClr val="FFFFFF"/>
                          </a:solidFill>
                          <a:latin typeface="Meiryo" pitchFamily="34" charset="0"/>
                          <a:ea typeface="Meiryo" pitchFamily="34" charset="-122"/>
                          <a:cs typeface="Meiryo" pitchFamily="34" charset="-120"/>
                        </a:rPr>
                        <a:t>1話換算</a:t>
                      </a:r>
                      <a:endParaRPr lang="en-US" sz="9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111318"/>
                    </a:solidFill>
                  </a:tcPr>
                </a:tc>
              </a:tr>
              <a:tr h="329184">
                <a:tc>
                  <a:txBody>
                    <a:bodyPr/>
                    <a:lstStyle/>
                    <a:p>
                      <a:pPr indent="0" marL="0">
                        <a:buNone/>
                      </a:pPr>
                      <a:r>
                        <a:rPr lang="en-US" sz="900" b="1" dirty="0">
                          <a:solidFill>
                            <a:srgbClr val="1F2430"/>
                          </a:solidFill>
                          <a:latin typeface="Meiryo" pitchFamily="34" charset="0"/>
                          <a:ea typeface="Meiryo" pitchFamily="34" charset="-122"/>
                          <a:cs typeface="Meiryo" pitchFamily="34" charset="-120"/>
                        </a:rPr>
                        <a:t>4話パック</a:t>
                      </a:r>
                      <a:endParaRPr lang="en-US" sz="9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900" dirty="0">
                          <a:solidFill>
                            <a:srgbClr val="1F2430"/>
                          </a:solidFill>
                          <a:latin typeface="Meiryo" pitchFamily="34" charset="0"/>
                          <a:ea typeface="Meiryo" pitchFamily="34" charset="-122"/>
                          <a:cs typeface="Meiryo" pitchFamily="34" charset="-120"/>
                        </a:rPr>
                        <a:t>1撮影日、4話</a:t>
                      </a:r>
                      <a:endParaRPr lang="en-US" sz="9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900" dirty="0">
                          <a:solidFill>
                            <a:srgbClr val="1F2430"/>
                          </a:solidFill>
                          <a:latin typeface="Meiryo" pitchFamily="34" charset="0"/>
                          <a:ea typeface="Meiryo" pitchFamily="34" charset="-122"/>
                          <a:cs typeface="Meiryo" pitchFamily="34" charset="-120"/>
                        </a:rPr>
                        <a:t>108万円</a:t>
                      </a:r>
                      <a:endParaRPr lang="en-US" sz="9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900" dirty="0">
                          <a:solidFill>
                            <a:srgbClr val="1F2430"/>
                          </a:solidFill>
                          <a:latin typeface="Meiryo" pitchFamily="34" charset="0"/>
                          <a:ea typeface="Meiryo" pitchFamily="34" charset="-122"/>
                          <a:cs typeface="Meiryo" pitchFamily="34" charset="-120"/>
                        </a:rPr>
                        <a:t>27万</a:t>
                      </a:r>
                      <a:endParaRPr lang="en-US" sz="9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r>
              <a:tr h="329184">
                <a:tc>
                  <a:txBody>
                    <a:bodyPr/>
                    <a:lstStyle/>
                    <a:p>
                      <a:pPr indent="0" marL="0">
                        <a:buNone/>
                      </a:pPr>
                      <a:r>
                        <a:rPr lang="en-US" sz="900" b="1" dirty="0">
                          <a:solidFill>
                            <a:srgbClr val="1F2430"/>
                          </a:solidFill>
                          <a:latin typeface="Meiryo" pitchFamily="34" charset="0"/>
                          <a:ea typeface="Meiryo" pitchFamily="34" charset="-122"/>
                          <a:cs typeface="Meiryo" pitchFamily="34" charset="-120"/>
                        </a:rPr>
                        <a:t>8話パック</a:t>
                      </a:r>
                      <a:endParaRPr lang="en-US" sz="9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c>
                  <a:txBody>
                    <a:bodyPr/>
                    <a:lstStyle/>
                    <a:p>
                      <a:pPr indent="0" marL="0">
                        <a:buNone/>
                      </a:pPr>
                      <a:r>
                        <a:rPr lang="en-US" sz="900" dirty="0">
                          <a:solidFill>
                            <a:srgbClr val="1F2430"/>
                          </a:solidFill>
                          <a:latin typeface="Meiryo" pitchFamily="34" charset="0"/>
                          <a:ea typeface="Meiryo" pitchFamily="34" charset="-122"/>
                          <a:cs typeface="Meiryo" pitchFamily="34" charset="-120"/>
                        </a:rPr>
                        <a:t>2撮影日、8話</a:t>
                      </a:r>
                      <a:endParaRPr lang="en-US" sz="9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c>
                  <a:txBody>
                    <a:bodyPr/>
                    <a:lstStyle/>
                    <a:p>
                      <a:pPr indent="0" marL="0">
                        <a:buNone/>
                      </a:pPr>
                      <a:r>
                        <a:rPr lang="en-US" sz="900" dirty="0">
                          <a:solidFill>
                            <a:srgbClr val="1F2430"/>
                          </a:solidFill>
                          <a:latin typeface="Meiryo" pitchFamily="34" charset="0"/>
                          <a:ea typeface="Meiryo" pitchFamily="34" charset="-122"/>
                          <a:cs typeface="Meiryo" pitchFamily="34" charset="-120"/>
                        </a:rPr>
                        <a:t>200万円</a:t>
                      </a:r>
                      <a:endParaRPr lang="en-US" sz="9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c>
                  <a:txBody>
                    <a:bodyPr/>
                    <a:lstStyle/>
                    <a:p>
                      <a:pPr indent="0" marL="0">
                        <a:buNone/>
                      </a:pPr>
                      <a:r>
                        <a:rPr lang="en-US" sz="900" dirty="0">
                          <a:solidFill>
                            <a:srgbClr val="1F2430"/>
                          </a:solidFill>
                          <a:latin typeface="Meiryo" pitchFamily="34" charset="0"/>
                          <a:ea typeface="Meiryo" pitchFamily="34" charset="-122"/>
                          <a:cs typeface="Meiryo" pitchFamily="34" charset="-120"/>
                        </a:rPr>
                        <a:t>25万</a:t>
                      </a:r>
                      <a:endParaRPr lang="en-US" sz="9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r>
              <a:tr h="329184">
                <a:tc>
                  <a:txBody>
                    <a:bodyPr/>
                    <a:lstStyle/>
                    <a:p>
                      <a:pPr indent="0" marL="0">
                        <a:buNone/>
                      </a:pPr>
                      <a:r>
                        <a:rPr lang="en-US" sz="900" b="1" dirty="0">
                          <a:solidFill>
                            <a:srgbClr val="1F2430"/>
                          </a:solidFill>
                          <a:latin typeface="Meiryo" pitchFamily="34" charset="0"/>
                          <a:ea typeface="Meiryo" pitchFamily="34" charset="-122"/>
                          <a:cs typeface="Meiryo" pitchFamily="34" charset="-120"/>
                        </a:rPr>
                        <a:t>月額実写スタンダード</a:t>
                      </a:r>
                      <a:endParaRPr lang="en-US" sz="9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900" dirty="0">
                          <a:solidFill>
                            <a:srgbClr val="1F2430"/>
                          </a:solidFill>
                          <a:latin typeface="Meiryo" pitchFamily="34" charset="0"/>
                          <a:ea typeface="Meiryo" pitchFamily="34" charset="-122"/>
                          <a:cs typeface="Meiryo" pitchFamily="34" charset="-120"/>
                        </a:rPr>
                        <a:t>月4話＋運用・分析</a:t>
                      </a:r>
                      <a:endParaRPr lang="en-US" sz="9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900" dirty="0">
                          <a:solidFill>
                            <a:srgbClr val="1F2430"/>
                          </a:solidFill>
                          <a:latin typeface="Meiryo" pitchFamily="34" charset="0"/>
                          <a:ea typeface="Meiryo" pitchFamily="34" charset="-122"/>
                          <a:cs typeface="Meiryo" pitchFamily="34" charset="-120"/>
                        </a:rPr>
                        <a:t>130万円/月</a:t>
                      </a:r>
                      <a:endParaRPr lang="en-US" sz="9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900" dirty="0">
                          <a:solidFill>
                            <a:srgbClr val="1F2430"/>
                          </a:solidFill>
                          <a:latin typeface="Meiryo" pitchFamily="34" charset="0"/>
                          <a:ea typeface="Meiryo" pitchFamily="34" charset="-122"/>
                          <a:cs typeface="Meiryo" pitchFamily="34" charset="-120"/>
                        </a:rPr>
                        <a:t>32.5万</a:t>
                      </a:r>
                      <a:endParaRPr lang="en-US" sz="9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r>
              <a:tr h="329184">
                <a:tc>
                  <a:txBody>
                    <a:bodyPr/>
                    <a:lstStyle/>
                    <a:p>
                      <a:pPr indent="0" marL="0">
                        <a:buNone/>
                      </a:pPr>
                      <a:r>
                        <a:rPr lang="en-US" sz="900" b="1" dirty="0">
                          <a:solidFill>
                            <a:srgbClr val="1F2430"/>
                          </a:solidFill>
                          <a:latin typeface="Meiryo" pitchFamily="34" charset="0"/>
                          <a:ea typeface="Meiryo" pitchFamily="34" charset="-122"/>
                          <a:cs typeface="Meiryo" pitchFamily="34" charset="-120"/>
                        </a:rPr>
                        <a:t>ハイブリッド</a:t>
                      </a:r>
                      <a:endParaRPr lang="en-US" sz="9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c>
                  <a:txBody>
                    <a:bodyPr/>
                    <a:lstStyle/>
                    <a:p>
                      <a:pPr indent="0" marL="0">
                        <a:buNone/>
                      </a:pPr>
                      <a:r>
                        <a:rPr lang="en-US" sz="900" dirty="0">
                          <a:solidFill>
                            <a:srgbClr val="1F2430"/>
                          </a:solidFill>
                          <a:latin typeface="Meiryo" pitchFamily="34" charset="0"/>
                          <a:ea typeface="Meiryo" pitchFamily="34" charset="-122"/>
                          <a:cs typeface="Meiryo" pitchFamily="34" charset="-120"/>
                        </a:rPr>
                        <a:t>AI背景・回想（オプション）</a:t>
                      </a:r>
                      <a:endParaRPr lang="en-US" sz="9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c>
                  <a:txBody>
                    <a:bodyPr/>
                    <a:lstStyle/>
                    <a:p>
                      <a:pPr indent="0" marL="0">
                        <a:buNone/>
                      </a:pPr>
                      <a:r>
                        <a:rPr lang="en-US" sz="900" dirty="0">
                          <a:solidFill>
                            <a:srgbClr val="1F2430"/>
                          </a:solidFill>
                          <a:latin typeface="Meiryo" pitchFamily="34" charset="0"/>
                          <a:ea typeface="Meiryo" pitchFamily="34" charset="-122"/>
                          <a:cs typeface="Meiryo" pitchFamily="34" charset="-120"/>
                        </a:rPr>
                        <a:t>＋5万/話</a:t>
                      </a:r>
                      <a:endParaRPr lang="en-US" sz="9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c>
                  <a:txBody>
                    <a:bodyPr/>
                    <a:lstStyle/>
                    <a:p>
                      <a:pPr indent="0" marL="0">
                        <a:buNone/>
                      </a:pPr>
                      <a:r>
                        <a:rPr lang="en-US" sz="900" dirty="0">
                          <a:solidFill>
                            <a:srgbClr val="1F2430"/>
                          </a:solidFill>
                          <a:latin typeface="Meiryo" pitchFamily="34" charset="0"/>
                          <a:ea typeface="Meiryo" pitchFamily="34" charset="-122"/>
                          <a:cs typeface="Meiryo" pitchFamily="34" charset="-120"/>
                        </a:rPr>
                        <a:t>—</a:t>
                      </a:r>
                      <a:endParaRPr lang="en-US" sz="90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548640" y="3200400"/>
            <a:ext cx="8046720" cy="274320"/>
          </a:xfrm>
          <a:prstGeom prst="rect">
            <a:avLst/>
          </a:prstGeom>
          <a:noFill/>
          <a:ln/>
        </p:spPr>
        <p:txBody>
          <a:bodyPr wrap="square" lIns="0" tIns="0" rIns="0" bIns="0" rtlCol="0" anchor="t"/>
          <a:lstStyle/>
          <a:p>
            <a:pPr indent="0" marL="0">
              <a:buNone/>
            </a:pPr>
            <a:r>
              <a:rPr lang="en-US" sz="1250" b="1" dirty="0">
                <a:solidFill>
                  <a:srgbClr val="111318"/>
                </a:solidFill>
                <a:latin typeface="Meiryo" pitchFamily="34" charset="0"/>
                <a:ea typeface="Meiryo" pitchFamily="34" charset="-122"/>
                <a:cs typeface="Meiryo" pitchFamily="34" charset="-120"/>
              </a:rPr>
              <a:t>オプション（月商の3本目の柱）</a:t>
            </a:r>
            <a:endParaRPr lang="en-US" sz="1250" dirty="0"/>
          </a:p>
        </p:txBody>
      </p:sp>
      <p:graphicFrame>
        <p:nvGraphicFramePr>
          <p:cNvPr id="37" name="Table 2"/>
          <p:cNvGraphicFramePr>
            <a:graphicFrameLocks noGrp="1"/>
          </p:cNvGraphicFramePr>
          <p:nvPr>
            <p:extLst>
              <p:ext uri="{D42A27DB-BD31-4B8C-83A1-F6EECF244321}">
                <p14:modId xmlns:p14="http://schemas.microsoft.com/office/powerpoint/2010/main" val="1579011935"/>
              </p:ext>
            </p:extLst>
          </p:nvPr>
        </p:nvGraphicFramePr>
        <p:xfrm>
          <a:off x="548640" y="3520440"/>
          <a:ext cx="8046720" cy="914400"/>
        </p:xfrm>
        <a:graphic>
          <a:graphicData uri="http://schemas.openxmlformats.org/drawingml/2006/table">
            <a:tbl>
              <a:tblPr/>
              <a:tblGrid>
                <a:gridCol w="2011680"/>
                <a:gridCol w="1554480"/>
                <a:gridCol w="4480560"/>
              </a:tblGrid>
              <a:tr h="228600">
                <a:tc>
                  <a:txBody>
                    <a:bodyPr/>
                    <a:lstStyle/>
                    <a:p>
                      <a:pPr indent="0" marL="0">
                        <a:buNone/>
                      </a:pPr>
                      <a:r>
                        <a:rPr lang="en-US" sz="850" b="1" dirty="0">
                          <a:solidFill>
                            <a:srgbClr val="FFFFFF"/>
                          </a:solidFill>
                          <a:latin typeface="Meiryo" pitchFamily="34" charset="0"/>
                          <a:ea typeface="Meiryo" pitchFamily="34" charset="-122"/>
                          <a:cs typeface="Meiryo" pitchFamily="34" charset="-120"/>
                        </a:rPr>
                        <a:t>オプション</a:t>
                      </a:r>
                      <a:endParaRPr lang="en-US" sz="8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111318"/>
                    </a:solidFill>
                  </a:tcPr>
                </a:tc>
                <a:tc>
                  <a:txBody>
                    <a:bodyPr/>
                    <a:lstStyle/>
                    <a:p>
                      <a:pPr indent="0" marL="0">
                        <a:buNone/>
                      </a:pPr>
                      <a:r>
                        <a:rPr lang="en-US" sz="850" b="1" dirty="0">
                          <a:solidFill>
                            <a:srgbClr val="FFFFFF"/>
                          </a:solidFill>
                          <a:latin typeface="Meiryo" pitchFamily="34" charset="0"/>
                          <a:ea typeface="Meiryo" pitchFamily="34" charset="-122"/>
                          <a:cs typeface="Meiryo" pitchFamily="34" charset="-120"/>
                        </a:rPr>
                        <a:t>価格</a:t>
                      </a:r>
                      <a:endParaRPr lang="en-US" sz="8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111318"/>
                    </a:solidFill>
                  </a:tcPr>
                </a:tc>
                <a:tc>
                  <a:txBody>
                    <a:bodyPr/>
                    <a:lstStyle/>
                    <a:p>
                      <a:pPr indent="0" marL="0">
                        <a:buNone/>
                      </a:pPr>
                      <a:r>
                        <a:rPr lang="en-US" sz="850" b="1" dirty="0">
                          <a:solidFill>
                            <a:srgbClr val="FFFFFF"/>
                          </a:solidFill>
                          <a:latin typeface="Meiryo" pitchFamily="34" charset="0"/>
                          <a:ea typeface="Meiryo" pitchFamily="34" charset="-122"/>
                          <a:cs typeface="Meiryo" pitchFamily="34" charset="-120"/>
                        </a:rPr>
                        <a:t>備考</a:t>
                      </a:r>
                      <a:endParaRPr lang="en-US" sz="8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111318"/>
                    </a:solidFill>
                  </a:tcPr>
                </a:tc>
              </a:tr>
              <a:tr h="228600">
                <a:tc>
                  <a:txBody>
                    <a:bodyPr/>
                    <a:lstStyle/>
                    <a:p>
                      <a:pPr indent="0" marL="0">
                        <a:buNone/>
                      </a:pPr>
                      <a:r>
                        <a:rPr lang="en-US" sz="850" dirty="0">
                          <a:solidFill>
                            <a:srgbClr val="1F2430"/>
                          </a:solidFill>
                          <a:latin typeface="Meiryo" pitchFamily="34" charset="0"/>
                          <a:ea typeface="Meiryo" pitchFamily="34" charset="-122"/>
                          <a:cs typeface="Meiryo" pitchFamily="34" charset="-120"/>
                        </a:rPr>
                        <a:t>SNS投稿・コメント運用代行</a:t>
                      </a:r>
                      <a:endParaRPr lang="en-US" sz="8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850" dirty="0">
                          <a:solidFill>
                            <a:srgbClr val="1F2430"/>
                          </a:solidFill>
                          <a:latin typeface="Meiryo" pitchFamily="34" charset="0"/>
                          <a:ea typeface="Meiryo" pitchFamily="34" charset="-122"/>
                          <a:cs typeface="Meiryo" pitchFamily="34" charset="-120"/>
                        </a:rPr>
                        <a:t>5〜10万/月</a:t>
                      </a:r>
                      <a:endParaRPr lang="en-US" sz="8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850" dirty="0">
                          <a:solidFill>
                            <a:srgbClr val="1F2430"/>
                          </a:solidFill>
                          <a:latin typeface="Meiryo" pitchFamily="34" charset="0"/>
                          <a:ea typeface="Meiryo" pitchFamily="34" charset="-122"/>
                          <a:cs typeface="Meiryo" pitchFamily="34" charset="-120"/>
                        </a:rPr>
                        <a:t>運用代行相場は月10〜50万。中小の中心帯は5〜10万</a:t>
                      </a:r>
                      <a:endParaRPr lang="en-US" sz="8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r>
              <a:tr h="228600">
                <a:tc>
                  <a:txBody>
                    <a:bodyPr/>
                    <a:lstStyle/>
                    <a:p>
                      <a:pPr indent="0" marL="0">
                        <a:buNone/>
                      </a:pPr>
                      <a:r>
                        <a:rPr lang="en-US" sz="850" dirty="0">
                          <a:solidFill>
                            <a:srgbClr val="1F2430"/>
                          </a:solidFill>
                          <a:latin typeface="Meiryo" pitchFamily="34" charset="0"/>
                          <a:ea typeface="Meiryo" pitchFamily="34" charset="-122"/>
                          <a:cs typeface="Meiryo" pitchFamily="34" charset="-120"/>
                        </a:rPr>
                        <a:t>Spark Ads / リール広告運用</a:t>
                      </a:r>
                      <a:endParaRPr lang="en-US" sz="8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c>
                  <a:txBody>
                    <a:bodyPr/>
                    <a:lstStyle/>
                    <a:p>
                      <a:pPr indent="0" marL="0">
                        <a:buNone/>
                      </a:pPr>
                      <a:r>
                        <a:rPr lang="en-US" sz="850" dirty="0">
                          <a:solidFill>
                            <a:srgbClr val="1F2430"/>
                          </a:solidFill>
                          <a:latin typeface="Meiryo" pitchFamily="34" charset="0"/>
                          <a:ea typeface="Meiryo" pitchFamily="34" charset="-122"/>
                          <a:cs typeface="Meiryo" pitchFamily="34" charset="-120"/>
                        </a:rPr>
                        <a:t>広告費の20%（最低5万）</a:t>
                      </a:r>
                      <a:endParaRPr lang="en-US" sz="8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c>
                  <a:txBody>
                    <a:bodyPr/>
                    <a:lstStyle/>
                    <a:p>
                      <a:pPr indent="0" marL="0">
                        <a:buNone/>
                      </a:pPr>
                      <a:r>
                        <a:rPr lang="en-US" sz="850" dirty="0">
                          <a:solidFill>
                            <a:srgbClr val="1F2430"/>
                          </a:solidFill>
                          <a:latin typeface="Meiryo" pitchFamily="34" charset="0"/>
                          <a:ea typeface="Meiryo" pitchFamily="34" charset="-122"/>
                          <a:cs typeface="Meiryo" pitchFamily="34" charset="-120"/>
                        </a:rPr>
                        <a:t>TikTok CPV 1〜5円、リールCPV 4〜8円、CPM 500〜1,500円</a:t>
                      </a:r>
                      <a:endParaRPr lang="en-US" sz="8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r>
              <a:tr h="228600">
                <a:tc>
                  <a:txBody>
                    <a:bodyPr/>
                    <a:lstStyle/>
                    <a:p>
                      <a:pPr indent="0" marL="0">
                        <a:buNone/>
                      </a:pPr>
                      <a:r>
                        <a:rPr lang="en-US" sz="850" dirty="0">
                          <a:solidFill>
                            <a:srgbClr val="1F2430"/>
                          </a:solidFill>
                          <a:latin typeface="Meiryo" pitchFamily="34" charset="0"/>
                          <a:ea typeface="Meiryo" pitchFamily="34" charset="-122"/>
                          <a:cs typeface="Meiryo" pitchFamily="34" charset="-120"/>
                        </a:rPr>
                        <a:t>多言語版（英・中・韓）</a:t>
                      </a:r>
                      <a:endParaRPr lang="en-US" sz="8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850" dirty="0">
                          <a:solidFill>
                            <a:srgbClr val="1F2430"/>
                          </a:solidFill>
                          <a:latin typeface="Meiryo" pitchFamily="34" charset="0"/>
                          <a:ea typeface="Meiryo" pitchFamily="34" charset="-122"/>
                          <a:cs typeface="Meiryo" pitchFamily="34" charset="-120"/>
                        </a:rPr>
                        <a:t>3万/話</a:t>
                      </a:r>
                      <a:endParaRPr lang="en-US" sz="8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850" dirty="0">
                          <a:solidFill>
                            <a:srgbClr val="1F2430"/>
                          </a:solidFill>
                          <a:latin typeface="Meiryo" pitchFamily="34" charset="0"/>
                          <a:ea typeface="Meiryo" pitchFamily="34" charset="-122"/>
                          <a:cs typeface="Meiryo" pitchFamily="34" charset="-120"/>
                        </a:rPr>
                        <a:t>AI軸と相性良。インバウンド事業者向け</a:t>
                      </a:r>
                      <a:endParaRPr lang="en-US" sz="8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r>
              <a:tr h="228600">
                <a:tc>
                  <a:txBody>
                    <a:bodyPr/>
                    <a:lstStyle/>
                    <a:p>
                      <a:pPr indent="0" marL="0">
                        <a:buNone/>
                      </a:pPr>
                      <a:r>
                        <a:rPr lang="en-US" sz="850" dirty="0">
                          <a:solidFill>
                            <a:srgbClr val="1F2430"/>
                          </a:solidFill>
                          <a:latin typeface="Meiryo" pitchFamily="34" charset="0"/>
                          <a:ea typeface="Meiryo" pitchFamily="34" charset="-122"/>
                          <a:cs typeface="Meiryo" pitchFamily="34" charset="-120"/>
                        </a:rPr>
                        <a:t>補助金申請サポート</a:t>
                      </a:r>
                      <a:endParaRPr lang="en-US" sz="8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c>
                  <a:txBody>
                    <a:bodyPr/>
                    <a:lstStyle/>
                    <a:p>
                      <a:pPr indent="0" marL="0">
                        <a:buNone/>
                      </a:pPr>
                      <a:r>
                        <a:rPr lang="en-US" sz="850" dirty="0">
                          <a:solidFill>
                            <a:srgbClr val="1F2430"/>
                          </a:solidFill>
                          <a:latin typeface="Meiryo" pitchFamily="34" charset="0"/>
                          <a:ea typeface="Meiryo" pitchFamily="34" charset="-122"/>
                          <a:cs typeface="Meiryo" pitchFamily="34" charset="-120"/>
                        </a:rPr>
                        <a:t>無料（成約条件）</a:t>
                      </a:r>
                      <a:endParaRPr lang="en-US" sz="8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c>
                  <a:txBody>
                    <a:bodyPr/>
                    <a:lstStyle/>
                    <a:p>
                      <a:pPr indent="0" marL="0">
                        <a:buNone/>
                      </a:pPr>
                      <a:r>
                        <a:rPr lang="en-US" sz="850" dirty="0">
                          <a:solidFill>
                            <a:srgbClr val="1F2430"/>
                          </a:solidFill>
                          <a:latin typeface="Meiryo" pitchFamily="34" charset="0"/>
                          <a:ea typeface="Meiryo" pitchFamily="34" charset="-122"/>
                          <a:cs typeface="Meiryo" pitchFamily="34" charset="-120"/>
                        </a:rPr>
                        <a:t>持続化補助金の動画費は補助額の1/4・最大50万まで。必ず説明</a:t>
                      </a:r>
                      <a:endParaRPr lang="en-US" sz="8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228600"/>
          </a:xfrm>
          <a:prstGeom prst="rect">
            <a:avLst/>
          </a:prstGeom>
          <a:noFill/>
          <a:ln/>
        </p:spPr>
        <p:txBody>
          <a:bodyPr wrap="square" lIns="0" tIns="0" rIns="0" bIns="0" rtlCol="0" anchor="t"/>
          <a:lstStyle/>
          <a:p>
            <a:pPr indent="0" marL="0">
              <a:buNone/>
            </a:pPr>
            <a:r>
              <a:rPr lang="en-US" sz="1100" b="1" dirty="0">
                <a:solidFill>
                  <a:srgbClr val="E63946"/>
                </a:solidFill>
                <a:latin typeface="Meiryo" pitchFamily="34" charset="0"/>
                <a:ea typeface="Meiryo" pitchFamily="34" charset="-122"/>
                <a:cs typeface="Meiryo" pitchFamily="34" charset="-120"/>
              </a:rPr>
              <a:t>4. ターゲット</a:t>
            </a:r>
            <a:endParaRPr lang="en-US" sz="1100" dirty="0"/>
          </a:p>
        </p:txBody>
      </p:sp>
      <p:sp>
        <p:nvSpPr>
          <p:cNvPr id="3" name="Text 1"/>
          <p:cNvSpPr txBox="1"/>
          <p:nvPr/>
        </p:nvSpPr>
        <p:spPr>
          <a:xfrm>
            <a:off x="548640" y="548640"/>
            <a:ext cx="8046720" cy="548640"/>
          </a:xfrm>
          <a:prstGeom prst="rect">
            <a:avLst/>
          </a:prstGeom>
          <a:noFill/>
          <a:ln/>
        </p:spPr>
        <p:txBody>
          <a:bodyPr wrap="square" lIns="0" tIns="0" rIns="0" bIns="0" rtlCol="0" anchor="t"/>
          <a:lstStyle/>
          <a:p>
            <a:pPr indent="0" marL="0">
              <a:buNone/>
            </a:pPr>
            <a:r>
              <a:rPr lang="en-US" sz="2200" b="1" dirty="0">
                <a:solidFill>
                  <a:srgbClr val="111318"/>
                </a:solidFill>
                <a:latin typeface="Meiryo" pitchFamily="34" charset="0"/>
                <a:ea typeface="Meiryo" pitchFamily="34" charset="-122"/>
                <a:cs typeface="Meiryo" pitchFamily="34" charset="-120"/>
              </a:rPr>
              <a:t>採用難の中小企業を最優先。次にローカル業とOEM</a:t>
            </a:r>
            <a:endParaRPr lang="en-US" sz="2200" dirty="0"/>
          </a:p>
        </p:txBody>
      </p:sp>
      <p:sp>
        <p:nvSpPr>
          <p:cNvPr id="4" name="Text 2"/>
          <p:cNvSpPr txBox="1"/>
          <p:nvPr/>
        </p:nvSpPr>
        <p:spPr>
          <a:xfrm>
            <a:off x="8229600" y="4754880"/>
            <a:ext cx="4572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pitchFamily="34" charset="0"/>
                <a:ea typeface="Meiryo" pitchFamily="34" charset="-122"/>
                <a:cs typeface="Meiryo" pitchFamily="34" charset="-120"/>
              </a:rPr>
              <a:t>13</a:t>
            </a:r>
            <a:endParaRPr lang="en-US" sz="900" dirty="0"/>
          </a:p>
        </p:txBody>
      </p:sp>
      <p:sp>
        <p:nvSpPr>
          <p:cNvPr id="5" name="Shape 3"/>
          <p:cNvSpPr/>
          <p:nvPr/>
        </p:nvSpPr>
        <p:spPr>
          <a:xfrm>
            <a:off x="548640" y="1234440"/>
            <a:ext cx="8046720" cy="603504"/>
          </a:xfrm>
          <a:prstGeom prst="roundRect">
            <a:avLst>
              <a:gd name="adj" fmla="val 12121"/>
            </a:avLst>
          </a:prstGeom>
          <a:solidFill>
            <a:srgbClr val="111318"/>
          </a:solidFill>
          <a:ln w="12700">
            <a:solidFill>
              <a:srgbClr val="111318"/>
            </a:solidFill>
            <a:prstDash val="solid"/>
          </a:ln>
        </p:spPr>
      </p:sp>
      <p:sp>
        <p:nvSpPr>
          <p:cNvPr id="6" name="Shape 4"/>
          <p:cNvSpPr/>
          <p:nvPr/>
        </p:nvSpPr>
        <p:spPr>
          <a:xfrm>
            <a:off x="685800" y="1353312"/>
            <a:ext cx="365760" cy="365760"/>
          </a:xfrm>
          <a:prstGeom prst="ellipse">
            <a:avLst/>
          </a:prstGeom>
          <a:solidFill>
            <a:srgbClr val="E63946"/>
          </a:solidFill>
          <a:ln w="12700">
            <a:solidFill>
              <a:srgbClr val="E63946"/>
            </a:solidFill>
            <a:prstDash val="solid"/>
          </a:ln>
        </p:spPr>
      </p:sp>
      <p:sp>
        <p:nvSpPr>
          <p:cNvPr id="7" name="Text 5"/>
          <p:cNvSpPr txBox="1"/>
          <p:nvPr/>
        </p:nvSpPr>
        <p:spPr>
          <a:xfrm>
            <a:off x="685800" y="135331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1</a:t>
            </a:r>
            <a:endParaRPr lang="en-US" sz="1200" dirty="0"/>
          </a:p>
        </p:txBody>
      </p:sp>
      <p:sp>
        <p:nvSpPr>
          <p:cNvPr id="8" name="Text 6"/>
          <p:cNvSpPr txBox="1"/>
          <p:nvPr/>
        </p:nvSpPr>
        <p:spPr>
          <a:xfrm>
            <a:off x="1188720" y="1307592"/>
            <a:ext cx="2377440" cy="274320"/>
          </a:xfrm>
          <a:prstGeom prst="rect">
            <a:avLst/>
          </a:prstGeom>
          <a:noFill/>
          <a:ln/>
        </p:spPr>
        <p:txBody>
          <a:bodyPr wrap="square" lIns="0" tIns="0" rIns="0" bIns="0" rtlCol="0" anchor="t"/>
          <a:lstStyle/>
          <a:p>
            <a:pPr indent="0" marL="0">
              <a:buNone/>
            </a:pPr>
            <a:r>
              <a:rPr lang="en-US" sz="1100" b="1" dirty="0">
                <a:solidFill>
                  <a:srgbClr val="FFFFFF"/>
                </a:solidFill>
                <a:latin typeface="Meiryo" pitchFamily="34" charset="0"/>
                <a:ea typeface="Meiryo" pitchFamily="34" charset="-122"/>
                <a:cs typeface="Meiryo" pitchFamily="34" charset="-120"/>
              </a:rPr>
              <a:t>採用に困る中小企業</a:t>
            </a:r>
            <a:endParaRPr lang="en-US" sz="1100" dirty="0"/>
          </a:p>
        </p:txBody>
      </p:sp>
      <p:sp>
        <p:nvSpPr>
          <p:cNvPr id="9" name="Text 7"/>
          <p:cNvSpPr txBox="1"/>
          <p:nvPr/>
        </p:nvSpPr>
        <p:spPr>
          <a:xfrm>
            <a:off x="1188720" y="1572768"/>
            <a:ext cx="2377440" cy="228600"/>
          </a:xfrm>
          <a:prstGeom prst="rect">
            <a:avLst/>
          </a:prstGeom>
          <a:noFill/>
          <a:ln/>
        </p:spPr>
        <p:txBody>
          <a:bodyPr wrap="square" lIns="0" tIns="0" rIns="0" bIns="0" rtlCol="0" anchor="t"/>
          <a:lstStyle/>
          <a:p>
            <a:pPr indent="0" marL="0">
              <a:buNone/>
            </a:pPr>
            <a:r>
              <a:rPr lang="en-US" sz="800" dirty="0">
                <a:solidFill>
                  <a:srgbClr val="C9CED8"/>
                </a:solidFill>
                <a:latin typeface="Meiryo" pitchFamily="34" charset="0"/>
                <a:ea typeface="Meiryo" pitchFamily="34" charset="-122"/>
                <a:cs typeface="Meiryo" pitchFamily="34" charset="-120"/>
              </a:rPr>
              <a:t>物流・介護・建設・飲食・警備・タクシー・美容</a:t>
            </a:r>
            <a:endParaRPr lang="en-US" sz="800" dirty="0"/>
          </a:p>
        </p:txBody>
      </p:sp>
      <p:sp>
        <p:nvSpPr>
          <p:cNvPr id="10" name="Text 8"/>
          <p:cNvSpPr txBox="1"/>
          <p:nvPr/>
        </p:nvSpPr>
        <p:spPr>
          <a:xfrm>
            <a:off x="3657600" y="1307592"/>
            <a:ext cx="3840480" cy="502920"/>
          </a:xfrm>
          <a:prstGeom prst="rect">
            <a:avLst/>
          </a:prstGeom>
          <a:noFill/>
          <a:ln/>
        </p:spPr>
        <p:txBody>
          <a:bodyPr wrap="square" lIns="0" tIns="0" rIns="0" bIns="0" rtlCol="0" anchor="ctr"/>
          <a:lstStyle/>
          <a:p>
            <a:pPr indent="0" marL="0">
              <a:buNone/>
            </a:pPr>
            <a:r>
              <a:rPr lang="en-US" sz="900" dirty="0">
                <a:solidFill>
                  <a:srgbClr val="FFFFFF"/>
                </a:solidFill>
                <a:latin typeface="Meiryo" pitchFamily="34" charset="0"/>
                <a:ea typeface="Meiryo" pitchFamily="34" charset="-122"/>
                <a:cs typeface="Meiryo" pitchFamily="34" charset="-120"/>
              </a:rPr>
              <a:t>採用単価は新卒57〜94万、中途50〜103万。ドラマ1シリーズで応募3倍の事例があり、ROIが説明しやすい</a:t>
            </a:r>
            <a:endParaRPr lang="en-US" sz="900" dirty="0"/>
          </a:p>
        </p:txBody>
      </p:sp>
      <p:sp>
        <p:nvSpPr>
          <p:cNvPr id="11" name="Text 9"/>
          <p:cNvSpPr txBox="1"/>
          <p:nvPr/>
        </p:nvSpPr>
        <p:spPr>
          <a:xfrm>
            <a:off x="7589520" y="1307592"/>
            <a:ext cx="914400" cy="457200"/>
          </a:xfrm>
          <a:prstGeom prst="rect">
            <a:avLst/>
          </a:prstGeom>
          <a:noFill/>
          <a:ln/>
        </p:spPr>
        <p:txBody>
          <a:bodyPr wrap="square" lIns="0" tIns="0" rIns="0" bIns="0" rtlCol="0" anchor="ctr"/>
          <a:lstStyle/>
          <a:p>
            <a:pPr algn="r" indent="0" marL="0">
              <a:buNone/>
            </a:pPr>
            <a:r>
              <a:rPr lang="en-US" sz="950" b="1" dirty="0">
                <a:solidFill>
                  <a:srgbClr val="D9A441"/>
                </a:solidFill>
                <a:latin typeface="Meiryo" pitchFamily="34" charset="0"/>
                <a:ea typeface="Meiryo" pitchFamily="34" charset="-122"/>
                <a:cs typeface="Meiryo" pitchFamily="34" charset="-120"/>
              </a:rPr>
              <a:t>実写</a:t>
            </a:r>
            <a:endParaRPr lang="en-US" sz="950" dirty="0"/>
          </a:p>
        </p:txBody>
      </p:sp>
      <p:sp>
        <p:nvSpPr>
          <p:cNvPr id="12" name="Shape 10"/>
          <p:cNvSpPr/>
          <p:nvPr/>
        </p:nvSpPr>
        <p:spPr>
          <a:xfrm>
            <a:off x="548640" y="1929384"/>
            <a:ext cx="8046720" cy="603504"/>
          </a:xfrm>
          <a:prstGeom prst="roundRect">
            <a:avLst>
              <a:gd name="adj" fmla="val 12121"/>
            </a:avLst>
          </a:prstGeom>
          <a:solidFill>
            <a:srgbClr val="F3F4F6"/>
          </a:solidFill>
          <a:ln w="12700">
            <a:solidFill>
              <a:srgbClr val="F3F4F6"/>
            </a:solidFill>
            <a:prstDash val="solid"/>
          </a:ln>
        </p:spPr>
      </p:sp>
      <p:sp>
        <p:nvSpPr>
          <p:cNvPr id="13" name="Shape 11"/>
          <p:cNvSpPr/>
          <p:nvPr/>
        </p:nvSpPr>
        <p:spPr>
          <a:xfrm>
            <a:off x="685800" y="2048256"/>
            <a:ext cx="365760" cy="365760"/>
          </a:xfrm>
          <a:prstGeom prst="ellipse">
            <a:avLst/>
          </a:prstGeom>
          <a:solidFill>
            <a:srgbClr val="E63946"/>
          </a:solidFill>
          <a:ln w="12700">
            <a:solidFill>
              <a:srgbClr val="E63946"/>
            </a:solidFill>
            <a:prstDash val="solid"/>
          </a:ln>
        </p:spPr>
      </p:sp>
      <p:sp>
        <p:nvSpPr>
          <p:cNvPr id="14" name="Text 12"/>
          <p:cNvSpPr txBox="1"/>
          <p:nvPr/>
        </p:nvSpPr>
        <p:spPr>
          <a:xfrm>
            <a:off x="685800" y="204825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2</a:t>
            </a:r>
            <a:endParaRPr lang="en-US" sz="1200" dirty="0"/>
          </a:p>
        </p:txBody>
      </p:sp>
      <p:sp>
        <p:nvSpPr>
          <p:cNvPr id="15" name="Text 13"/>
          <p:cNvSpPr txBox="1"/>
          <p:nvPr/>
        </p:nvSpPr>
        <p:spPr>
          <a:xfrm>
            <a:off x="1188720" y="2002536"/>
            <a:ext cx="2377440" cy="274320"/>
          </a:xfrm>
          <a:prstGeom prst="rect">
            <a:avLst/>
          </a:prstGeom>
          <a:noFill/>
          <a:ln/>
        </p:spPr>
        <p:txBody>
          <a:bodyPr wrap="square" lIns="0" tIns="0" rIns="0" bIns="0" rtlCol="0" anchor="t"/>
          <a:lstStyle/>
          <a:p>
            <a:pPr indent="0" marL="0">
              <a:buNone/>
            </a:pPr>
            <a:r>
              <a:rPr lang="en-US" sz="1100" b="1" dirty="0">
                <a:solidFill>
                  <a:srgbClr val="111318"/>
                </a:solidFill>
                <a:latin typeface="Meiryo" pitchFamily="34" charset="0"/>
                <a:ea typeface="Meiryo" pitchFamily="34" charset="-122"/>
                <a:cs typeface="Meiryo" pitchFamily="34" charset="-120"/>
              </a:rPr>
              <a:t>ローカルサービス業</a:t>
            </a:r>
            <a:endParaRPr lang="en-US" sz="1100" dirty="0"/>
          </a:p>
        </p:txBody>
      </p:sp>
      <p:sp>
        <p:nvSpPr>
          <p:cNvPr id="16" name="Text 14"/>
          <p:cNvSpPr txBox="1"/>
          <p:nvPr/>
        </p:nvSpPr>
        <p:spPr>
          <a:xfrm>
            <a:off x="1188720" y="2267712"/>
            <a:ext cx="2377440" cy="228600"/>
          </a:xfrm>
          <a:prstGeom prst="rect">
            <a:avLst/>
          </a:prstGeom>
          <a:noFill/>
          <a:ln/>
        </p:spPr>
        <p:txBody>
          <a:bodyPr wrap="square" lIns="0" tIns="0" rIns="0" bIns="0" rtlCol="0" anchor="t"/>
          <a:lstStyle/>
          <a:p>
            <a:pPr indent="0" marL="0">
              <a:buNone/>
            </a:pPr>
            <a:r>
              <a:rPr lang="en-US" sz="800" dirty="0">
                <a:solidFill>
                  <a:srgbClr val="6B7280"/>
                </a:solidFill>
                <a:latin typeface="Meiryo" pitchFamily="34" charset="0"/>
                <a:ea typeface="Meiryo" pitchFamily="34" charset="-122"/>
                <a:cs typeface="Meiryo" pitchFamily="34" charset="-120"/>
              </a:rPr>
              <a:t>美容クリニック・飲食・不動産・塾・士業</a:t>
            </a:r>
            <a:endParaRPr lang="en-US" sz="800" dirty="0"/>
          </a:p>
        </p:txBody>
      </p:sp>
      <p:sp>
        <p:nvSpPr>
          <p:cNvPr id="17" name="Text 15"/>
          <p:cNvSpPr txBox="1"/>
          <p:nvPr/>
        </p:nvSpPr>
        <p:spPr>
          <a:xfrm>
            <a:off x="3657600" y="2002536"/>
            <a:ext cx="3840480" cy="502920"/>
          </a:xfrm>
          <a:prstGeom prst="rect">
            <a:avLst/>
          </a:prstGeom>
          <a:noFill/>
          <a:ln/>
        </p:spPr>
        <p:txBody>
          <a:bodyPr wrap="square" lIns="0" tIns="0" rIns="0" bIns="0" rtlCol="0" anchor="ctr"/>
          <a:lstStyle/>
          <a:p>
            <a:pPr indent="0" marL="0">
              <a:buNone/>
            </a:pPr>
            <a:r>
              <a:rPr lang="en-US" sz="900" dirty="0">
                <a:solidFill>
                  <a:srgbClr val="111318"/>
                </a:solidFill>
                <a:latin typeface="Meiryo" pitchFamily="34" charset="0"/>
                <a:ea typeface="Meiryo" pitchFamily="34" charset="-122"/>
                <a:cs typeface="Meiryo" pitchFamily="34" charset="-120"/>
              </a:rPr>
              <a:t>「あるある」で認知→来店。地元での継続投稿が効く</a:t>
            </a:r>
            <a:endParaRPr lang="en-US" sz="900" dirty="0"/>
          </a:p>
        </p:txBody>
      </p:sp>
      <p:sp>
        <p:nvSpPr>
          <p:cNvPr id="18" name="Text 16"/>
          <p:cNvSpPr txBox="1"/>
          <p:nvPr/>
        </p:nvSpPr>
        <p:spPr>
          <a:xfrm>
            <a:off x="7589520" y="2002536"/>
            <a:ext cx="914400" cy="457200"/>
          </a:xfrm>
          <a:prstGeom prst="rect">
            <a:avLst/>
          </a:prstGeom>
          <a:noFill/>
          <a:ln/>
        </p:spPr>
        <p:txBody>
          <a:bodyPr wrap="square" lIns="0" tIns="0" rIns="0" bIns="0" rtlCol="0" anchor="ctr"/>
          <a:lstStyle/>
          <a:p>
            <a:pPr algn="r" indent="0" marL="0">
              <a:buNone/>
            </a:pPr>
            <a:r>
              <a:rPr lang="en-US" sz="950" b="1" dirty="0">
                <a:solidFill>
                  <a:srgbClr val="E63946"/>
                </a:solidFill>
                <a:latin typeface="Meiryo" pitchFamily="34" charset="0"/>
                <a:ea typeface="Meiryo" pitchFamily="34" charset="-122"/>
                <a:cs typeface="Meiryo" pitchFamily="34" charset="-120"/>
              </a:rPr>
              <a:t>両方</a:t>
            </a:r>
            <a:endParaRPr lang="en-US" sz="950" dirty="0"/>
          </a:p>
        </p:txBody>
      </p:sp>
      <p:sp>
        <p:nvSpPr>
          <p:cNvPr id="19" name="Shape 17"/>
          <p:cNvSpPr/>
          <p:nvPr/>
        </p:nvSpPr>
        <p:spPr>
          <a:xfrm>
            <a:off x="548640" y="2624328"/>
            <a:ext cx="8046720" cy="603504"/>
          </a:xfrm>
          <a:prstGeom prst="roundRect">
            <a:avLst>
              <a:gd name="adj" fmla="val 12121"/>
            </a:avLst>
          </a:prstGeom>
          <a:solidFill>
            <a:srgbClr val="F3F4F6"/>
          </a:solidFill>
          <a:ln w="12700">
            <a:solidFill>
              <a:srgbClr val="F3F4F6"/>
            </a:solidFill>
            <a:prstDash val="solid"/>
          </a:ln>
        </p:spPr>
      </p:sp>
      <p:sp>
        <p:nvSpPr>
          <p:cNvPr id="20" name="Shape 18"/>
          <p:cNvSpPr/>
          <p:nvPr/>
        </p:nvSpPr>
        <p:spPr>
          <a:xfrm>
            <a:off x="685800" y="2743200"/>
            <a:ext cx="365760" cy="365760"/>
          </a:xfrm>
          <a:prstGeom prst="ellipse">
            <a:avLst/>
          </a:prstGeom>
          <a:solidFill>
            <a:srgbClr val="E63946"/>
          </a:solidFill>
          <a:ln w="12700">
            <a:solidFill>
              <a:srgbClr val="E63946"/>
            </a:solidFill>
            <a:prstDash val="solid"/>
          </a:ln>
        </p:spPr>
      </p:sp>
      <p:sp>
        <p:nvSpPr>
          <p:cNvPr id="21" name="Text 19"/>
          <p:cNvSpPr txBox="1"/>
          <p:nvPr/>
        </p:nvSpPr>
        <p:spPr>
          <a:xfrm>
            <a:off x="685800" y="27432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3</a:t>
            </a:r>
            <a:endParaRPr lang="en-US" sz="1200" dirty="0"/>
          </a:p>
        </p:txBody>
      </p:sp>
      <p:sp>
        <p:nvSpPr>
          <p:cNvPr id="22" name="Text 20"/>
          <p:cNvSpPr txBox="1"/>
          <p:nvPr/>
        </p:nvSpPr>
        <p:spPr>
          <a:xfrm>
            <a:off x="1188720" y="2697480"/>
            <a:ext cx="2377440" cy="274320"/>
          </a:xfrm>
          <a:prstGeom prst="rect">
            <a:avLst/>
          </a:prstGeom>
          <a:noFill/>
          <a:ln/>
        </p:spPr>
        <p:txBody>
          <a:bodyPr wrap="square" lIns="0" tIns="0" rIns="0" bIns="0" rtlCol="0" anchor="t"/>
          <a:lstStyle/>
          <a:p>
            <a:pPr indent="0" marL="0">
              <a:buNone/>
            </a:pPr>
            <a:r>
              <a:rPr lang="en-US" sz="1100" b="1" dirty="0">
                <a:solidFill>
                  <a:srgbClr val="111318"/>
                </a:solidFill>
                <a:latin typeface="Meiryo" pitchFamily="34" charset="0"/>
                <a:ea typeface="Meiryo" pitchFamily="34" charset="-122"/>
                <a:cs typeface="Meiryo" pitchFamily="34" charset="-120"/>
              </a:rPr>
              <a:t>D2C・EC</a:t>
            </a:r>
            <a:endParaRPr lang="en-US" sz="1100" dirty="0"/>
          </a:p>
        </p:txBody>
      </p:sp>
      <p:sp>
        <p:nvSpPr>
          <p:cNvPr id="23" name="Text 21"/>
          <p:cNvSpPr txBox="1"/>
          <p:nvPr/>
        </p:nvSpPr>
        <p:spPr>
          <a:xfrm>
            <a:off x="3657600" y="2697480"/>
            <a:ext cx="3840480" cy="502920"/>
          </a:xfrm>
          <a:prstGeom prst="rect">
            <a:avLst/>
          </a:prstGeom>
          <a:noFill/>
          <a:ln/>
        </p:spPr>
        <p:txBody>
          <a:bodyPr wrap="square" lIns="0" tIns="0" rIns="0" bIns="0" rtlCol="0" anchor="ctr"/>
          <a:lstStyle/>
          <a:p>
            <a:pPr indent="0" marL="0">
              <a:buNone/>
            </a:pPr>
            <a:r>
              <a:rPr lang="en-US" sz="900" dirty="0">
                <a:solidFill>
                  <a:srgbClr val="111318"/>
                </a:solidFill>
                <a:latin typeface="Meiryo" pitchFamily="34" charset="0"/>
                <a:ea typeface="Meiryo" pitchFamily="34" charset="-122"/>
                <a:cs typeface="Meiryo" pitchFamily="34" charset="-120"/>
              </a:rPr>
              <a:t>プロダクトプレイスメント型。Spark Adsと相性</a:t>
            </a:r>
            <a:endParaRPr lang="en-US" sz="900" dirty="0"/>
          </a:p>
        </p:txBody>
      </p:sp>
      <p:sp>
        <p:nvSpPr>
          <p:cNvPr id="24" name="Text 22"/>
          <p:cNvSpPr txBox="1"/>
          <p:nvPr/>
        </p:nvSpPr>
        <p:spPr>
          <a:xfrm>
            <a:off x="7589520" y="2697480"/>
            <a:ext cx="914400" cy="457200"/>
          </a:xfrm>
          <a:prstGeom prst="rect">
            <a:avLst/>
          </a:prstGeom>
          <a:noFill/>
          <a:ln/>
        </p:spPr>
        <p:txBody>
          <a:bodyPr wrap="square" lIns="0" tIns="0" rIns="0" bIns="0" rtlCol="0" anchor="ctr"/>
          <a:lstStyle/>
          <a:p>
            <a:pPr algn="r" indent="0" marL="0">
              <a:buNone/>
            </a:pPr>
            <a:r>
              <a:rPr lang="en-US" sz="950" b="1" dirty="0">
                <a:solidFill>
                  <a:srgbClr val="E63946"/>
                </a:solidFill>
                <a:latin typeface="Meiryo" pitchFamily="34" charset="0"/>
                <a:ea typeface="Meiryo" pitchFamily="34" charset="-122"/>
                <a:cs typeface="Meiryo" pitchFamily="34" charset="-120"/>
              </a:rPr>
              <a:t>両方</a:t>
            </a:r>
            <a:endParaRPr lang="en-US" sz="950" dirty="0"/>
          </a:p>
        </p:txBody>
      </p:sp>
      <p:sp>
        <p:nvSpPr>
          <p:cNvPr id="25" name="Shape 23"/>
          <p:cNvSpPr/>
          <p:nvPr/>
        </p:nvSpPr>
        <p:spPr>
          <a:xfrm>
            <a:off x="548640" y="3319272"/>
            <a:ext cx="8046720" cy="603504"/>
          </a:xfrm>
          <a:prstGeom prst="roundRect">
            <a:avLst>
              <a:gd name="adj" fmla="val 12121"/>
            </a:avLst>
          </a:prstGeom>
          <a:solidFill>
            <a:srgbClr val="F3F4F6"/>
          </a:solidFill>
          <a:ln w="12700">
            <a:solidFill>
              <a:srgbClr val="F3F4F6"/>
            </a:solidFill>
            <a:prstDash val="solid"/>
          </a:ln>
        </p:spPr>
      </p:sp>
      <p:sp>
        <p:nvSpPr>
          <p:cNvPr id="26" name="Shape 24"/>
          <p:cNvSpPr/>
          <p:nvPr/>
        </p:nvSpPr>
        <p:spPr>
          <a:xfrm>
            <a:off x="685800" y="3438144"/>
            <a:ext cx="365760" cy="365760"/>
          </a:xfrm>
          <a:prstGeom prst="ellipse">
            <a:avLst/>
          </a:prstGeom>
          <a:solidFill>
            <a:srgbClr val="E63946"/>
          </a:solidFill>
          <a:ln w="12700">
            <a:solidFill>
              <a:srgbClr val="E63946"/>
            </a:solidFill>
            <a:prstDash val="solid"/>
          </a:ln>
        </p:spPr>
      </p:sp>
      <p:sp>
        <p:nvSpPr>
          <p:cNvPr id="27" name="Text 25"/>
          <p:cNvSpPr txBox="1"/>
          <p:nvPr/>
        </p:nvSpPr>
        <p:spPr>
          <a:xfrm>
            <a:off x="685800" y="343814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4</a:t>
            </a:r>
            <a:endParaRPr lang="en-US" sz="1200" dirty="0"/>
          </a:p>
        </p:txBody>
      </p:sp>
      <p:sp>
        <p:nvSpPr>
          <p:cNvPr id="28" name="Text 26"/>
          <p:cNvSpPr txBox="1"/>
          <p:nvPr/>
        </p:nvSpPr>
        <p:spPr>
          <a:xfrm>
            <a:off x="1188720" y="3392424"/>
            <a:ext cx="2377440" cy="274320"/>
          </a:xfrm>
          <a:prstGeom prst="rect">
            <a:avLst/>
          </a:prstGeom>
          <a:noFill/>
          <a:ln/>
        </p:spPr>
        <p:txBody>
          <a:bodyPr wrap="square" lIns="0" tIns="0" rIns="0" bIns="0" rtlCol="0" anchor="t"/>
          <a:lstStyle/>
          <a:p>
            <a:pPr indent="0" marL="0">
              <a:buNone/>
            </a:pPr>
            <a:r>
              <a:rPr lang="en-US" sz="1100" b="1" dirty="0">
                <a:solidFill>
                  <a:srgbClr val="111318"/>
                </a:solidFill>
                <a:latin typeface="Meiryo" pitchFamily="34" charset="0"/>
                <a:ea typeface="Meiryo" pitchFamily="34" charset="-122"/>
                <a:cs typeface="Meiryo" pitchFamily="34" charset="-120"/>
              </a:rPr>
              <a:t>自治体・観光・インバウンド</a:t>
            </a:r>
            <a:endParaRPr lang="en-US" sz="1100" dirty="0"/>
          </a:p>
        </p:txBody>
      </p:sp>
      <p:sp>
        <p:nvSpPr>
          <p:cNvPr id="29" name="Text 27"/>
          <p:cNvSpPr txBox="1"/>
          <p:nvPr/>
        </p:nvSpPr>
        <p:spPr>
          <a:xfrm>
            <a:off x="3657600" y="3392424"/>
            <a:ext cx="3840480" cy="502920"/>
          </a:xfrm>
          <a:prstGeom prst="rect">
            <a:avLst/>
          </a:prstGeom>
          <a:noFill/>
          <a:ln/>
        </p:spPr>
        <p:txBody>
          <a:bodyPr wrap="square" lIns="0" tIns="0" rIns="0" bIns="0" rtlCol="0" anchor="ctr"/>
          <a:lstStyle/>
          <a:p>
            <a:pPr indent="0" marL="0">
              <a:buNone/>
            </a:pPr>
            <a:r>
              <a:rPr lang="en-US" sz="900" dirty="0">
                <a:solidFill>
                  <a:srgbClr val="111318"/>
                </a:solidFill>
                <a:latin typeface="Meiryo" pitchFamily="34" charset="0"/>
                <a:ea typeface="Meiryo" pitchFamily="34" charset="-122"/>
                <a:cs typeface="Meiryo" pitchFamily="34" charset="-120"/>
              </a:rPr>
              <a:t>広島県が特別賞、JALが予約270%増。多言語はAIが得意</a:t>
            </a:r>
            <a:endParaRPr lang="en-US" sz="900" dirty="0"/>
          </a:p>
        </p:txBody>
      </p:sp>
      <p:sp>
        <p:nvSpPr>
          <p:cNvPr id="30" name="Text 28"/>
          <p:cNvSpPr txBox="1"/>
          <p:nvPr/>
        </p:nvSpPr>
        <p:spPr>
          <a:xfrm>
            <a:off x="7589520" y="3392424"/>
            <a:ext cx="914400" cy="457200"/>
          </a:xfrm>
          <a:prstGeom prst="rect">
            <a:avLst/>
          </a:prstGeom>
          <a:noFill/>
          <a:ln/>
        </p:spPr>
        <p:txBody>
          <a:bodyPr wrap="square" lIns="0" tIns="0" rIns="0" bIns="0" rtlCol="0" anchor="ctr"/>
          <a:lstStyle/>
          <a:p>
            <a:pPr algn="r" indent="0" marL="0">
              <a:buNone/>
            </a:pPr>
            <a:r>
              <a:rPr lang="en-US" sz="950" b="1" dirty="0">
                <a:solidFill>
                  <a:srgbClr val="E63946"/>
                </a:solidFill>
                <a:latin typeface="Meiryo" pitchFamily="34" charset="0"/>
                <a:ea typeface="Meiryo" pitchFamily="34" charset="-122"/>
                <a:cs typeface="Meiryo" pitchFamily="34" charset="-120"/>
              </a:rPr>
              <a:t>AI＋実写</a:t>
            </a:r>
            <a:endParaRPr lang="en-US" sz="950" dirty="0"/>
          </a:p>
        </p:txBody>
      </p:sp>
      <p:sp>
        <p:nvSpPr>
          <p:cNvPr id="31" name="Shape 29"/>
          <p:cNvSpPr/>
          <p:nvPr/>
        </p:nvSpPr>
        <p:spPr>
          <a:xfrm>
            <a:off x="548640" y="4014216"/>
            <a:ext cx="8046720" cy="603504"/>
          </a:xfrm>
          <a:prstGeom prst="roundRect">
            <a:avLst>
              <a:gd name="adj" fmla="val 12121"/>
            </a:avLst>
          </a:prstGeom>
          <a:solidFill>
            <a:srgbClr val="F3F4F6"/>
          </a:solidFill>
          <a:ln w="12700">
            <a:solidFill>
              <a:srgbClr val="F3F4F6"/>
            </a:solidFill>
            <a:prstDash val="solid"/>
          </a:ln>
        </p:spPr>
      </p:sp>
      <p:sp>
        <p:nvSpPr>
          <p:cNvPr id="32" name="Shape 30"/>
          <p:cNvSpPr/>
          <p:nvPr/>
        </p:nvSpPr>
        <p:spPr>
          <a:xfrm>
            <a:off x="685800" y="4133088"/>
            <a:ext cx="365760" cy="365760"/>
          </a:xfrm>
          <a:prstGeom prst="ellipse">
            <a:avLst/>
          </a:prstGeom>
          <a:solidFill>
            <a:srgbClr val="E63946"/>
          </a:solidFill>
          <a:ln w="12700">
            <a:solidFill>
              <a:srgbClr val="E63946"/>
            </a:solidFill>
            <a:prstDash val="solid"/>
          </a:ln>
        </p:spPr>
      </p:sp>
      <p:sp>
        <p:nvSpPr>
          <p:cNvPr id="33" name="Text 31"/>
          <p:cNvSpPr txBox="1"/>
          <p:nvPr/>
        </p:nvSpPr>
        <p:spPr>
          <a:xfrm>
            <a:off x="685800" y="413308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5</a:t>
            </a:r>
            <a:endParaRPr lang="en-US" sz="1200" dirty="0"/>
          </a:p>
        </p:txBody>
      </p:sp>
      <p:sp>
        <p:nvSpPr>
          <p:cNvPr id="34" name="Text 32"/>
          <p:cNvSpPr txBox="1"/>
          <p:nvPr/>
        </p:nvSpPr>
        <p:spPr>
          <a:xfrm>
            <a:off x="1188720" y="4087368"/>
            <a:ext cx="2377440" cy="274320"/>
          </a:xfrm>
          <a:prstGeom prst="rect">
            <a:avLst/>
          </a:prstGeom>
          <a:noFill/>
          <a:ln/>
        </p:spPr>
        <p:txBody>
          <a:bodyPr wrap="square" lIns="0" tIns="0" rIns="0" bIns="0" rtlCol="0" anchor="t"/>
          <a:lstStyle/>
          <a:p>
            <a:pPr indent="0" marL="0">
              <a:buNone/>
            </a:pPr>
            <a:r>
              <a:rPr lang="en-US" sz="1100" b="1" dirty="0">
                <a:solidFill>
                  <a:srgbClr val="111318"/>
                </a:solidFill>
                <a:latin typeface="Meiryo" pitchFamily="34" charset="0"/>
                <a:ea typeface="Meiryo" pitchFamily="34" charset="-122"/>
                <a:cs typeface="Meiryo" pitchFamily="34" charset="-120"/>
              </a:rPr>
              <a:t>運用代行・代理店・採用コンサル（OEM）</a:t>
            </a:r>
            <a:endParaRPr lang="en-US" sz="1100" dirty="0"/>
          </a:p>
        </p:txBody>
      </p:sp>
      <p:sp>
        <p:nvSpPr>
          <p:cNvPr id="35" name="Text 33"/>
          <p:cNvSpPr txBox="1"/>
          <p:nvPr/>
        </p:nvSpPr>
        <p:spPr>
          <a:xfrm>
            <a:off x="3657600" y="4087368"/>
            <a:ext cx="3840480" cy="502920"/>
          </a:xfrm>
          <a:prstGeom prst="rect">
            <a:avLst/>
          </a:prstGeom>
          <a:noFill/>
          <a:ln/>
        </p:spPr>
        <p:txBody>
          <a:bodyPr wrap="square" lIns="0" tIns="0" rIns="0" bIns="0" rtlCol="0" anchor="ctr"/>
          <a:lstStyle/>
          <a:p>
            <a:pPr indent="0" marL="0">
              <a:buNone/>
            </a:pPr>
            <a:r>
              <a:rPr lang="en-US" sz="900" dirty="0">
                <a:solidFill>
                  <a:srgbClr val="111318"/>
                </a:solidFill>
                <a:latin typeface="Meiryo" pitchFamily="34" charset="0"/>
                <a:ea typeface="Meiryo" pitchFamily="34" charset="-122"/>
                <a:cs typeface="Meiryo" pitchFamily="34" charset="-120"/>
              </a:rPr>
              <a:t>自社で作れないドラマを卸で仕入れたい。営業コストゼロで月数話が入る</a:t>
            </a:r>
            <a:endParaRPr lang="en-US" sz="900" dirty="0"/>
          </a:p>
        </p:txBody>
      </p:sp>
      <p:sp>
        <p:nvSpPr>
          <p:cNvPr id="36" name="Text 34"/>
          <p:cNvSpPr txBox="1"/>
          <p:nvPr/>
        </p:nvSpPr>
        <p:spPr>
          <a:xfrm>
            <a:off x="7589520" y="4087368"/>
            <a:ext cx="914400" cy="457200"/>
          </a:xfrm>
          <a:prstGeom prst="rect">
            <a:avLst/>
          </a:prstGeom>
          <a:noFill/>
          <a:ln/>
        </p:spPr>
        <p:txBody>
          <a:bodyPr wrap="square" lIns="0" tIns="0" rIns="0" bIns="0" rtlCol="0" anchor="ctr"/>
          <a:lstStyle/>
          <a:p>
            <a:pPr algn="r" indent="0" marL="0">
              <a:buNone/>
            </a:pPr>
            <a:r>
              <a:rPr lang="en-US" sz="950" b="1" dirty="0">
                <a:solidFill>
                  <a:srgbClr val="E63946"/>
                </a:solidFill>
                <a:latin typeface="Meiryo" pitchFamily="34" charset="0"/>
                <a:ea typeface="Meiryo" pitchFamily="34" charset="-122"/>
                <a:cs typeface="Meiryo" pitchFamily="34" charset="-120"/>
              </a:rPr>
              <a:t>両方（卸価格）</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228600"/>
          </a:xfrm>
          <a:prstGeom prst="rect">
            <a:avLst/>
          </a:prstGeom>
          <a:noFill/>
          <a:ln/>
        </p:spPr>
        <p:txBody>
          <a:bodyPr wrap="square" lIns="0" tIns="0" rIns="0" bIns="0" rtlCol="0" anchor="t"/>
          <a:lstStyle/>
          <a:p>
            <a:pPr indent="0" marL="0">
              <a:buNone/>
            </a:pPr>
            <a:r>
              <a:rPr lang="en-US" sz="1100" b="1" dirty="0">
                <a:solidFill>
                  <a:srgbClr val="E63946"/>
                </a:solidFill>
                <a:latin typeface="Meiryo" pitchFamily="34" charset="0"/>
                <a:ea typeface="Meiryo" pitchFamily="34" charset="-122"/>
                <a:cs typeface="Meiryo" pitchFamily="34" charset="-120"/>
              </a:rPr>
              <a:t>5. 収益モデル</a:t>
            </a:r>
            <a:endParaRPr lang="en-US" sz="1100" dirty="0"/>
          </a:p>
        </p:txBody>
      </p:sp>
      <p:sp>
        <p:nvSpPr>
          <p:cNvPr id="3" name="Text 1"/>
          <p:cNvSpPr txBox="1"/>
          <p:nvPr/>
        </p:nvSpPr>
        <p:spPr>
          <a:xfrm>
            <a:off x="548640" y="548640"/>
            <a:ext cx="8046720" cy="548640"/>
          </a:xfrm>
          <a:prstGeom prst="rect">
            <a:avLst/>
          </a:prstGeom>
          <a:noFill/>
          <a:ln/>
        </p:spPr>
        <p:txBody>
          <a:bodyPr wrap="square" lIns="0" tIns="0" rIns="0" bIns="0" rtlCol="0" anchor="t"/>
          <a:lstStyle/>
          <a:p>
            <a:pPr indent="0" marL="0">
              <a:buNone/>
            </a:pPr>
            <a:r>
              <a:rPr lang="en-US" sz="2200" b="1" dirty="0">
                <a:solidFill>
                  <a:srgbClr val="111318"/>
                </a:solidFill>
                <a:latin typeface="Meiryo" pitchFamily="34" charset="0"/>
                <a:ea typeface="Meiryo" pitchFamily="34" charset="-122"/>
                <a:cs typeface="Meiryo" pitchFamily="34" charset="-120"/>
              </a:rPr>
              <a:t>12ヶ月目の月商540万円の内訳</a:t>
            </a:r>
            <a:endParaRPr lang="en-US" sz="2200" dirty="0"/>
          </a:p>
        </p:txBody>
      </p:sp>
      <p:sp>
        <p:nvSpPr>
          <p:cNvPr id="4" name="Text 2"/>
          <p:cNvSpPr txBox="1"/>
          <p:nvPr/>
        </p:nvSpPr>
        <p:spPr>
          <a:xfrm>
            <a:off x="8229600" y="4754880"/>
            <a:ext cx="4572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pitchFamily="34" charset="0"/>
                <a:ea typeface="Meiryo" pitchFamily="34" charset="-122"/>
                <a:cs typeface="Meiryo" pitchFamily="34" charset="-120"/>
              </a:rPr>
              <a:t>14</a:t>
            </a:r>
            <a:endParaRPr lang="en-US" sz="900" dirty="0"/>
          </a:p>
        </p:txBody>
      </p:sp>
      <p:graphicFrame>
        <p:nvGraphicFramePr>
          <p:cNvPr id="5" name="Chart 0" descr=""/>
          <p:cNvGraphicFramePr/>
          <p:nvPr/>
        </p:nvGraphicFramePr>
        <p:xfrm>
          <a:off x="548640" y="1234440"/>
          <a:ext cx="4206240" cy="30175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029200" y="1234440"/>
            <a:ext cx="1737360" cy="1371600"/>
          </a:xfrm>
          <a:prstGeom prst="roundRect">
            <a:avLst>
              <a:gd name="adj" fmla="val 5333"/>
            </a:avLst>
          </a:prstGeom>
          <a:solidFill>
            <a:srgbClr val="F3F4F6"/>
          </a:solidFill>
          <a:ln w="12700">
            <a:solidFill>
              <a:srgbClr val="F3F4F6"/>
            </a:solidFill>
            <a:prstDash val="solid"/>
          </a:ln>
        </p:spPr>
      </p:sp>
      <p:sp>
        <p:nvSpPr>
          <p:cNvPr id="7" name="Text 4"/>
          <p:cNvSpPr txBox="1"/>
          <p:nvPr/>
        </p:nvSpPr>
        <p:spPr>
          <a:xfrm>
            <a:off x="5212080" y="1371600"/>
            <a:ext cx="1463040" cy="502920"/>
          </a:xfrm>
          <a:prstGeom prst="rect">
            <a:avLst/>
          </a:prstGeom>
          <a:noFill/>
          <a:ln/>
        </p:spPr>
        <p:txBody>
          <a:bodyPr wrap="square" lIns="0" tIns="0" rIns="0" bIns="0" rtlCol="0" anchor="t"/>
          <a:lstStyle/>
          <a:p>
            <a:pPr indent="0" marL="0">
              <a:buNone/>
            </a:pPr>
            <a:r>
              <a:rPr lang="en-US" sz="2400" b="1" dirty="0">
                <a:solidFill>
                  <a:srgbClr val="E63946"/>
                </a:solidFill>
                <a:latin typeface="Meiryo" pitchFamily="34" charset="0"/>
                <a:ea typeface="Meiryo" pitchFamily="34" charset="-122"/>
                <a:cs typeface="Meiryo" pitchFamily="34" charset="-120"/>
              </a:rPr>
              <a:t>540万</a:t>
            </a:r>
            <a:endParaRPr lang="en-US" sz="2400" dirty="0"/>
          </a:p>
        </p:txBody>
      </p:sp>
      <p:sp>
        <p:nvSpPr>
          <p:cNvPr id="8" name="Text 5"/>
          <p:cNvSpPr txBox="1"/>
          <p:nvPr/>
        </p:nvSpPr>
        <p:spPr>
          <a:xfrm>
            <a:off x="5212080" y="1920240"/>
            <a:ext cx="1463040" cy="274320"/>
          </a:xfrm>
          <a:prstGeom prst="rect">
            <a:avLst/>
          </a:prstGeom>
          <a:noFill/>
          <a:ln/>
        </p:spPr>
        <p:txBody>
          <a:bodyPr wrap="square" lIns="0" tIns="0" rIns="0" bIns="0" rtlCol="0" anchor="t"/>
          <a:lstStyle/>
          <a:p>
            <a:pPr indent="0" marL="0">
              <a:buNone/>
            </a:pPr>
            <a:r>
              <a:rPr lang="en-US" sz="1050" b="1" dirty="0">
                <a:solidFill>
                  <a:srgbClr val="111318"/>
                </a:solidFill>
                <a:latin typeface="Meiryo" pitchFamily="34" charset="0"/>
                <a:ea typeface="Meiryo" pitchFamily="34" charset="-122"/>
                <a:cs typeface="Meiryo" pitchFamily="34" charset="-120"/>
              </a:rPr>
              <a:t>月商合計</a:t>
            </a:r>
            <a:endParaRPr lang="en-US" sz="1050" dirty="0"/>
          </a:p>
        </p:txBody>
      </p:sp>
      <p:sp>
        <p:nvSpPr>
          <p:cNvPr id="9" name="Text 6"/>
          <p:cNvSpPr txBox="1"/>
          <p:nvPr/>
        </p:nvSpPr>
        <p:spPr>
          <a:xfrm>
            <a:off x="5212080" y="2194560"/>
            <a:ext cx="1463040" cy="320040"/>
          </a:xfrm>
          <a:prstGeom prst="rect">
            <a:avLst/>
          </a:prstGeom>
          <a:noFill/>
          <a:ln/>
        </p:spPr>
        <p:txBody>
          <a:bodyPr wrap="square" lIns="0" tIns="0" rIns="0" bIns="0" rtlCol="0" anchor="t"/>
          <a:lstStyle/>
          <a:p>
            <a:pPr indent="0" marL="0">
              <a:buNone/>
            </a:pPr>
            <a:r>
              <a:rPr lang="en-US" sz="850" dirty="0">
                <a:solidFill>
                  <a:srgbClr val="6B7280"/>
                </a:solidFill>
                <a:latin typeface="Meiryo" pitchFamily="34" charset="0"/>
                <a:ea typeface="Meiryo" pitchFamily="34" charset="-122"/>
                <a:cs typeface="Meiryo" pitchFamily="34" charset="-120"/>
              </a:rPr>
              <a:t>実写12話 / AI15話</a:t>
            </a:r>
            <a:endParaRPr lang="en-US" sz="850" dirty="0"/>
          </a:p>
        </p:txBody>
      </p:sp>
      <p:sp>
        <p:nvSpPr>
          <p:cNvPr id="10" name="Shape 7"/>
          <p:cNvSpPr/>
          <p:nvPr/>
        </p:nvSpPr>
        <p:spPr>
          <a:xfrm>
            <a:off x="6858000" y="1234440"/>
            <a:ext cx="1737360" cy="1371600"/>
          </a:xfrm>
          <a:prstGeom prst="roundRect">
            <a:avLst>
              <a:gd name="adj" fmla="val 5333"/>
            </a:avLst>
          </a:prstGeom>
          <a:solidFill>
            <a:srgbClr val="F3F4F6"/>
          </a:solidFill>
          <a:ln w="12700">
            <a:solidFill>
              <a:srgbClr val="F3F4F6"/>
            </a:solidFill>
            <a:prstDash val="solid"/>
          </a:ln>
        </p:spPr>
      </p:sp>
      <p:sp>
        <p:nvSpPr>
          <p:cNvPr id="11" name="Text 8"/>
          <p:cNvSpPr txBox="1"/>
          <p:nvPr/>
        </p:nvSpPr>
        <p:spPr>
          <a:xfrm>
            <a:off x="7040880" y="1371600"/>
            <a:ext cx="1463040" cy="502920"/>
          </a:xfrm>
          <a:prstGeom prst="rect">
            <a:avLst/>
          </a:prstGeom>
          <a:noFill/>
          <a:ln/>
        </p:spPr>
        <p:txBody>
          <a:bodyPr wrap="square" lIns="0" tIns="0" rIns="0" bIns="0" rtlCol="0" anchor="t"/>
          <a:lstStyle/>
          <a:p>
            <a:pPr indent="0" marL="0">
              <a:buNone/>
            </a:pPr>
            <a:r>
              <a:rPr lang="en-US" sz="2400" b="1" dirty="0">
                <a:solidFill>
                  <a:srgbClr val="E63946"/>
                </a:solidFill>
                <a:latin typeface="Meiryo" pitchFamily="34" charset="0"/>
                <a:ea typeface="Meiryo" pitchFamily="34" charset="-122"/>
                <a:cs typeface="Meiryo" pitchFamily="34" charset="-120"/>
              </a:rPr>
              <a:t>69%</a:t>
            </a:r>
            <a:endParaRPr lang="en-US" sz="2400" dirty="0"/>
          </a:p>
        </p:txBody>
      </p:sp>
      <p:sp>
        <p:nvSpPr>
          <p:cNvPr id="12" name="Text 9"/>
          <p:cNvSpPr txBox="1"/>
          <p:nvPr/>
        </p:nvSpPr>
        <p:spPr>
          <a:xfrm>
            <a:off x="7040880" y="1920240"/>
            <a:ext cx="1463040" cy="274320"/>
          </a:xfrm>
          <a:prstGeom prst="rect">
            <a:avLst/>
          </a:prstGeom>
          <a:noFill/>
          <a:ln/>
        </p:spPr>
        <p:txBody>
          <a:bodyPr wrap="square" lIns="0" tIns="0" rIns="0" bIns="0" rtlCol="0" anchor="t"/>
          <a:lstStyle/>
          <a:p>
            <a:pPr indent="0" marL="0">
              <a:buNone/>
            </a:pPr>
            <a:r>
              <a:rPr lang="en-US" sz="1050" b="1" dirty="0">
                <a:solidFill>
                  <a:srgbClr val="111318"/>
                </a:solidFill>
                <a:latin typeface="Meiryo" pitchFamily="34" charset="0"/>
                <a:ea typeface="Meiryo" pitchFamily="34" charset="-122"/>
                <a:cs typeface="Meiryo" pitchFamily="34" charset="-120"/>
              </a:rPr>
              <a:t>継続契約比率</a:t>
            </a:r>
            <a:endParaRPr lang="en-US" sz="1050" dirty="0"/>
          </a:p>
        </p:txBody>
      </p:sp>
      <p:sp>
        <p:nvSpPr>
          <p:cNvPr id="13" name="Text 10"/>
          <p:cNvSpPr txBox="1"/>
          <p:nvPr/>
        </p:nvSpPr>
        <p:spPr>
          <a:xfrm>
            <a:off x="7040880" y="2194560"/>
            <a:ext cx="1463040" cy="320040"/>
          </a:xfrm>
          <a:prstGeom prst="rect">
            <a:avLst/>
          </a:prstGeom>
          <a:noFill/>
          <a:ln/>
        </p:spPr>
        <p:txBody>
          <a:bodyPr wrap="square" lIns="0" tIns="0" rIns="0" bIns="0" rtlCol="0" anchor="t"/>
          <a:lstStyle/>
          <a:p>
            <a:pPr indent="0" marL="0">
              <a:buNone/>
            </a:pPr>
            <a:r>
              <a:rPr lang="en-US" sz="850" dirty="0">
                <a:solidFill>
                  <a:srgbClr val="6B7280"/>
                </a:solidFill>
                <a:latin typeface="Meiryo" pitchFamily="34" charset="0"/>
                <a:ea typeface="Meiryo" pitchFamily="34" charset="-122"/>
                <a:cs typeface="Meiryo" pitchFamily="34" charset="-120"/>
              </a:rPr>
              <a:t>月額が月商の柱</a:t>
            </a:r>
            <a:endParaRPr lang="en-US" sz="850" dirty="0"/>
          </a:p>
        </p:txBody>
      </p:sp>
      <p:sp>
        <p:nvSpPr>
          <p:cNvPr id="14" name="Shape 11"/>
          <p:cNvSpPr/>
          <p:nvPr/>
        </p:nvSpPr>
        <p:spPr>
          <a:xfrm>
            <a:off x="5029200" y="2743200"/>
            <a:ext cx="1737360" cy="1371600"/>
          </a:xfrm>
          <a:prstGeom prst="roundRect">
            <a:avLst>
              <a:gd name="adj" fmla="val 5333"/>
            </a:avLst>
          </a:prstGeom>
          <a:solidFill>
            <a:srgbClr val="F3F4F6"/>
          </a:solidFill>
          <a:ln w="12700">
            <a:solidFill>
              <a:srgbClr val="F3F4F6"/>
            </a:solidFill>
            <a:prstDash val="solid"/>
          </a:ln>
        </p:spPr>
      </p:sp>
      <p:sp>
        <p:nvSpPr>
          <p:cNvPr id="15" name="Text 12"/>
          <p:cNvSpPr txBox="1"/>
          <p:nvPr/>
        </p:nvSpPr>
        <p:spPr>
          <a:xfrm>
            <a:off x="5212080" y="2880360"/>
            <a:ext cx="1463040" cy="502920"/>
          </a:xfrm>
          <a:prstGeom prst="rect">
            <a:avLst/>
          </a:prstGeom>
          <a:noFill/>
          <a:ln/>
        </p:spPr>
        <p:txBody>
          <a:bodyPr wrap="square" lIns="0" tIns="0" rIns="0" bIns="0" rtlCol="0" anchor="t"/>
          <a:lstStyle/>
          <a:p>
            <a:pPr indent="0" marL="0">
              <a:buNone/>
            </a:pPr>
            <a:r>
              <a:rPr lang="en-US" sz="2400" b="1" dirty="0">
                <a:solidFill>
                  <a:srgbClr val="E63946"/>
                </a:solidFill>
                <a:latin typeface="Meiryo" pitchFamily="34" charset="0"/>
                <a:ea typeface="Meiryo" pitchFamily="34" charset="-122"/>
                <a:cs typeface="Meiryo" pitchFamily="34" charset="-120"/>
              </a:rPr>
              <a:t>約60%</a:t>
            </a:r>
            <a:endParaRPr lang="en-US" sz="2400" dirty="0"/>
          </a:p>
        </p:txBody>
      </p:sp>
      <p:sp>
        <p:nvSpPr>
          <p:cNvPr id="16" name="Text 13"/>
          <p:cNvSpPr txBox="1"/>
          <p:nvPr/>
        </p:nvSpPr>
        <p:spPr>
          <a:xfrm>
            <a:off x="5212080" y="3429000"/>
            <a:ext cx="1463040" cy="274320"/>
          </a:xfrm>
          <a:prstGeom prst="rect">
            <a:avLst/>
          </a:prstGeom>
          <a:noFill/>
          <a:ln/>
        </p:spPr>
        <p:txBody>
          <a:bodyPr wrap="square" lIns="0" tIns="0" rIns="0" bIns="0" rtlCol="0" anchor="t"/>
          <a:lstStyle/>
          <a:p>
            <a:pPr indent="0" marL="0">
              <a:buNone/>
            </a:pPr>
            <a:r>
              <a:rPr lang="en-US" sz="1050" b="1" dirty="0">
                <a:solidFill>
                  <a:srgbClr val="111318"/>
                </a:solidFill>
                <a:latin typeface="Meiryo" pitchFamily="34" charset="0"/>
                <a:ea typeface="Meiryo" pitchFamily="34" charset="-122"/>
                <a:cs typeface="Meiryo" pitchFamily="34" charset="-120"/>
              </a:rPr>
              <a:t>全体粗利率</a:t>
            </a:r>
            <a:endParaRPr lang="en-US" sz="1050" dirty="0"/>
          </a:p>
        </p:txBody>
      </p:sp>
      <p:sp>
        <p:nvSpPr>
          <p:cNvPr id="17" name="Text 14"/>
          <p:cNvSpPr txBox="1"/>
          <p:nvPr/>
        </p:nvSpPr>
        <p:spPr>
          <a:xfrm>
            <a:off x="5212080" y="3703320"/>
            <a:ext cx="1463040" cy="320040"/>
          </a:xfrm>
          <a:prstGeom prst="rect">
            <a:avLst/>
          </a:prstGeom>
          <a:noFill/>
          <a:ln/>
        </p:spPr>
        <p:txBody>
          <a:bodyPr wrap="square" lIns="0" tIns="0" rIns="0" bIns="0" rtlCol="0" anchor="t"/>
          <a:lstStyle/>
          <a:p>
            <a:pPr indent="0" marL="0">
              <a:buNone/>
            </a:pPr>
            <a:r>
              <a:rPr lang="en-US" sz="850" dirty="0">
                <a:solidFill>
                  <a:srgbClr val="6B7280"/>
                </a:solidFill>
                <a:latin typeface="Meiryo" pitchFamily="34" charset="0"/>
                <a:ea typeface="Meiryo" pitchFamily="34" charset="-122"/>
                <a:cs typeface="Meiryo" pitchFamily="34" charset="-120"/>
              </a:rPr>
              <a:t>月次粗利 約320万</a:t>
            </a:r>
            <a:endParaRPr lang="en-US" sz="850" dirty="0"/>
          </a:p>
        </p:txBody>
      </p:sp>
      <p:sp>
        <p:nvSpPr>
          <p:cNvPr id="18" name="Shape 15"/>
          <p:cNvSpPr/>
          <p:nvPr/>
        </p:nvSpPr>
        <p:spPr>
          <a:xfrm>
            <a:off x="6858000" y="2743200"/>
            <a:ext cx="1737360" cy="1371600"/>
          </a:xfrm>
          <a:prstGeom prst="roundRect">
            <a:avLst>
              <a:gd name="adj" fmla="val 5333"/>
            </a:avLst>
          </a:prstGeom>
          <a:solidFill>
            <a:srgbClr val="F3F4F6"/>
          </a:solidFill>
          <a:ln w="12700">
            <a:solidFill>
              <a:srgbClr val="F3F4F6"/>
            </a:solidFill>
            <a:prstDash val="solid"/>
          </a:ln>
        </p:spPr>
      </p:sp>
      <p:sp>
        <p:nvSpPr>
          <p:cNvPr id="19" name="Text 16"/>
          <p:cNvSpPr txBox="1"/>
          <p:nvPr/>
        </p:nvSpPr>
        <p:spPr>
          <a:xfrm>
            <a:off x="7040880" y="2880360"/>
            <a:ext cx="1463040" cy="502920"/>
          </a:xfrm>
          <a:prstGeom prst="rect">
            <a:avLst/>
          </a:prstGeom>
          <a:noFill/>
          <a:ln/>
        </p:spPr>
        <p:txBody>
          <a:bodyPr wrap="square" lIns="0" tIns="0" rIns="0" bIns="0" rtlCol="0" anchor="t"/>
          <a:lstStyle/>
          <a:p>
            <a:pPr indent="0" marL="0">
              <a:buNone/>
            </a:pPr>
            <a:r>
              <a:rPr lang="en-US" sz="2400" b="1" dirty="0">
                <a:solidFill>
                  <a:srgbClr val="E63946"/>
                </a:solidFill>
                <a:latin typeface="Meiryo" pitchFamily="34" charset="0"/>
                <a:ea typeface="Meiryo" pitchFamily="34" charset="-122"/>
                <a:cs typeface="Meiryo" pitchFamily="34" charset="-120"/>
              </a:rPr>
              <a:t>3日</a:t>
            </a:r>
            <a:endParaRPr lang="en-US" sz="2400" dirty="0"/>
          </a:p>
        </p:txBody>
      </p:sp>
      <p:sp>
        <p:nvSpPr>
          <p:cNvPr id="20" name="Text 17"/>
          <p:cNvSpPr txBox="1"/>
          <p:nvPr/>
        </p:nvSpPr>
        <p:spPr>
          <a:xfrm>
            <a:off x="7040880" y="3429000"/>
            <a:ext cx="1463040" cy="274320"/>
          </a:xfrm>
          <a:prstGeom prst="rect">
            <a:avLst/>
          </a:prstGeom>
          <a:noFill/>
          <a:ln/>
        </p:spPr>
        <p:txBody>
          <a:bodyPr wrap="square" lIns="0" tIns="0" rIns="0" bIns="0" rtlCol="0" anchor="t"/>
          <a:lstStyle/>
          <a:p>
            <a:pPr indent="0" marL="0">
              <a:buNone/>
            </a:pPr>
            <a:r>
              <a:rPr lang="en-US" sz="1050" b="1" dirty="0">
                <a:solidFill>
                  <a:srgbClr val="111318"/>
                </a:solidFill>
                <a:latin typeface="Meiryo" pitchFamily="34" charset="0"/>
                <a:ea typeface="Meiryo" pitchFamily="34" charset="-122"/>
                <a:cs typeface="Meiryo" pitchFamily="34" charset="-120"/>
              </a:rPr>
              <a:t>月の撮影日</a:t>
            </a:r>
            <a:endParaRPr lang="en-US" sz="1050" dirty="0"/>
          </a:p>
        </p:txBody>
      </p:sp>
      <p:sp>
        <p:nvSpPr>
          <p:cNvPr id="21" name="Text 18"/>
          <p:cNvSpPr txBox="1"/>
          <p:nvPr/>
        </p:nvSpPr>
        <p:spPr>
          <a:xfrm>
            <a:off x="7040880" y="3703320"/>
            <a:ext cx="1463040" cy="320040"/>
          </a:xfrm>
          <a:prstGeom prst="rect">
            <a:avLst/>
          </a:prstGeom>
          <a:noFill/>
          <a:ln/>
        </p:spPr>
        <p:txBody>
          <a:bodyPr wrap="square" lIns="0" tIns="0" rIns="0" bIns="0" rtlCol="0" anchor="t"/>
          <a:lstStyle/>
          <a:p>
            <a:pPr indent="0" marL="0">
              <a:buNone/>
            </a:pPr>
            <a:r>
              <a:rPr lang="en-US" sz="850" dirty="0">
                <a:solidFill>
                  <a:srgbClr val="6B7280"/>
                </a:solidFill>
                <a:latin typeface="Meiryo" pitchFamily="34" charset="0"/>
                <a:ea typeface="Meiryo" pitchFamily="34" charset="-122"/>
                <a:cs typeface="Meiryo" pitchFamily="34" charset="-120"/>
              </a:rPr>
              <a:t>キャパは月6〜8日まで拡張可</a:t>
            </a:r>
            <a:endParaRPr lang="en-US" sz="850" dirty="0"/>
          </a:p>
        </p:txBody>
      </p:sp>
      <p:sp>
        <p:nvSpPr>
          <p:cNvPr id="22" name="Text 19"/>
          <p:cNvSpPr txBox="1"/>
          <p:nvPr/>
        </p:nvSpPr>
        <p:spPr>
          <a:xfrm>
            <a:off x="548640" y="4343400"/>
            <a:ext cx="8046720" cy="411480"/>
          </a:xfrm>
          <a:prstGeom prst="rect">
            <a:avLst/>
          </a:prstGeom>
          <a:noFill/>
          <a:ln/>
        </p:spPr>
        <p:txBody>
          <a:bodyPr wrap="square" lIns="0" tIns="0" rIns="0" bIns="0" rtlCol="0" anchor="t"/>
          <a:lstStyle/>
          <a:p>
            <a:pPr indent="0" marL="0">
              <a:buNone/>
            </a:pPr>
            <a:r>
              <a:rPr lang="en-US" sz="950" i="1" dirty="0">
                <a:solidFill>
                  <a:srgbClr val="1D3557"/>
                </a:solidFill>
                <a:latin typeface="Meiryo" pitchFamily="34" charset="0"/>
                <a:ea typeface="Meiryo" pitchFamily="34" charset="-122"/>
                <a:cs typeface="Meiryo" pitchFamily="34" charset="-120"/>
              </a:rPr>
              <a:t>固定費（役員報酬・ディレクター1名・ツール・オフィス）を100〜150万と置いても営業利益150万超。業界平均粗利42.7%を上回る設計の前提は「単発・小ロットを受けない規律」。</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228600"/>
          </a:xfrm>
          <a:prstGeom prst="rect">
            <a:avLst/>
          </a:prstGeom>
          <a:noFill/>
          <a:ln/>
        </p:spPr>
        <p:txBody>
          <a:bodyPr wrap="square" lIns="0" tIns="0" rIns="0" bIns="0" rtlCol="0" anchor="t"/>
          <a:lstStyle/>
          <a:p>
            <a:pPr indent="0" marL="0">
              <a:buNone/>
            </a:pPr>
            <a:r>
              <a:rPr lang="en-US" sz="1100" b="1" dirty="0">
                <a:solidFill>
                  <a:srgbClr val="E63946"/>
                </a:solidFill>
                <a:latin typeface="Meiryo" pitchFamily="34" charset="0"/>
                <a:ea typeface="Meiryo" pitchFamily="34" charset="-122"/>
                <a:cs typeface="Meiryo" pitchFamily="34" charset="-120"/>
              </a:rPr>
              <a:t>5. 収益モデル</a:t>
            </a:r>
            <a:endParaRPr lang="en-US" sz="1100" dirty="0"/>
          </a:p>
        </p:txBody>
      </p:sp>
      <p:sp>
        <p:nvSpPr>
          <p:cNvPr id="3" name="Text 1"/>
          <p:cNvSpPr txBox="1"/>
          <p:nvPr/>
        </p:nvSpPr>
        <p:spPr>
          <a:xfrm>
            <a:off x="548640" y="548640"/>
            <a:ext cx="8046720" cy="548640"/>
          </a:xfrm>
          <a:prstGeom prst="rect">
            <a:avLst/>
          </a:prstGeom>
          <a:noFill/>
          <a:ln/>
        </p:spPr>
        <p:txBody>
          <a:bodyPr wrap="square" lIns="0" tIns="0" rIns="0" bIns="0" rtlCol="0" anchor="t"/>
          <a:lstStyle/>
          <a:p>
            <a:pPr indent="0" marL="0">
              <a:buNone/>
            </a:pPr>
            <a:r>
              <a:rPr lang="en-US" sz="2200" b="1" dirty="0">
                <a:solidFill>
                  <a:srgbClr val="111318"/>
                </a:solidFill>
                <a:latin typeface="Meiryo" pitchFamily="34" charset="0"/>
                <a:ea typeface="Meiryo" pitchFamily="34" charset="-122"/>
                <a:cs typeface="Meiryo" pitchFamily="34" charset="-120"/>
              </a:rPr>
              <a:t>必要リードは月30〜40件、成約率25%で受注3〜4件</a:t>
            </a:r>
            <a:endParaRPr lang="en-US" sz="2200" dirty="0"/>
          </a:p>
        </p:txBody>
      </p:sp>
      <p:sp>
        <p:nvSpPr>
          <p:cNvPr id="4" name="Text 2"/>
          <p:cNvSpPr txBox="1"/>
          <p:nvPr/>
        </p:nvSpPr>
        <p:spPr>
          <a:xfrm>
            <a:off x="8229600" y="4754880"/>
            <a:ext cx="4572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pitchFamily="34" charset="0"/>
                <a:ea typeface="Meiryo" pitchFamily="34" charset="-122"/>
                <a:cs typeface="Meiryo" pitchFamily="34" charset="-120"/>
              </a:rPr>
              <a:t>15</a:t>
            </a:r>
            <a:endParaRPr lang="en-US" sz="900" dirty="0"/>
          </a:p>
        </p:txBody>
      </p:sp>
      <p:sp>
        <p:nvSpPr>
          <p:cNvPr id="5" name="Shape 3"/>
          <p:cNvSpPr/>
          <p:nvPr/>
        </p:nvSpPr>
        <p:spPr>
          <a:xfrm>
            <a:off x="548640" y="1234440"/>
            <a:ext cx="8046720" cy="731520"/>
          </a:xfrm>
          <a:prstGeom prst="roundRect">
            <a:avLst>
              <a:gd name="adj" fmla="val 7500"/>
            </a:avLst>
          </a:prstGeom>
          <a:solidFill>
            <a:srgbClr val="F3F4F6"/>
          </a:solidFill>
          <a:ln w="12700">
            <a:solidFill>
              <a:srgbClr val="F3F4F6"/>
            </a:solidFill>
            <a:prstDash val="solid"/>
          </a:ln>
        </p:spPr>
      </p:sp>
      <p:sp>
        <p:nvSpPr>
          <p:cNvPr id="6" name="Text 4"/>
          <p:cNvSpPr txBox="1"/>
          <p:nvPr/>
        </p:nvSpPr>
        <p:spPr>
          <a:xfrm>
            <a:off x="777240" y="1344168"/>
            <a:ext cx="1417320" cy="502920"/>
          </a:xfrm>
          <a:prstGeom prst="rect">
            <a:avLst/>
          </a:prstGeom>
          <a:noFill/>
          <a:ln/>
        </p:spPr>
        <p:txBody>
          <a:bodyPr wrap="square" lIns="0" tIns="0" rIns="0" bIns="0" rtlCol="0" anchor="ctr"/>
          <a:lstStyle/>
          <a:p>
            <a:pPr indent="0" marL="0">
              <a:buNone/>
            </a:pPr>
            <a:r>
              <a:rPr lang="en-US" sz="1800" b="1" dirty="0">
                <a:solidFill>
                  <a:srgbClr val="E63946"/>
                </a:solidFill>
                <a:latin typeface="Meiryo" pitchFamily="34" charset="0"/>
                <a:ea typeface="Meiryo" pitchFamily="34" charset="-122"/>
                <a:cs typeface="Meiryo" pitchFamily="34" charset="-120"/>
              </a:rPr>
              <a:t>30〜40件</a:t>
            </a:r>
            <a:endParaRPr lang="en-US" sz="1800" dirty="0"/>
          </a:p>
        </p:txBody>
      </p:sp>
      <p:sp>
        <p:nvSpPr>
          <p:cNvPr id="7" name="Text 5"/>
          <p:cNvSpPr txBox="1"/>
          <p:nvPr/>
        </p:nvSpPr>
        <p:spPr>
          <a:xfrm>
            <a:off x="2240280" y="1344168"/>
            <a:ext cx="1280160" cy="502920"/>
          </a:xfrm>
          <a:prstGeom prst="rect">
            <a:avLst/>
          </a:prstGeom>
          <a:noFill/>
          <a:ln/>
        </p:spPr>
        <p:txBody>
          <a:bodyPr wrap="square" lIns="0" tIns="0" rIns="0" bIns="0" rtlCol="0" anchor="ctr"/>
          <a:lstStyle/>
          <a:p>
            <a:pPr indent="0" marL="0">
              <a:buNone/>
            </a:pPr>
            <a:r>
              <a:rPr lang="en-US" sz="1050" b="1" dirty="0">
                <a:solidFill>
                  <a:srgbClr val="111318"/>
                </a:solidFill>
                <a:latin typeface="Meiryo" pitchFamily="34" charset="0"/>
                <a:ea typeface="Meiryo" pitchFamily="34" charset="-122"/>
                <a:cs typeface="Meiryo" pitchFamily="34" charset="-120"/>
              </a:rPr>
              <a:t>リード / 月</a:t>
            </a:r>
            <a:endParaRPr lang="en-US" sz="1050" dirty="0"/>
          </a:p>
        </p:txBody>
      </p:sp>
      <p:sp>
        <p:nvSpPr>
          <p:cNvPr id="8" name="Text 6"/>
          <p:cNvSpPr txBox="1"/>
          <p:nvPr/>
        </p:nvSpPr>
        <p:spPr>
          <a:xfrm>
            <a:off x="3566160" y="1344168"/>
            <a:ext cx="4846320" cy="502920"/>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自社SNS 10・紹介 10・アウトバウンド 10・SEO 5〜10</a:t>
            </a:r>
            <a:endParaRPr lang="en-US" sz="900" dirty="0"/>
          </a:p>
        </p:txBody>
      </p:sp>
      <p:sp>
        <p:nvSpPr>
          <p:cNvPr id="9" name="Shape 7"/>
          <p:cNvSpPr/>
          <p:nvPr/>
        </p:nvSpPr>
        <p:spPr>
          <a:xfrm>
            <a:off x="1280160" y="2103120"/>
            <a:ext cx="6583680" cy="731520"/>
          </a:xfrm>
          <a:prstGeom prst="roundRect">
            <a:avLst>
              <a:gd name="adj" fmla="val 7500"/>
            </a:avLst>
          </a:prstGeom>
          <a:solidFill>
            <a:srgbClr val="D6DAE2"/>
          </a:solidFill>
          <a:ln w="12700">
            <a:solidFill>
              <a:srgbClr val="D6DAE2"/>
            </a:solidFill>
            <a:prstDash val="solid"/>
          </a:ln>
        </p:spPr>
      </p:sp>
      <p:sp>
        <p:nvSpPr>
          <p:cNvPr id="10" name="Text 8"/>
          <p:cNvSpPr txBox="1"/>
          <p:nvPr/>
        </p:nvSpPr>
        <p:spPr>
          <a:xfrm>
            <a:off x="1508760" y="2212848"/>
            <a:ext cx="1417320" cy="502920"/>
          </a:xfrm>
          <a:prstGeom prst="rect">
            <a:avLst/>
          </a:prstGeom>
          <a:noFill/>
          <a:ln/>
        </p:spPr>
        <p:txBody>
          <a:bodyPr wrap="square" lIns="0" tIns="0" rIns="0" bIns="0" rtlCol="0" anchor="ctr"/>
          <a:lstStyle/>
          <a:p>
            <a:pPr indent="0" marL="0">
              <a:buNone/>
            </a:pPr>
            <a:r>
              <a:rPr lang="en-US" sz="1800" b="1" dirty="0">
                <a:solidFill>
                  <a:srgbClr val="E63946"/>
                </a:solidFill>
                <a:latin typeface="Meiryo" pitchFamily="34" charset="0"/>
                <a:ea typeface="Meiryo" pitchFamily="34" charset="-122"/>
                <a:cs typeface="Meiryo" pitchFamily="34" charset="-120"/>
              </a:rPr>
              <a:t>14件</a:t>
            </a:r>
            <a:endParaRPr lang="en-US" sz="1800" dirty="0"/>
          </a:p>
        </p:txBody>
      </p:sp>
      <p:sp>
        <p:nvSpPr>
          <p:cNvPr id="11" name="Text 9"/>
          <p:cNvSpPr txBox="1"/>
          <p:nvPr/>
        </p:nvSpPr>
        <p:spPr>
          <a:xfrm>
            <a:off x="2971800" y="2212848"/>
            <a:ext cx="1280160" cy="502920"/>
          </a:xfrm>
          <a:prstGeom prst="rect">
            <a:avLst/>
          </a:prstGeom>
          <a:noFill/>
          <a:ln/>
        </p:spPr>
        <p:txBody>
          <a:bodyPr wrap="square" lIns="0" tIns="0" rIns="0" bIns="0" rtlCol="0" anchor="ctr"/>
          <a:lstStyle/>
          <a:p>
            <a:pPr indent="0" marL="0">
              <a:buNone/>
            </a:pPr>
            <a:r>
              <a:rPr lang="en-US" sz="1050" b="1" dirty="0">
                <a:solidFill>
                  <a:srgbClr val="111318"/>
                </a:solidFill>
                <a:latin typeface="Meiryo" pitchFamily="34" charset="0"/>
                <a:ea typeface="Meiryo" pitchFamily="34" charset="-122"/>
                <a:cs typeface="Meiryo" pitchFamily="34" charset="-120"/>
              </a:rPr>
              <a:t>商談 / 月</a:t>
            </a:r>
            <a:endParaRPr lang="en-US" sz="1050" dirty="0"/>
          </a:p>
        </p:txBody>
      </p:sp>
      <p:sp>
        <p:nvSpPr>
          <p:cNvPr id="12" name="Text 10"/>
          <p:cNvSpPr txBox="1"/>
          <p:nvPr/>
        </p:nvSpPr>
        <p:spPr>
          <a:xfrm>
            <a:off x="4297680" y="2212848"/>
            <a:ext cx="3383280" cy="502920"/>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成約率25%で計算</a:t>
            </a:r>
            <a:endParaRPr lang="en-US" sz="900" dirty="0"/>
          </a:p>
        </p:txBody>
      </p:sp>
      <p:sp>
        <p:nvSpPr>
          <p:cNvPr id="13" name="Shape 11"/>
          <p:cNvSpPr/>
          <p:nvPr/>
        </p:nvSpPr>
        <p:spPr>
          <a:xfrm>
            <a:off x="2011680" y="2971800"/>
            <a:ext cx="5120640" cy="731520"/>
          </a:xfrm>
          <a:prstGeom prst="roundRect">
            <a:avLst>
              <a:gd name="adj" fmla="val 7500"/>
            </a:avLst>
          </a:prstGeom>
          <a:solidFill>
            <a:srgbClr val="1D3557"/>
          </a:solidFill>
          <a:ln w="12700">
            <a:solidFill>
              <a:srgbClr val="1D3557"/>
            </a:solidFill>
            <a:prstDash val="solid"/>
          </a:ln>
        </p:spPr>
      </p:sp>
      <p:sp>
        <p:nvSpPr>
          <p:cNvPr id="14" name="Text 12"/>
          <p:cNvSpPr txBox="1"/>
          <p:nvPr/>
        </p:nvSpPr>
        <p:spPr>
          <a:xfrm>
            <a:off x="2240280" y="3081528"/>
            <a:ext cx="1417320" cy="502920"/>
          </a:xfrm>
          <a:prstGeom prst="rect">
            <a:avLst/>
          </a:prstGeom>
          <a:noFill/>
          <a:ln/>
        </p:spPr>
        <p:txBody>
          <a:bodyPr wrap="square" lIns="0" tIns="0" rIns="0" bIns="0" rtlCol="0" anchor="ctr"/>
          <a:lstStyle/>
          <a:p>
            <a:pPr indent="0" marL="0">
              <a:buNone/>
            </a:pPr>
            <a:r>
              <a:rPr lang="en-US" sz="1800" b="1" dirty="0">
                <a:solidFill>
                  <a:srgbClr val="D9A441"/>
                </a:solidFill>
                <a:latin typeface="Meiryo" pitchFamily="34" charset="0"/>
                <a:ea typeface="Meiryo" pitchFamily="34" charset="-122"/>
                <a:cs typeface="Meiryo" pitchFamily="34" charset="-120"/>
              </a:rPr>
              <a:t>3〜4件</a:t>
            </a:r>
            <a:endParaRPr lang="en-US" sz="1800" dirty="0"/>
          </a:p>
        </p:txBody>
      </p:sp>
      <p:sp>
        <p:nvSpPr>
          <p:cNvPr id="15" name="Text 13"/>
          <p:cNvSpPr txBox="1"/>
          <p:nvPr/>
        </p:nvSpPr>
        <p:spPr>
          <a:xfrm>
            <a:off x="3703320" y="3081528"/>
            <a:ext cx="1280160" cy="502920"/>
          </a:xfrm>
          <a:prstGeom prst="rect">
            <a:avLst/>
          </a:prstGeom>
          <a:noFill/>
          <a:ln/>
        </p:spPr>
        <p:txBody>
          <a:bodyPr wrap="square" lIns="0" tIns="0" rIns="0" bIns="0" rtlCol="0" anchor="ctr"/>
          <a:lstStyle/>
          <a:p>
            <a:pPr indent="0" marL="0">
              <a:buNone/>
            </a:pPr>
            <a:r>
              <a:rPr lang="en-US" sz="1050" b="1" dirty="0">
                <a:solidFill>
                  <a:srgbClr val="FFFFFF"/>
                </a:solidFill>
                <a:latin typeface="Meiryo" pitchFamily="34" charset="0"/>
                <a:ea typeface="Meiryo" pitchFamily="34" charset="-122"/>
                <a:cs typeface="Meiryo" pitchFamily="34" charset="-120"/>
              </a:rPr>
              <a:t>新規受注 / 月</a:t>
            </a:r>
            <a:endParaRPr lang="en-US" sz="1050" dirty="0"/>
          </a:p>
        </p:txBody>
      </p:sp>
      <p:sp>
        <p:nvSpPr>
          <p:cNvPr id="16" name="Text 14"/>
          <p:cNvSpPr txBox="1"/>
          <p:nvPr/>
        </p:nvSpPr>
        <p:spPr>
          <a:xfrm>
            <a:off x="5029200" y="3081528"/>
            <a:ext cx="1920240" cy="502920"/>
          </a:xfrm>
          <a:prstGeom prst="rect">
            <a:avLst/>
          </a:prstGeom>
          <a:noFill/>
          <a:ln/>
        </p:spPr>
        <p:txBody>
          <a:bodyPr wrap="square" lIns="0" tIns="0" rIns="0" bIns="0" rtlCol="0" anchor="ctr"/>
          <a:lstStyle/>
          <a:p>
            <a:pPr indent="0" marL="0">
              <a:buNone/>
            </a:pPr>
            <a:r>
              <a:rPr lang="en-US" sz="900" dirty="0">
                <a:solidFill>
                  <a:srgbClr val="C9CED8"/>
                </a:solidFill>
                <a:latin typeface="Meiryo" pitchFamily="34" charset="0"/>
                <a:ea typeface="Meiryo" pitchFamily="34" charset="-122"/>
                <a:cs typeface="Meiryo" pitchFamily="34" charset="-120"/>
              </a:rPr>
              <a:t>継続の解約補填込み</a:t>
            </a:r>
            <a:endParaRPr lang="en-US" sz="900" dirty="0"/>
          </a:p>
        </p:txBody>
      </p:sp>
      <p:sp>
        <p:nvSpPr>
          <p:cNvPr id="17" name="Shape 15"/>
          <p:cNvSpPr/>
          <p:nvPr/>
        </p:nvSpPr>
        <p:spPr>
          <a:xfrm>
            <a:off x="2560320" y="3840480"/>
            <a:ext cx="4023360" cy="731520"/>
          </a:xfrm>
          <a:prstGeom prst="roundRect">
            <a:avLst>
              <a:gd name="adj" fmla="val 7500"/>
            </a:avLst>
          </a:prstGeom>
          <a:solidFill>
            <a:srgbClr val="111318"/>
          </a:solidFill>
          <a:ln w="12700">
            <a:solidFill>
              <a:srgbClr val="111318"/>
            </a:solidFill>
            <a:prstDash val="solid"/>
          </a:ln>
        </p:spPr>
      </p:sp>
      <p:sp>
        <p:nvSpPr>
          <p:cNvPr id="18" name="Text 16"/>
          <p:cNvSpPr txBox="1"/>
          <p:nvPr/>
        </p:nvSpPr>
        <p:spPr>
          <a:xfrm>
            <a:off x="2788920" y="3950208"/>
            <a:ext cx="1417320" cy="502920"/>
          </a:xfrm>
          <a:prstGeom prst="rect">
            <a:avLst/>
          </a:prstGeom>
          <a:noFill/>
          <a:ln/>
        </p:spPr>
        <p:txBody>
          <a:bodyPr wrap="square" lIns="0" tIns="0" rIns="0" bIns="0" rtlCol="0" anchor="ctr"/>
          <a:lstStyle/>
          <a:p>
            <a:pPr indent="0" marL="0">
              <a:buNone/>
            </a:pPr>
            <a:r>
              <a:rPr lang="en-US" sz="1800" b="1" dirty="0">
                <a:solidFill>
                  <a:srgbClr val="D9A441"/>
                </a:solidFill>
                <a:latin typeface="Meiryo" pitchFamily="34" charset="0"/>
                <a:ea typeface="Meiryo" pitchFamily="34" charset="-122"/>
                <a:cs typeface="Meiryo" pitchFamily="34" charset="-120"/>
              </a:rPr>
              <a:t>継続5社</a:t>
            </a:r>
            <a:endParaRPr lang="en-US" sz="1800" dirty="0"/>
          </a:p>
        </p:txBody>
      </p:sp>
      <p:sp>
        <p:nvSpPr>
          <p:cNvPr id="19" name="Text 17"/>
          <p:cNvSpPr txBox="1"/>
          <p:nvPr/>
        </p:nvSpPr>
        <p:spPr>
          <a:xfrm>
            <a:off x="4251960" y="3950208"/>
            <a:ext cx="1280160" cy="502920"/>
          </a:xfrm>
          <a:prstGeom prst="rect">
            <a:avLst/>
          </a:prstGeom>
          <a:noFill/>
          <a:ln/>
        </p:spPr>
        <p:txBody>
          <a:bodyPr wrap="square" lIns="0" tIns="0" rIns="0" bIns="0" rtlCol="0" anchor="ctr"/>
          <a:lstStyle/>
          <a:p>
            <a:pPr indent="0" marL="0">
              <a:buNone/>
            </a:pPr>
            <a:r>
              <a:rPr lang="en-US" sz="1050" b="1" dirty="0">
                <a:solidFill>
                  <a:srgbClr val="FFFFFF"/>
                </a:solidFill>
                <a:latin typeface="Meiryo" pitchFamily="34" charset="0"/>
                <a:ea typeface="Meiryo" pitchFamily="34" charset="-122"/>
                <a:cs typeface="Meiryo" pitchFamily="34" charset="-120"/>
              </a:rPr>
              <a:t>＋スポット2〜3社</a:t>
            </a:r>
            <a:endParaRPr lang="en-US" sz="1050" dirty="0"/>
          </a:p>
        </p:txBody>
      </p:sp>
      <p:sp>
        <p:nvSpPr>
          <p:cNvPr id="20" name="Text 18"/>
          <p:cNvSpPr txBox="1"/>
          <p:nvPr/>
        </p:nvSpPr>
        <p:spPr>
          <a:xfrm>
            <a:off x="5577840" y="3950208"/>
            <a:ext cx="822960" cy="502920"/>
          </a:xfrm>
          <a:prstGeom prst="rect">
            <a:avLst/>
          </a:prstGeom>
          <a:noFill/>
          <a:ln/>
        </p:spPr>
        <p:txBody>
          <a:bodyPr wrap="square" lIns="0" tIns="0" rIns="0" bIns="0" rtlCol="0" anchor="ctr"/>
          <a:lstStyle/>
          <a:p>
            <a:pPr indent="0" marL="0">
              <a:buNone/>
            </a:pPr>
            <a:r>
              <a:rPr lang="en-US" sz="900" dirty="0">
                <a:solidFill>
                  <a:srgbClr val="C9CED8"/>
                </a:solidFill>
                <a:latin typeface="Meiryo" pitchFamily="34" charset="0"/>
                <a:ea typeface="Meiryo" pitchFamily="34" charset="-122"/>
                <a:cs typeface="Meiryo" pitchFamily="34" charset="-120"/>
              </a:rPr>
              <a:t>12ヶ月目の顧客構成</a:t>
            </a:r>
            <a:endParaRPr lang="en-US" sz="900" dirty="0"/>
          </a:p>
        </p:txBody>
      </p:sp>
      <p:sp>
        <p:nvSpPr>
          <p:cNvPr id="21" name="Text 19"/>
          <p:cNvSpPr txBox="1"/>
          <p:nvPr/>
        </p:nvSpPr>
        <p:spPr>
          <a:xfrm>
            <a:off x="548640" y="4681728"/>
            <a:ext cx="8046720" cy="320040"/>
          </a:xfrm>
          <a:prstGeom prst="rect">
            <a:avLst/>
          </a:prstGeom>
          <a:noFill/>
          <a:ln/>
        </p:spPr>
        <p:txBody>
          <a:bodyPr wrap="square" lIns="0" tIns="0" rIns="0" bIns="0" rtlCol="0" anchor="t"/>
          <a:lstStyle/>
          <a:p>
            <a:pPr indent="0" marL="0">
              <a:buNone/>
            </a:pPr>
            <a:r>
              <a:rPr lang="en-US" sz="1000" b="1" dirty="0">
                <a:solidFill>
                  <a:srgbClr val="E63946"/>
                </a:solidFill>
                <a:latin typeface="Meiryo" pitchFamily="34" charset="0"/>
                <a:ea typeface="Meiryo" pitchFamily="34" charset="-122"/>
                <a:cs typeface="Meiryo" pitchFamily="34" charset="-120"/>
              </a:rPr>
              <a:t>スポット依存だと毎月ゼロから営業することになり、月商500万は「良い月だけ」になる。</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228600"/>
          </a:xfrm>
          <a:prstGeom prst="rect">
            <a:avLst/>
          </a:prstGeom>
          <a:noFill/>
          <a:ln/>
        </p:spPr>
        <p:txBody>
          <a:bodyPr wrap="square" lIns="0" tIns="0" rIns="0" bIns="0" rtlCol="0" anchor="t"/>
          <a:lstStyle/>
          <a:p>
            <a:pPr indent="0" marL="0">
              <a:buNone/>
            </a:pPr>
            <a:r>
              <a:rPr lang="en-US" sz="1100" b="1" dirty="0">
                <a:solidFill>
                  <a:srgbClr val="E63946"/>
                </a:solidFill>
                <a:latin typeface="Meiryo" pitchFamily="34" charset="0"/>
                <a:ea typeface="Meiryo" pitchFamily="34" charset="-122"/>
                <a:cs typeface="Meiryo" pitchFamily="34" charset="-120"/>
              </a:rPr>
              <a:t>6. 集客・営業</a:t>
            </a:r>
            <a:endParaRPr lang="en-US" sz="1100" dirty="0"/>
          </a:p>
        </p:txBody>
      </p:sp>
      <p:sp>
        <p:nvSpPr>
          <p:cNvPr id="3" name="Text 1"/>
          <p:cNvSpPr txBox="1"/>
          <p:nvPr/>
        </p:nvSpPr>
        <p:spPr>
          <a:xfrm>
            <a:off x="548640" y="548640"/>
            <a:ext cx="8046720" cy="548640"/>
          </a:xfrm>
          <a:prstGeom prst="rect">
            <a:avLst/>
          </a:prstGeom>
          <a:noFill/>
          <a:ln/>
        </p:spPr>
        <p:txBody>
          <a:bodyPr wrap="square" lIns="0" tIns="0" rIns="0" bIns="0" rtlCol="0" anchor="t"/>
          <a:lstStyle/>
          <a:p>
            <a:pPr indent="0" marL="0">
              <a:buNone/>
            </a:pPr>
            <a:r>
              <a:rPr lang="en-US" sz="2200" b="1" dirty="0">
                <a:solidFill>
                  <a:srgbClr val="111318"/>
                </a:solidFill>
                <a:latin typeface="Meiryo" pitchFamily="34" charset="0"/>
                <a:ea typeface="Meiryo" pitchFamily="34" charset="-122"/>
                <a:cs typeface="Meiryo" pitchFamily="34" charset="-120"/>
              </a:rPr>
              <a:t>集客は4本柱。自社アカウントを最強の営業資料にする</a:t>
            </a:r>
            <a:endParaRPr lang="en-US" sz="2200" dirty="0"/>
          </a:p>
        </p:txBody>
      </p:sp>
      <p:sp>
        <p:nvSpPr>
          <p:cNvPr id="4" name="Text 2"/>
          <p:cNvSpPr txBox="1"/>
          <p:nvPr/>
        </p:nvSpPr>
        <p:spPr>
          <a:xfrm>
            <a:off x="8229600" y="4754880"/>
            <a:ext cx="4572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pitchFamily="34" charset="0"/>
                <a:ea typeface="Meiryo" pitchFamily="34" charset="-122"/>
                <a:cs typeface="Meiryo" pitchFamily="34" charset="-120"/>
              </a:rPr>
              <a:t>16</a:t>
            </a:r>
            <a:endParaRPr lang="en-US" sz="900" dirty="0"/>
          </a:p>
        </p:txBody>
      </p:sp>
      <p:sp>
        <p:nvSpPr>
          <p:cNvPr id="5" name="Shape 3"/>
          <p:cNvSpPr/>
          <p:nvPr/>
        </p:nvSpPr>
        <p:spPr>
          <a:xfrm>
            <a:off x="548640" y="1234440"/>
            <a:ext cx="3931920" cy="1645920"/>
          </a:xfrm>
          <a:prstGeom prst="roundRect">
            <a:avLst>
              <a:gd name="adj" fmla="val 4444"/>
            </a:avLst>
          </a:prstGeom>
          <a:solidFill>
            <a:srgbClr val="F3F4F6"/>
          </a:solidFill>
          <a:ln w="12700">
            <a:solidFill>
              <a:srgbClr val="F3F4F6"/>
            </a:solidFill>
            <a:prstDash val="solid"/>
          </a:ln>
        </p:spPr>
      </p:sp>
      <p:sp>
        <p:nvSpPr>
          <p:cNvPr id="6" name="Shape 4"/>
          <p:cNvSpPr/>
          <p:nvPr/>
        </p:nvSpPr>
        <p:spPr>
          <a:xfrm>
            <a:off x="731520" y="1417320"/>
            <a:ext cx="411480" cy="411480"/>
          </a:xfrm>
          <a:prstGeom prst="ellipse">
            <a:avLst/>
          </a:prstGeom>
          <a:solidFill>
            <a:srgbClr val="E63946"/>
          </a:solidFill>
          <a:ln w="12700">
            <a:solidFill>
              <a:srgbClr val="E63946"/>
            </a:solidFill>
            <a:prstDash val="solid"/>
          </a:ln>
        </p:spPr>
      </p:sp>
      <p:pic>
        <p:nvPicPr>
          <p:cNvPr id="7" name="Image 0" descr="preencoded.png">    </p:cNvPr>
          <p:cNvPicPr>
            <a:picLocks noChangeAspect="1"/>
          </p:cNvPicPr>
          <p:nvPr/>
        </p:nvPicPr>
        <p:blipFill>
          <a:blip r:embed="rId1"/>
          <a:stretch>
            <a:fillRect/>
          </a:stretch>
        </p:blipFill>
        <p:spPr>
          <a:xfrm>
            <a:off x="834390" y="1520190"/>
            <a:ext cx="205740" cy="205740"/>
          </a:xfrm>
          <a:prstGeom prst="rect">
            <a:avLst/>
          </a:prstGeom>
        </p:spPr>
      </p:pic>
      <p:sp>
        <p:nvSpPr>
          <p:cNvPr id="8" name="Text 5"/>
          <p:cNvSpPr txBox="1"/>
          <p:nvPr/>
        </p:nvSpPr>
        <p:spPr>
          <a:xfrm>
            <a:off x="1280160" y="1463040"/>
            <a:ext cx="3108960" cy="320040"/>
          </a:xfrm>
          <a:prstGeom prst="rect">
            <a:avLst/>
          </a:prstGeom>
          <a:noFill/>
          <a:ln/>
        </p:spPr>
        <p:txBody>
          <a:bodyPr wrap="square" lIns="0" tIns="0" rIns="0" bIns="0" rtlCol="0" anchor="t"/>
          <a:lstStyle/>
          <a:p>
            <a:pPr indent="0" marL="0">
              <a:buNone/>
            </a:pPr>
            <a:r>
              <a:rPr lang="en-US" sz="1150" b="1" dirty="0">
                <a:solidFill>
                  <a:srgbClr val="111318"/>
                </a:solidFill>
                <a:latin typeface="Meiryo" pitchFamily="34" charset="0"/>
                <a:ea typeface="Meiryo" pitchFamily="34" charset="-122"/>
                <a:cs typeface="Meiryo" pitchFamily="34" charset="-120"/>
              </a:rPr>
              <a:t>① 自社アカウントをショーケースに</a:t>
            </a:r>
            <a:endParaRPr lang="en-US" sz="1150" dirty="0"/>
          </a:p>
        </p:txBody>
      </p:sp>
      <p:sp>
        <p:nvSpPr>
          <p:cNvPr id="9" name="Text 6"/>
          <p:cNvSpPr txBox="1"/>
          <p:nvPr/>
        </p:nvSpPr>
        <p:spPr>
          <a:xfrm>
            <a:off x="731520" y="1892808"/>
            <a:ext cx="3566160" cy="960120"/>
          </a:xfrm>
          <a:prstGeom prst="rect">
            <a:avLst/>
          </a:prstGeom>
          <a:noFill/>
          <a:ln/>
        </p:spPr>
        <p:txBody>
          <a:bodyPr wrap="square" lIns="0" tIns="0" rIns="0" bIns="0" rtlCol="0" anchor="t"/>
          <a:lstStyle/>
          <a:p>
            <a:pPr indent="0" marL="0">
              <a:buNone/>
            </a:pPr>
            <a:r>
              <a:rPr lang="en-US" sz="920" dirty="0">
                <a:solidFill>
                  <a:srgbClr val="1F2430"/>
                </a:solidFill>
                <a:latin typeface="Meiryo" pitchFamily="34" charset="0"/>
                <a:ea typeface="Meiryo" pitchFamily="34" charset="-122"/>
                <a:cs typeface="Meiryo" pitchFamily="34" charset="-120"/>
              </a:rPr>
              <a:t>AIドラマを毎日1本（原価6千〜1万円で回る）、実写を週1本。KPI：3ヶ月で1万フォロワー、6ヶ月でDM月10件。GOKKO・HA-LUも自社コンテンツで集客している</a:t>
            </a:r>
            <a:endParaRPr lang="en-US" sz="920" dirty="0"/>
          </a:p>
        </p:txBody>
      </p:sp>
      <p:sp>
        <p:nvSpPr>
          <p:cNvPr id="10" name="Shape 7"/>
          <p:cNvSpPr/>
          <p:nvPr/>
        </p:nvSpPr>
        <p:spPr>
          <a:xfrm>
            <a:off x="4663440" y="1234440"/>
            <a:ext cx="3931920" cy="1645920"/>
          </a:xfrm>
          <a:prstGeom prst="roundRect">
            <a:avLst>
              <a:gd name="adj" fmla="val 4444"/>
            </a:avLst>
          </a:prstGeom>
          <a:solidFill>
            <a:srgbClr val="F3F4F6"/>
          </a:solidFill>
          <a:ln w="12700">
            <a:solidFill>
              <a:srgbClr val="F3F4F6"/>
            </a:solidFill>
            <a:prstDash val="solid"/>
          </a:ln>
        </p:spPr>
      </p:sp>
      <p:sp>
        <p:nvSpPr>
          <p:cNvPr id="11" name="Shape 8"/>
          <p:cNvSpPr/>
          <p:nvPr/>
        </p:nvSpPr>
        <p:spPr>
          <a:xfrm>
            <a:off x="4846320" y="1417320"/>
            <a:ext cx="411480" cy="411480"/>
          </a:xfrm>
          <a:prstGeom prst="ellipse">
            <a:avLst/>
          </a:prstGeom>
          <a:solidFill>
            <a:srgbClr val="1D3557"/>
          </a:solidFill>
          <a:ln w="12700">
            <a:solidFill>
              <a:srgbClr val="1D3557"/>
            </a:solidFill>
            <a:prstDash val="solid"/>
          </a:ln>
        </p:spPr>
      </p:sp>
      <p:pic>
        <p:nvPicPr>
          <p:cNvPr id="12" name="Image 1" descr="preencoded.png">    </p:cNvPr>
          <p:cNvPicPr>
            <a:picLocks noChangeAspect="1"/>
          </p:cNvPicPr>
          <p:nvPr/>
        </p:nvPicPr>
        <p:blipFill>
          <a:blip r:embed="rId2"/>
          <a:stretch>
            <a:fillRect/>
          </a:stretch>
        </p:blipFill>
        <p:spPr>
          <a:xfrm>
            <a:off x="4949190" y="1520190"/>
            <a:ext cx="205740" cy="205740"/>
          </a:xfrm>
          <a:prstGeom prst="rect">
            <a:avLst/>
          </a:prstGeom>
        </p:spPr>
      </p:pic>
      <p:sp>
        <p:nvSpPr>
          <p:cNvPr id="13" name="Text 9"/>
          <p:cNvSpPr txBox="1"/>
          <p:nvPr/>
        </p:nvSpPr>
        <p:spPr>
          <a:xfrm>
            <a:off x="5394960" y="1463040"/>
            <a:ext cx="3108960" cy="320040"/>
          </a:xfrm>
          <a:prstGeom prst="rect">
            <a:avLst/>
          </a:prstGeom>
          <a:noFill/>
          <a:ln/>
        </p:spPr>
        <p:txBody>
          <a:bodyPr wrap="square" lIns="0" tIns="0" rIns="0" bIns="0" rtlCol="0" anchor="t"/>
          <a:lstStyle/>
          <a:p>
            <a:pPr indent="0" marL="0">
              <a:buNone/>
            </a:pPr>
            <a:r>
              <a:rPr lang="en-US" sz="1150" b="1" dirty="0">
                <a:solidFill>
                  <a:srgbClr val="111318"/>
                </a:solidFill>
                <a:latin typeface="Meiryo" pitchFamily="34" charset="0"/>
                <a:ea typeface="Meiryo" pitchFamily="34" charset="-122"/>
                <a:cs typeface="Meiryo" pitchFamily="34" charset="-120"/>
              </a:rPr>
              <a:t>② パートナー・紹介</a:t>
            </a:r>
            <a:endParaRPr lang="en-US" sz="1150" dirty="0"/>
          </a:p>
        </p:txBody>
      </p:sp>
      <p:sp>
        <p:nvSpPr>
          <p:cNvPr id="14" name="Text 10"/>
          <p:cNvSpPr txBox="1"/>
          <p:nvPr/>
        </p:nvSpPr>
        <p:spPr>
          <a:xfrm>
            <a:off x="4846320" y="1892808"/>
            <a:ext cx="3566160" cy="960120"/>
          </a:xfrm>
          <a:prstGeom prst="rect">
            <a:avLst/>
          </a:prstGeom>
          <a:noFill/>
          <a:ln/>
        </p:spPr>
        <p:txBody>
          <a:bodyPr wrap="square" lIns="0" tIns="0" rIns="0" bIns="0" rtlCol="0" anchor="t"/>
          <a:lstStyle/>
          <a:p>
            <a:pPr indent="0" marL="0">
              <a:buNone/>
            </a:pPr>
            <a:r>
              <a:rPr lang="en-US" sz="920" dirty="0">
                <a:solidFill>
                  <a:srgbClr val="1F2430"/>
                </a:solidFill>
                <a:latin typeface="Meiryo" pitchFamily="34" charset="0"/>
                <a:ea typeface="Meiryo" pitchFamily="34" charset="-122"/>
                <a:cs typeface="Meiryo" pitchFamily="34" charset="-120"/>
              </a:rPr>
              <a:t>SNS運用代行にOEM卸（AI7万・実写22万）、採用コンサル・求人代理店と共同提案（紹介料10%）、税理士・商工会議所と補助金セット、地方代理店の制作パートナー</a:t>
            </a:r>
            <a:endParaRPr lang="en-US" sz="920" dirty="0"/>
          </a:p>
        </p:txBody>
      </p:sp>
      <p:sp>
        <p:nvSpPr>
          <p:cNvPr id="15" name="Shape 11"/>
          <p:cNvSpPr/>
          <p:nvPr/>
        </p:nvSpPr>
        <p:spPr>
          <a:xfrm>
            <a:off x="548640" y="3017520"/>
            <a:ext cx="3931920" cy="1645920"/>
          </a:xfrm>
          <a:prstGeom prst="roundRect">
            <a:avLst>
              <a:gd name="adj" fmla="val 4444"/>
            </a:avLst>
          </a:prstGeom>
          <a:solidFill>
            <a:srgbClr val="F3F4F6"/>
          </a:solidFill>
          <a:ln w="12700">
            <a:solidFill>
              <a:srgbClr val="F3F4F6"/>
            </a:solidFill>
            <a:prstDash val="solid"/>
          </a:ln>
        </p:spPr>
      </p:sp>
      <p:sp>
        <p:nvSpPr>
          <p:cNvPr id="16" name="Shape 12"/>
          <p:cNvSpPr/>
          <p:nvPr/>
        </p:nvSpPr>
        <p:spPr>
          <a:xfrm>
            <a:off x="731520" y="3200400"/>
            <a:ext cx="411480" cy="411480"/>
          </a:xfrm>
          <a:prstGeom prst="ellipse">
            <a:avLst/>
          </a:prstGeom>
          <a:solidFill>
            <a:srgbClr val="1D3557"/>
          </a:solidFill>
          <a:ln w="12700">
            <a:solidFill>
              <a:srgbClr val="1D3557"/>
            </a:solidFill>
            <a:prstDash val="solid"/>
          </a:ln>
        </p:spPr>
      </p:sp>
      <p:pic>
        <p:nvPicPr>
          <p:cNvPr id="17" name="Image 2" descr="preencoded.png">    </p:cNvPr>
          <p:cNvPicPr>
            <a:picLocks noChangeAspect="1"/>
          </p:cNvPicPr>
          <p:nvPr/>
        </p:nvPicPr>
        <p:blipFill>
          <a:blip r:embed="rId3"/>
          <a:stretch>
            <a:fillRect/>
          </a:stretch>
        </p:blipFill>
        <p:spPr>
          <a:xfrm>
            <a:off x="834390" y="3303270"/>
            <a:ext cx="205740" cy="205740"/>
          </a:xfrm>
          <a:prstGeom prst="rect">
            <a:avLst/>
          </a:prstGeom>
        </p:spPr>
      </p:pic>
      <p:sp>
        <p:nvSpPr>
          <p:cNvPr id="18" name="Text 13"/>
          <p:cNvSpPr txBox="1"/>
          <p:nvPr/>
        </p:nvSpPr>
        <p:spPr>
          <a:xfrm>
            <a:off x="1280160" y="3246120"/>
            <a:ext cx="3108960" cy="320040"/>
          </a:xfrm>
          <a:prstGeom prst="rect">
            <a:avLst/>
          </a:prstGeom>
          <a:noFill/>
          <a:ln/>
        </p:spPr>
        <p:txBody>
          <a:bodyPr wrap="square" lIns="0" tIns="0" rIns="0" bIns="0" rtlCol="0" anchor="t"/>
          <a:lstStyle/>
          <a:p>
            <a:pPr indent="0" marL="0">
              <a:buNone/>
            </a:pPr>
            <a:r>
              <a:rPr lang="en-US" sz="1150" b="1" dirty="0">
                <a:solidFill>
                  <a:srgbClr val="111318"/>
                </a:solidFill>
                <a:latin typeface="Meiryo" pitchFamily="34" charset="0"/>
                <a:ea typeface="Meiryo" pitchFamily="34" charset="-122"/>
                <a:cs typeface="Meiryo" pitchFamily="34" charset="-120"/>
              </a:rPr>
              <a:t>③ 「作ってから送る」営業</a:t>
            </a:r>
            <a:endParaRPr lang="en-US" sz="1150" dirty="0"/>
          </a:p>
        </p:txBody>
      </p:sp>
      <p:sp>
        <p:nvSpPr>
          <p:cNvPr id="19" name="Text 14"/>
          <p:cNvSpPr txBox="1"/>
          <p:nvPr/>
        </p:nvSpPr>
        <p:spPr>
          <a:xfrm>
            <a:off x="731520" y="3675888"/>
            <a:ext cx="3566160" cy="960120"/>
          </a:xfrm>
          <a:prstGeom prst="rect">
            <a:avLst/>
          </a:prstGeom>
          <a:noFill/>
          <a:ln/>
        </p:spPr>
        <p:txBody>
          <a:bodyPr wrap="square" lIns="0" tIns="0" rIns="0" bIns="0" rtlCol="0" anchor="t"/>
          <a:lstStyle/>
          <a:p>
            <a:pPr indent="0" marL="0">
              <a:buNone/>
            </a:pPr>
            <a:r>
              <a:rPr lang="en-US" sz="920" dirty="0">
                <a:solidFill>
                  <a:srgbClr val="1F2430"/>
                </a:solidFill>
                <a:latin typeface="Meiryo" pitchFamily="34" charset="0"/>
                <a:ea typeface="Meiryo" pitchFamily="34" charset="-122"/>
                <a:cs typeface="Meiryo" pitchFamily="34" charset="-120"/>
              </a:rPr>
              <a:t>採用ページの内容でAIドラマを1話作って送る。原価1万円で可能。実写専業には真似できない。採用難業種をリスト化。営業代行は月商200万超で併用検討（6ヶ月36アポ4受注の事例）</a:t>
            </a:r>
            <a:endParaRPr lang="en-US" sz="920" dirty="0"/>
          </a:p>
        </p:txBody>
      </p:sp>
      <p:sp>
        <p:nvSpPr>
          <p:cNvPr id="20" name="Shape 15"/>
          <p:cNvSpPr/>
          <p:nvPr/>
        </p:nvSpPr>
        <p:spPr>
          <a:xfrm>
            <a:off x="4663440" y="3017520"/>
            <a:ext cx="3931920" cy="1645920"/>
          </a:xfrm>
          <a:prstGeom prst="roundRect">
            <a:avLst>
              <a:gd name="adj" fmla="val 4444"/>
            </a:avLst>
          </a:prstGeom>
          <a:solidFill>
            <a:srgbClr val="F3F4F6"/>
          </a:solidFill>
          <a:ln w="12700">
            <a:solidFill>
              <a:srgbClr val="F3F4F6"/>
            </a:solidFill>
            <a:prstDash val="solid"/>
          </a:ln>
        </p:spPr>
      </p:sp>
      <p:sp>
        <p:nvSpPr>
          <p:cNvPr id="21" name="Shape 16"/>
          <p:cNvSpPr/>
          <p:nvPr/>
        </p:nvSpPr>
        <p:spPr>
          <a:xfrm>
            <a:off x="4846320" y="3200400"/>
            <a:ext cx="411480" cy="411480"/>
          </a:xfrm>
          <a:prstGeom prst="ellipse">
            <a:avLst/>
          </a:prstGeom>
          <a:solidFill>
            <a:srgbClr val="1D3557"/>
          </a:solidFill>
          <a:ln w="12700">
            <a:solidFill>
              <a:srgbClr val="1D3557"/>
            </a:solidFill>
            <a:prstDash val="solid"/>
          </a:ln>
        </p:spPr>
      </p:sp>
      <p:pic>
        <p:nvPicPr>
          <p:cNvPr id="22" name="Image 3" descr="preencoded.png">    </p:cNvPr>
          <p:cNvPicPr>
            <a:picLocks noChangeAspect="1"/>
          </p:cNvPicPr>
          <p:nvPr/>
        </p:nvPicPr>
        <p:blipFill>
          <a:blip r:embed="rId4"/>
          <a:stretch>
            <a:fillRect/>
          </a:stretch>
        </p:blipFill>
        <p:spPr>
          <a:xfrm>
            <a:off x="4949190" y="3303270"/>
            <a:ext cx="205740" cy="205740"/>
          </a:xfrm>
          <a:prstGeom prst="rect">
            <a:avLst/>
          </a:prstGeom>
        </p:spPr>
      </p:pic>
      <p:sp>
        <p:nvSpPr>
          <p:cNvPr id="23" name="Text 17"/>
          <p:cNvSpPr txBox="1"/>
          <p:nvPr/>
        </p:nvSpPr>
        <p:spPr>
          <a:xfrm>
            <a:off x="5394960" y="3246120"/>
            <a:ext cx="3108960" cy="320040"/>
          </a:xfrm>
          <a:prstGeom prst="rect">
            <a:avLst/>
          </a:prstGeom>
          <a:noFill/>
          <a:ln/>
        </p:spPr>
        <p:txBody>
          <a:bodyPr wrap="square" lIns="0" tIns="0" rIns="0" bIns="0" rtlCol="0" anchor="t"/>
          <a:lstStyle/>
          <a:p>
            <a:pPr indent="0" marL="0">
              <a:buNone/>
            </a:pPr>
            <a:r>
              <a:rPr lang="en-US" sz="1150" b="1" dirty="0">
                <a:solidFill>
                  <a:srgbClr val="111318"/>
                </a:solidFill>
                <a:latin typeface="Meiryo" pitchFamily="34" charset="0"/>
                <a:ea typeface="Meiryo" pitchFamily="34" charset="-122"/>
                <a:cs typeface="Meiryo" pitchFamily="34" charset="-120"/>
              </a:rPr>
              <a:t>④ 料金公開SEO</a:t>
            </a:r>
            <a:endParaRPr lang="en-US" sz="1150" dirty="0"/>
          </a:p>
        </p:txBody>
      </p:sp>
      <p:sp>
        <p:nvSpPr>
          <p:cNvPr id="24" name="Text 18"/>
          <p:cNvSpPr txBox="1"/>
          <p:nvPr/>
        </p:nvSpPr>
        <p:spPr>
          <a:xfrm>
            <a:off x="4846320" y="3675888"/>
            <a:ext cx="3566160" cy="960120"/>
          </a:xfrm>
          <a:prstGeom prst="rect">
            <a:avLst/>
          </a:prstGeom>
          <a:noFill/>
          <a:ln/>
        </p:spPr>
        <p:txBody>
          <a:bodyPr wrap="square" lIns="0" tIns="0" rIns="0" bIns="0" rtlCol="0" anchor="t"/>
          <a:lstStyle/>
          <a:p>
            <a:pPr indent="0" marL="0">
              <a:buNone/>
            </a:pPr>
            <a:r>
              <a:rPr lang="en-US" sz="920" dirty="0">
                <a:solidFill>
                  <a:srgbClr val="1F2430"/>
                </a:solidFill>
                <a:latin typeface="Meiryo" pitchFamily="34" charset="0"/>
                <a:ea typeface="Meiryo" pitchFamily="34" charset="-122"/>
                <a:cs typeface="Meiryo" pitchFamily="34" charset="-120"/>
              </a:rPr>
              <a:t>競合は全社「ショートドラマ 制作 費用」記事で集客＝効いている。多くが料金非公開なので、料金と原価構造、「単発を受けない理由」を公開して信頼を取る</a:t>
            </a:r>
            <a:endParaRPr lang="en-US" sz="9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228600"/>
          </a:xfrm>
          <a:prstGeom prst="rect">
            <a:avLst/>
          </a:prstGeom>
          <a:noFill/>
          <a:ln/>
        </p:spPr>
        <p:txBody>
          <a:bodyPr wrap="square" lIns="0" tIns="0" rIns="0" bIns="0" rtlCol="0" anchor="t"/>
          <a:lstStyle/>
          <a:p>
            <a:pPr indent="0" marL="0">
              <a:buNone/>
            </a:pPr>
            <a:r>
              <a:rPr lang="en-US" sz="1100" b="1" dirty="0">
                <a:solidFill>
                  <a:srgbClr val="E63946"/>
                </a:solidFill>
                <a:latin typeface="Meiryo" pitchFamily="34" charset="0"/>
                <a:ea typeface="Meiryo" pitchFamily="34" charset="-122"/>
                <a:cs typeface="Meiryo" pitchFamily="34" charset="-120"/>
              </a:rPr>
              <a:t>6. 集客・営業</a:t>
            </a:r>
            <a:endParaRPr lang="en-US" sz="1100" dirty="0"/>
          </a:p>
        </p:txBody>
      </p:sp>
      <p:sp>
        <p:nvSpPr>
          <p:cNvPr id="3" name="Text 1"/>
          <p:cNvSpPr txBox="1"/>
          <p:nvPr/>
        </p:nvSpPr>
        <p:spPr>
          <a:xfrm>
            <a:off x="548640" y="548640"/>
            <a:ext cx="8046720" cy="548640"/>
          </a:xfrm>
          <a:prstGeom prst="rect">
            <a:avLst/>
          </a:prstGeom>
          <a:noFill/>
          <a:ln/>
        </p:spPr>
        <p:txBody>
          <a:bodyPr wrap="square" lIns="0" tIns="0" rIns="0" bIns="0" rtlCol="0" anchor="t"/>
          <a:lstStyle/>
          <a:p>
            <a:pPr indent="0" marL="0">
              <a:buNone/>
            </a:pPr>
            <a:r>
              <a:rPr lang="en-US" sz="2200" b="1" dirty="0">
                <a:solidFill>
                  <a:srgbClr val="111318"/>
                </a:solidFill>
                <a:latin typeface="Meiryo" pitchFamily="34" charset="0"/>
                <a:ea typeface="Meiryo" pitchFamily="34" charset="-122"/>
                <a:cs typeface="Meiryo" pitchFamily="34" charset="-120"/>
              </a:rPr>
              <a:t>オファーは階段で設計する</a:t>
            </a:r>
            <a:endParaRPr lang="en-US" sz="2200" dirty="0"/>
          </a:p>
        </p:txBody>
      </p:sp>
      <p:sp>
        <p:nvSpPr>
          <p:cNvPr id="4" name="Text 2"/>
          <p:cNvSpPr txBox="1"/>
          <p:nvPr/>
        </p:nvSpPr>
        <p:spPr>
          <a:xfrm>
            <a:off x="8229600" y="4754880"/>
            <a:ext cx="4572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pitchFamily="34" charset="0"/>
                <a:ea typeface="Meiryo" pitchFamily="34" charset="-122"/>
                <a:cs typeface="Meiryo" pitchFamily="34" charset="-120"/>
              </a:rPr>
              <a:t>17</a:t>
            </a:r>
            <a:endParaRPr lang="en-US" sz="900" dirty="0"/>
          </a:p>
        </p:txBody>
      </p:sp>
      <p:sp>
        <p:nvSpPr>
          <p:cNvPr id="5" name="Shape 3"/>
          <p:cNvSpPr/>
          <p:nvPr/>
        </p:nvSpPr>
        <p:spPr>
          <a:xfrm>
            <a:off x="548640" y="3429000"/>
            <a:ext cx="1874520" cy="1280160"/>
          </a:xfrm>
          <a:prstGeom prst="roundRect">
            <a:avLst>
              <a:gd name="adj" fmla="val 4286"/>
            </a:avLst>
          </a:prstGeom>
          <a:solidFill>
            <a:srgbClr val="F3F4F6"/>
          </a:solidFill>
          <a:ln w="12700">
            <a:solidFill>
              <a:srgbClr val="F3F4F6"/>
            </a:solidFill>
            <a:prstDash val="solid"/>
          </a:ln>
        </p:spPr>
      </p:sp>
      <p:sp>
        <p:nvSpPr>
          <p:cNvPr id="6" name="Text 4"/>
          <p:cNvSpPr txBox="1"/>
          <p:nvPr/>
        </p:nvSpPr>
        <p:spPr>
          <a:xfrm>
            <a:off x="731520" y="3566160"/>
            <a:ext cx="1554480" cy="274320"/>
          </a:xfrm>
          <a:prstGeom prst="rect">
            <a:avLst/>
          </a:prstGeom>
          <a:noFill/>
          <a:ln/>
        </p:spPr>
        <p:txBody>
          <a:bodyPr wrap="square" lIns="0" tIns="0" rIns="0" bIns="0" rtlCol="0" anchor="t"/>
          <a:lstStyle/>
          <a:p>
            <a:pPr indent="0" marL="0">
              <a:buNone/>
            </a:pPr>
            <a:r>
              <a:rPr lang="en-US" sz="1000" b="1" dirty="0">
                <a:solidFill>
                  <a:srgbClr val="E63946"/>
                </a:solidFill>
                <a:latin typeface="Meiryo" pitchFamily="34" charset="0"/>
                <a:ea typeface="Meiryo" pitchFamily="34" charset="-122"/>
                <a:cs typeface="Meiryo" pitchFamily="34" charset="-120"/>
              </a:rPr>
              <a:t>入口</a:t>
            </a:r>
            <a:endParaRPr lang="en-US" sz="1000" dirty="0"/>
          </a:p>
        </p:txBody>
      </p:sp>
      <p:sp>
        <p:nvSpPr>
          <p:cNvPr id="7" name="Text 5"/>
          <p:cNvSpPr txBox="1"/>
          <p:nvPr/>
        </p:nvSpPr>
        <p:spPr>
          <a:xfrm>
            <a:off x="685800" y="3840480"/>
            <a:ext cx="1645920" cy="548640"/>
          </a:xfrm>
          <a:prstGeom prst="rect">
            <a:avLst/>
          </a:prstGeom>
          <a:noFill/>
          <a:ln/>
        </p:spPr>
        <p:txBody>
          <a:bodyPr wrap="square" lIns="0" tIns="0" rIns="0" bIns="0" rtlCol="0" anchor="t"/>
          <a:lstStyle/>
          <a:p>
            <a:pPr indent="0" marL="0">
              <a:buNone/>
            </a:pPr>
            <a:r>
              <a:rPr lang="en-US" sz="1000" b="1" dirty="0">
                <a:solidFill>
                  <a:srgbClr val="111318"/>
                </a:solidFill>
                <a:latin typeface="Meiryo" pitchFamily="34" charset="0"/>
                <a:ea typeface="Meiryo" pitchFamily="34" charset="-122"/>
                <a:cs typeface="Meiryo" pitchFamily="34" charset="-120"/>
              </a:rPr>
              <a:t>AIトライアル1話 5万円</a:t>
            </a:r>
            <a:endParaRPr lang="en-US" sz="1000" dirty="0"/>
          </a:p>
        </p:txBody>
      </p:sp>
      <p:sp>
        <p:nvSpPr>
          <p:cNvPr id="8" name="Text 6"/>
          <p:cNvSpPr txBox="1"/>
          <p:nvPr/>
        </p:nvSpPr>
        <p:spPr>
          <a:xfrm>
            <a:off x="731520" y="4389120"/>
            <a:ext cx="1554480" cy="228600"/>
          </a:xfrm>
          <a:prstGeom prst="rect">
            <a:avLst/>
          </a:prstGeom>
          <a:noFill/>
          <a:ln/>
        </p:spPr>
        <p:txBody>
          <a:bodyPr wrap="square" lIns="0" tIns="0" rIns="0" bIns="0" rtlCol="0" anchor="t"/>
          <a:lstStyle/>
          <a:p>
            <a:pPr indent="0" marL="0">
              <a:buNone/>
            </a:pPr>
            <a:r>
              <a:rPr lang="en-US" sz="850" dirty="0">
                <a:solidFill>
                  <a:srgbClr val="6B7280"/>
                </a:solidFill>
                <a:latin typeface="Meiryo" pitchFamily="34" charset="0"/>
                <a:ea typeface="Meiryo" pitchFamily="34" charset="-122"/>
                <a:cs typeface="Meiryo" pitchFamily="34" charset="-120"/>
              </a:rPr>
              <a:t>「作ってから送る」と組み合わせ、判断コストを下げる</a:t>
            </a:r>
            <a:endParaRPr lang="en-US" sz="850" dirty="0"/>
          </a:p>
        </p:txBody>
      </p:sp>
      <p:sp>
        <p:nvSpPr>
          <p:cNvPr id="9" name="Shape 7"/>
          <p:cNvSpPr/>
          <p:nvPr/>
        </p:nvSpPr>
        <p:spPr>
          <a:xfrm>
            <a:off x="2560320" y="2880360"/>
            <a:ext cx="1874520" cy="1828800"/>
          </a:xfrm>
          <a:prstGeom prst="roundRect">
            <a:avLst>
              <a:gd name="adj" fmla="val 3000"/>
            </a:avLst>
          </a:prstGeom>
          <a:solidFill>
            <a:srgbClr val="D6DAE2"/>
          </a:solidFill>
          <a:ln w="12700">
            <a:solidFill>
              <a:srgbClr val="D6DAE2"/>
            </a:solidFill>
            <a:prstDash val="solid"/>
          </a:ln>
        </p:spPr>
      </p:sp>
      <p:sp>
        <p:nvSpPr>
          <p:cNvPr id="10" name="Text 8"/>
          <p:cNvSpPr txBox="1"/>
          <p:nvPr/>
        </p:nvSpPr>
        <p:spPr>
          <a:xfrm>
            <a:off x="2743200" y="3017520"/>
            <a:ext cx="1554480" cy="274320"/>
          </a:xfrm>
          <a:prstGeom prst="rect">
            <a:avLst/>
          </a:prstGeom>
          <a:noFill/>
          <a:ln/>
        </p:spPr>
        <p:txBody>
          <a:bodyPr wrap="square" lIns="0" tIns="0" rIns="0" bIns="0" rtlCol="0" anchor="t"/>
          <a:lstStyle/>
          <a:p>
            <a:pPr indent="0" marL="0">
              <a:buNone/>
            </a:pPr>
            <a:r>
              <a:rPr lang="en-US" sz="1000" b="1" dirty="0">
                <a:solidFill>
                  <a:srgbClr val="E63946"/>
                </a:solidFill>
                <a:latin typeface="Meiryo" pitchFamily="34" charset="0"/>
                <a:ea typeface="Meiryo" pitchFamily="34" charset="-122"/>
                <a:cs typeface="Meiryo" pitchFamily="34" charset="-120"/>
              </a:rPr>
              <a:t>本命</a:t>
            </a:r>
            <a:endParaRPr lang="en-US" sz="1000" dirty="0"/>
          </a:p>
        </p:txBody>
      </p:sp>
      <p:sp>
        <p:nvSpPr>
          <p:cNvPr id="11" name="Text 9"/>
          <p:cNvSpPr txBox="1"/>
          <p:nvPr/>
        </p:nvSpPr>
        <p:spPr>
          <a:xfrm>
            <a:off x="2697480" y="3291840"/>
            <a:ext cx="1645920" cy="548640"/>
          </a:xfrm>
          <a:prstGeom prst="rect">
            <a:avLst/>
          </a:prstGeom>
          <a:noFill/>
          <a:ln/>
        </p:spPr>
        <p:txBody>
          <a:bodyPr wrap="square" lIns="0" tIns="0" rIns="0" bIns="0" rtlCol="0" anchor="t"/>
          <a:lstStyle/>
          <a:p>
            <a:pPr indent="0" marL="0">
              <a:buNone/>
            </a:pPr>
            <a:r>
              <a:rPr lang="en-US" sz="1000" b="1" dirty="0">
                <a:solidFill>
                  <a:srgbClr val="111318"/>
                </a:solidFill>
                <a:latin typeface="Meiryo" pitchFamily="34" charset="0"/>
                <a:ea typeface="Meiryo" pitchFamily="34" charset="-122"/>
                <a:cs typeface="Meiryo" pitchFamily="34" charset="-120"/>
              </a:rPr>
              <a:t>実写4話パック 108万 / AI6話パック 54万</a:t>
            </a:r>
            <a:endParaRPr lang="en-US" sz="1000" dirty="0"/>
          </a:p>
        </p:txBody>
      </p:sp>
      <p:sp>
        <p:nvSpPr>
          <p:cNvPr id="12" name="Text 10"/>
          <p:cNvSpPr txBox="1"/>
          <p:nvPr/>
        </p:nvSpPr>
        <p:spPr>
          <a:xfrm>
            <a:off x="2743200" y="3840480"/>
            <a:ext cx="1554480" cy="777240"/>
          </a:xfrm>
          <a:prstGeom prst="rect">
            <a:avLst/>
          </a:prstGeom>
          <a:noFill/>
          <a:ln/>
        </p:spPr>
        <p:txBody>
          <a:bodyPr wrap="square" lIns="0" tIns="0" rIns="0" bIns="0" rtlCol="0" anchor="t"/>
          <a:lstStyle/>
          <a:p>
            <a:pPr indent="0" marL="0">
              <a:buNone/>
            </a:pPr>
            <a:r>
              <a:rPr lang="en-US" sz="850" dirty="0">
                <a:solidFill>
                  <a:srgbClr val="6B7280"/>
                </a:solidFill>
                <a:latin typeface="Meiryo" pitchFamily="34" charset="0"/>
                <a:ea typeface="Meiryo" pitchFamily="34" charset="-122"/>
                <a:cs typeface="Meiryo" pitchFamily="34" charset="-120"/>
              </a:rPr>
              <a:t>1撮影日でまとめ撮り。シリーズ前提</a:t>
            </a:r>
            <a:endParaRPr lang="en-US" sz="850" dirty="0"/>
          </a:p>
        </p:txBody>
      </p:sp>
      <p:sp>
        <p:nvSpPr>
          <p:cNvPr id="13" name="Shape 11"/>
          <p:cNvSpPr/>
          <p:nvPr/>
        </p:nvSpPr>
        <p:spPr>
          <a:xfrm>
            <a:off x="4572000" y="2331720"/>
            <a:ext cx="1874520" cy="2377440"/>
          </a:xfrm>
          <a:prstGeom prst="roundRect">
            <a:avLst>
              <a:gd name="adj" fmla="val 2927"/>
            </a:avLst>
          </a:prstGeom>
          <a:solidFill>
            <a:srgbClr val="1D3557"/>
          </a:solidFill>
          <a:ln w="12700">
            <a:solidFill>
              <a:srgbClr val="1D3557"/>
            </a:solidFill>
            <a:prstDash val="solid"/>
          </a:ln>
        </p:spPr>
      </p:sp>
      <p:sp>
        <p:nvSpPr>
          <p:cNvPr id="14" name="Text 12"/>
          <p:cNvSpPr txBox="1"/>
          <p:nvPr/>
        </p:nvSpPr>
        <p:spPr>
          <a:xfrm>
            <a:off x="4754880" y="2468880"/>
            <a:ext cx="1554480" cy="274320"/>
          </a:xfrm>
          <a:prstGeom prst="rect">
            <a:avLst/>
          </a:prstGeom>
          <a:noFill/>
          <a:ln/>
        </p:spPr>
        <p:txBody>
          <a:bodyPr wrap="square" lIns="0" tIns="0" rIns="0" bIns="0" rtlCol="0" anchor="t"/>
          <a:lstStyle/>
          <a:p>
            <a:pPr indent="0" marL="0">
              <a:buNone/>
            </a:pPr>
            <a:r>
              <a:rPr lang="en-US" sz="1000" b="1" dirty="0">
                <a:solidFill>
                  <a:srgbClr val="D9A441"/>
                </a:solidFill>
                <a:latin typeface="Meiryo" pitchFamily="34" charset="0"/>
                <a:ea typeface="Meiryo" pitchFamily="34" charset="-122"/>
                <a:cs typeface="Meiryo" pitchFamily="34" charset="-120"/>
              </a:rPr>
              <a:t>継続</a:t>
            </a:r>
            <a:endParaRPr lang="en-US" sz="1000" dirty="0"/>
          </a:p>
        </p:txBody>
      </p:sp>
      <p:sp>
        <p:nvSpPr>
          <p:cNvPr id="15" name="Text 13"/>
          <p:cNvSpPr txBox="1"/>
          <p:nvPr/>
        </p:nvSpPr>
        <p:spPr>
          <a:xfrm>
            <a:off x="4709160" y="2743200"/>
            <a:ext cx="1645920" cy="548640"/>
          </a:xfrm>
          <a:prstGeom prst="rect">
            <a:avLst/>
          </a:prstGeom>
          <a:noFill/>
          <a:ln/>
        </p:spPr>
        <p:txBody>
          <a:bodyPr wrap="square" lIns="0" tIns="0" rIns="0" bIns="0" rtlCol="0" anchor="t"/>
          <a:lstStyle/>
          <a:p>
            <a:pPr indent="0" marL="0">
              <a:buNone/>
            </a:pPr>
            <a:r>
              <a:rPr lang="en-US" sz="1000" b="1" dirty="0">
                <a:solidFill>
                  <a:srgbClr val="FFFFFF"/>
                </a:solidFill>
                <a:latin typeface="Meiryo" pitchFamily="34" charset="0"/>
                <a:ea typeface="Meiryo" pitchFamily="34" charset="-122"/>
                <a:cs typeface="Meiryo" pitchFamily="34" charset="-120"/>
              </a:rPr>
              <a:t>月額AIライト 38万 / 実写スタンダード 130万</a:t>
            </a:r>
            <a:endParaRPr lang="en-US" sz="1000" dirty="0"/>
          </a:p>
        </p:txBody>
      </p:sp>
      <p:sp>
        <p:nvSpPr>
          <p:cNvPr id="16" name="Text 14"/>
          <p:cNvSpPr txBox="1"/>
          <p:nvPr/>
        </p:nvSpPr>
        <p:spPr>
          <a:xfrm>
            <a:off x="4754880" y="3291840"/>
            <a:ext cx="1554480" cy="1325880"/>
          </a:xfrm>
          <a:prstGeom prst="rect">
            <a:avLst/>
          </a:prstGeom>
          <a:noFill/>
          <a:ln/>
        </p:spPr>
        <p:txBody>
          <a:bodyPr wrap="square" lIns="0" tIns="0" rIns="0" bIns="0" rtlCol="0" anchor="t"/>
          <a:lstStyle/>
          <a:p>
            <a:pPr indent="0" marL="0">
              <a:buNone/>
            </a:pPr>
            <a:r>
              <a:rPr lang="en-US" sz="850" dirty="0">
                <a:solidFill>
                  <a:srgbClr val="C9CED8"/>
                </a:solidFill>
                <a:latin typeface="Meiryo" pitchFamily="34" charset="0"/>
                <a:ea typeface="Meiryo" pitchFamily="34" charset="-122"/>
                <a:cs typeface="Meiryo" pitchFamily="34" charset="-120"/>
              </a:rPr>
              <a:t>月商の柱。6ヶ月目以降はこれかパックのみ</a:t>
            </a:r>
            <a:endParaRPr lang="en-US" sz="850" dirty="0"/>
          </a:p>
        </p:txBody>
      </p:sp>
      <p:sp>
        <p:nvSpPr>
          <p:cNvPr id="17" name="Shape 15"/>
          <p:cNvSpPr/>
          <p:nvPr/>
        </p:nvSpPr>
        <p:spPr>
          <a:xfrm>
            <a:off x="6583680" y="1783080"/>
            <a:ext cx="1874520" cy="2926080"/>
          </a:xfrm>
          <a:prstGeom prst="roundRect">
            <a:avLst>
              <a:gd name="adj" fmla="val 2927"/>
            </a:avLst>
          </a:prstGeom>
          <a:solidFill>
            <a:srgbClr val="111318"/>
          </a:solidFill>
          <a:ln w="12700">
            <a:solidFill>
              <a:srgbClr val="111318"/>
            </a:solidFill>
            <a:prstDash val="solid"/>
          </a:ln>
        </p:spPr>
      </p:sp>
      <p:sp>
        <p:nvSpPr>
          <p:cNvPr id="18" name="Text 16"/>
          <p:cNvSpPr txBox="1"/>
          <p:nvPr/>
        </p:nvSpPr>
        <p:spPr>
          <a:xfrm>
            <a:off x="6766560" y="1920240"/>
            <a:ext cx="1554480" cy="274320"/>
          </a:xfrm>
          <a:prstGeom prst="rect">
            <a:avLst/>
          </a:prstGeom>
          <a:noFill/>
          <a:ln/>
        </p:spPr>
        <p:txBody>
          <a:bodyPr wrap="square" lIns="0" tIns="0" rIns="0" bIns="0" rtlCol="0" anchor="t"/>
          <a:lstStyle/>
          <a:p>
            <a:pPr indent="0" marL="0">
              <a:buNone/>
            </a:pPr>
            <a:r>
              <a:rPr lang="en-US" sz="1000" b="1" dirty="0">
                <a:solidFill>
                  <a:srgbClr val="D9A441"/>
                </a:solidFill>
                <a:latin typeface="Meiryo" pitchFamily="34" charset="0"/>
                <a:ea typeface="Meiryo" pitchFamily="34" charset="-122"/>
                <a:cs typeface="Meiryo" pitchFamily="34" charset="-120"/>
              </a:rPr>
              <a:t>拡張</a:t>
            </a:r>
            <a:endParaRPr lang="en-US" sz="1000" dirty="0"/>
          </a:p>
        </p:txBody>
      </p:sp>
      <p:sp>
        <p:nvSpPr>
          <p:cNvPr id="19" name="Text 17"/>
          <p:cNvSpPr txBox="1"/>
          <p:nvPr/>
        </p:nvSpPr>
        <p:spPr>
          <a:xfrm>
            <a:off x="6720840" y="2194560"/>
            <a:ext cx="1645920" cy="548640"/>
          </a:xfrm>
          <a:prstGeom prst="rect">
            <a:avLst/>
          </a:prstGeom>
          <a:noFill/>
          <a:ln/>
        </p:spPr>
        <p:txBody>
          <a:bodyPr wrap="square" lIns="0" tIns="0" rIns="0" bIns="0" rtlCol="0" anchor="t"/>
          <a:lstStyle/>
          <a:p>
            <a:pPr indent="0" marL="0">
              <a:buNone/>
            </a:pPr>
            <a:r>
              <a:rPr lang="en-US" sz="1000" b="1" dirty="0">
                <a:solidFill>
                  <a:srgbClr val="FFFFFF"/>
                </a:solidFill>
                <a:latin typeface="Meiryo" pitchFamily="34" charset="0"/>
                <a:ea typeface="Meiryo" pitchFamily="34" charset="-122"/>
                <a:cs typeface="Meiryo" pitchFamily="34" charset="-120"/>
              </a:rPr>
              <a:t>Spark Ads運用・多言語・ハイブリッド</a:t>
            </a:r>
            <a:endParaRPr lang="en-US" sz="1000" dirty="0"/>
          </a:p>
        </p:txBody>
      </p:sp>
      <p:sp>
        <p:nvSpPr>
          <p:cNvPr id="20" name="Text 18"/>
          <p:cNvSpPr txBox="1"/>
          <p:nvPr/>
        </p:nvSpPr>
        <p:spPr>
          <a:xfrm>
            <a:off x="6766560" y="2743200"/>
            <a:ext cx="1554480" cy="1874520"/>
          </a:xfrm>
          <a:prstGeom prst="rect">
            <a:avLst/>
          </a:prstGeom>
          <a:noFill/>
          <a:ln/>
        </p:spPr>
        <p:txBody>
          <a:bodyPr wrap="square" lIns="0" tIns="0" rIns="0" bIns="0" rtlCol="0" anchor="t"/>
          <a:lstStyle/>
          <a:p>
            <a:pPr indent="0" marL="0">
              <a:buNone/>
            </a:pPr>
            <a:r>
              <a:rPr lang="en-US" sz="850" dirty="0">
                <a:solidFill>
                  <a:srgbClr val="C9CED8"/>
                </a:solidFill>
                <a:latin typeface="Meiryo" pitchFamily="34" charset="0"/>
                <a:ea typeface="Meiryo" pitchFamily="34" charset="-122"/>
                <a:cs typeface="Meiryo" pitchFamily="34" charset="-120"/>
              </a:rPr>
              <a:t>既存顧客の単価を上げる</a:t>
            </a:r>
            <a:endParaRPr lang="en-US" sz="850" dirty="0"/>
          </a:p>
        </p:txBody>
      </p:sp>
      <p:sp>
        <p:nvSpPr>
          <p:cNvPr id="21" name="Text 19"/>
          <p:cNvSpPr txBox="1"/>
          <p:nvPr/>
        </p:nvSpPr>
        <p:spPr>
          <a:xfrm>
            <a:off x="548640" y="1188720"/>
            <a:ext cx="8046720" cy="457200"/>
          </a:xfrm>
          <a:prstGeom prst="rect">
            <a:avLst/>
          </a:prstGeom>
          <a:noFill/>
          <a:ln/>
        </p:spPr>
        <p:txBody>
          <a:bodyPr wrap="square" lIns="0" tIns="0" rIns="0" bIns="0" rtlCol="0" anchor="t"/>
          <a:lstStyle/>
          <a:p>
            <a:pPr indent="0" marL="0">
              <a:buNone/>
            </a:pPr>
            <a:r>
              <a:rPr lang="en-US" sz="1100" dirty="0">
                <a:solidFill>
                  <a:srgbClr val="1F2430"/>
                </a:solidFill>
                <a:latin typeface="Meiryo" pitchFamily="34" charset="0"/>
                <a:ea typeface="Meiryo" pitchFamily="34" charset="-122"/>
                <a:cs typeface="Meiryo" pitchFamily="34" charset="-120"/>
              </a:rPr>
              <a:t>GOKKOでも企業案件はバズが1/3。「再生数保証」の代わりに、フック3案ABテストと視聴維持率レポートを標準化する。</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228600"/>
          </a:xfrm>
          <a:prstGeom prst="rect">
            <a:avLst/>
          </a:prstGeom>
          <a:noFill/>
          <a:ln/>
        </p:spPr>
        <p:txBody>
          <a:bodyPr wrap="square" lIns="0" tIns="0" rIns="0" bIns="0" rtlCol="0" anchor="t"/>
          <a:lstStyle/>
          <a:p>
            <a:pPr indent="0" marL="0">
              <a:buNone/>
            </a:pPr>
            <a:r>
              <a:rPr lang="en-US" sz="1100" b="1" dirty="0">
                <a:solidFill>
                  <a:srgbClr val="E63946"/>
                </a:solidFill>
                <a:latin typeface="Meiryo" pitchFamily="34" charset="0"/>
                <a:ea typeface="Meiryo" pitchFamily="34" charset="-122"/>
                <a:cs typeface="Meiryo" pitchFamily="34" charset="-120"/>
              </a:rPr>
              <a:t>7. 制作体制</a:t>
            </a:r>
            <a:endParaRPr lang="en-US" sz="1100" dirty="0"/>
          </a:p>
        </p:txBody>
      </p:sp>
      <p:sp>
        <p:nvSpPr>
          <p:cNvPr id="3" name="Text 1"/>
          <p:cNvSpPr txBox="1"/>
          <p:nvPr/>
        </p:nvSpPr>
        <p:spPr>
          <a:xfrm>
            <a:off x="548640" y="548640"/>
            <a:ext cx="8046720" cy="548640"/>
          </a:xfrm>
          <a:prstGeom prst="rect">
            <a:avLst/>
          </a:prstGeom>
          <a:noFill/>
          <a:ln/>
        </p:spPr>
        <p:txBody>
          <a:bodyPr wrap="square" lIns="0" tIns="0" rIns="0" bIns="0" rtlCol="0" anchor="t"/>
          <a:lstStyle/>
          <a:p>
            <a:pPr indent="0" marL="0">
              <a:buNone/>
            </a:pPr>
            <a:r>
              <a:rPr lang="en-US" sz="2200" b="1" dirty="0">
                <a:solidFill>
                  <a:srgbClr val="111318"/>
                </a:solidFill>
                <a:latin typeface="Meiryo" pitchFamily="34" charset="0"/>
                <a:ea typeface="Meiryo" pitchFamily="34" charset="-122"/>
                <a:cs typeface="Meiryo" pitchFamily="34" charset="-120"/>
              </a:rPr>
              <a:t>制作体制：AIはパイプライン、実写は撮影日で管理</a:t>
            </a:r>
            <a:endParaRPr lang="en-US" sz="2200" dirty="0"/>
          </a:p>
        </p:txBody>
      </p:sp>
      <p:sp>
        <p:nvSpPr>
          <p:cNvPr id="4" name="Text 2"/>
          <p:cNvSpPr txBox="1"/>
          <p:nvPr/>
        </p:nvSpPr>
        <p:spPr>
          <a:xfrm>
            <a:off x="8229600" y="4754880"/>
            <a:ext cx="4572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pitchFamily="34" charset="0"/>
                <a:ea typeface="Meiryo" pitchFamily="34" charset="-122"/>
                <a:cs typeface="Meiryo" pitchFamily="34" charset="-120"/>
              </a:rPr>
              <a:t>18</a:t>
            </a:r>
            <a:endParaRPr lang="en-US" sz="900" dirty="0"/>
          </a:p>
        </p:txBody>
      </p:sp>
      <p:sp>
        <p:nvSpPr>
          <p:cNvPr id="5" name="Text 3"/>
          <p:cNvSpPr txBox="1"/>
          <p:nvPr/>
        </p:nvSpPr>
        <p:spPr>
          <a:xfrm>
            <a:off x="548640" y="1234440"/>
            <a:ext cx="3931920" cy="274320"/>
          </a:xfrm>
          <a:prstGeom prst="rect">
            <a:avLst/>
          </a:prstGeom>
          <a:noFill/>
          <a:ln/>
        </p:spPr>
        <p:txBody>
          <a:bodyPr wrap="square" lIns="0" tIns="0" rIns="0" bIns="0" rtlCol="0" anchor="t"/>
          <a:lstStyle/>
          <a:p>
            <a:pPr indent="0" marL="0">
              <a:buNone/>
            </a:pPr>
            <a:r>
              <a:rPr lang="en-US" sz="1250" b="1" dirty="0">
                <a:solidFill>
                  <a:srgbClr val="1D3557"/>
                </a:solidFill>
                <a:latin typeface="Meiryo" pitchFamily="34" charset="0"/>
                <a:ea typeface="Meiryo" pitchFamily="34" charset="-122"/>
                <a:cs typeface="Meiryo" pitchFamily="34" charset="-120"/>
              </a:rPr>
              <a:t>AIパイプライン</a:t>
            </a:r>
            <a:endParaRPr lang="en-US" sz="1250" dirty="0"/>
          </a:p>
        </p:txBody>
      </p:sp>
      <p:sp>
        <p:nvSpPr>
          <p:cNvPr id="6" name="Shape 4"/>
          <p:cNvSpPr/>
          <p:nvPr/>
        </p:nvSpPr>
        <p:spPr>
          <a:xfrm>
            <a:off x="548640" y="1645920"/>
            <a:ext cx="256032" cy="256032"/>
          </a:xfrm>
          <a:prstGeom prst="ellipse">
            <a:avLst/>
          </a:prstGeom>
          <a:solidFill>
            <a:srgbClr val="1D3557"/>
          </a:solidFill>
          <a:ln w="12700">
            <a:solidFill>
              <a:srgbClr val="1D3557"/>
            </a:solidFill>
            <a:prstDash val="solid"/>
          </a:ln>
        </p:spPr>
      </p:sp>
      <p:sp>
        <p:nvSpPr>
          <p:cNvPr id="7" name="Text 5"/>
          <p:cNvSpPr txBox="1"/>
          <p:nvPr/>
        </p:nvSpPr>
        <p:spPr>
          <a:xfrm>
            <a:off x="548640" y="1645920"/>
            <a:ext cx="256032"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pitchFamily="34" charset="0"/>
                <a:ea typeface="Meiryo" pitchFamily="34" charset="-122"/>
                <a:cs typeface="Meiryo" pitchFamily="34" charset="-120"/>
              </a:rPr>
              <a:t>1</a:t>
            </a:r>
            <a:endParaRPr lang="en-US" sz="850" dirty="0"/>
          </a:p>
        </p:txBody>
      </p:sp>
      <p:sp>
        <p:nvSpPr>
          <p:cNvPr id="8" name="Text 6"/>
          <p:cNvSpPr txBox="1"/>
          <p:nvPr/>
        </p:nvSpPr>
        <p:spPr>
          <a:xfrm>
            <a:off x="914400" y="1600200"/>
            <a:ext cx="3566160" cy="347472"/>
          </a:xfrm>
          <a:prstGeom prst="rect">
            <a:avLst/>
          </a:prstGeom>
          <a:noFill/>
          <a:ln/>
        </p:spPr>
        <p:txBody>
          <a:bodyPr wrap="square" lIns="0" tIns="0" rIns="0" bIns="0" rtlCol="0" anchor="ctr"/>
          <a:lstStyle/>
          <a:p>
            <a:pPr indent="0" marL="0">
              <a:buNone/>
            </a:pPr>
            <a:r>
              <a:rPr lang="en-US" sz="980" dirty="0">
                <a:solidFill>
                  <a:srgbClr val="1F2430"/>
                </a:solidFill>
                <a:latin typeface="Meiryo" pitchFamily="34" charset="0"/>
                <a:ea typeface="Meiryo" pitchFamily="34" charset="-122"/>
                <a:cs typeface="Meiryo" pitchFamily="34" charset="-120"/>
              </a:rPr>
              <a:t>脚本テンプレ→LLM下書き→人が仕上げ</a:t>
            </a:r>
            <a:endParaRPr lang="en-US" sz="980" dirty="0"/>
          </a:p>
        </p:txBody>
      </p:sp>
      <p:sp>
        <p:nvSpPr>
          <p:cNvPr id="9" name="Shape 7"/>
          <p:cNvSpPr/>
          <p:nvPr/>
        </p:nvSpPr>
        <p:spPr>
          <a:xfrm>
            <a:off x="548640" y="2039112"/>
            <a:ext cx="256032" cy="256032"/>
          </a:xfrm>
          <a:prstGeom prst="ellipse">
            <a:avLst/>
          </a:prstGeom>
          <a:solidFill>
            <a:srgbClr val="1D3557"/>
          </a:solidFill>
          <a:ln w="12700">
            <a:solidFill>
              <a:srgbClr val="1D3557"/>
            </a:solidFill>
            <a:prstDash val="solid"/>
          </a:ln>
        </p:spPr>
      </p:sp>
      <p:sp>
        <p:nvSpPr>
          <p:cNvPr id="10" name="Text 8"/>
          <p:cNvSpPr txBox="1"/>
          <p:nvPr/>
        </p:nvSpPr>
        <p:spPr>
          <a:xfrm>
            <a:off x="548640" y="2039112"/>
            <a:ext cx="256032"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pitchFamily="34" charset="0"/>
                <a:ea typeface="Meiryo" pitchFamily="34" charset="-122"/>
                <a:cs typeface="Meiryo" pitchFamily="34" charset="-120"/>
              </a:rPr>
              <a:t>2</a:t>
            </a:r>
            <a:endParaRPr lang="en-US" sz="850" dirty="0"/>
          </a:p>
        </p:txBody>
      </p:sp>
      <p:sp>
        <p:nvSpPr>
          <p:cNvPr id="11" name="Text 9"/>
          <p:cNvSpPr txBox="1"/>
          <p:nvPr/>
        </p:nvSpPr>
        <p:spPr>
          <a:xfrm>
            <a:off x="914400" y="1993392"/>
            <a:ext cx="3566160" cy="347472"/>
          </a:xfrm>
          <a:prstGeom prst="rect">
            <a:avLst/>
          </a:prstGeom>
          <a:noFill/>
          <a:ln/>
        </p:spPr>
        <p:txBody>
          <a:bodyPr wrap="square" lIns="0" tIns="0" rIns="0" bIns="0" rtlCol="0" anchor="ctr"/>
          <a:lstStyle/>
          <a:p>
            <a:pPr indent="0" marL="0">
              <a:buNone/>
            </a:pPr>
            <a:r>
              <a:rPr lang="en-US" sz="980" dirty="0">
                <a:solidFill>
                  <a:srgbClr val="1F2430"/>
                </a:solidFill>
                <a:latin typeface="Meiryo" pitchFamily="34" charset="0"/>
                <a:ea typeface="Meiryo" pitchFamily="34" charset="-122"/>
                <a:cs typeface="Meiryo" pitchFamily="34" charset="-120"/>
              </a:rPr>
              <a:t>キャラクターバンク（Nano Banana Pro）</a:t>
            </a:r>
            <a:endParaRPr lang="en-US" sz="980" dirty="0"/>
          </a:p>
        </p:txBody>
      </p:sp>
      <p:sp>
        <p:nvSpPr>
          <p:cNvPr id="12" name="Shape 10"/>
          <p:cNvSpPr/>
          <p:nvPr/>
        </p:nvSpPr>
        <p:spPr>
          <a:xfrm>
            <a:off x="548640" y="2432304"/>
            <a:ext cx="256032" cy="256032"/>
          </a:xfrm>
          <a:prstGeom prst="ellipse">
            <a:avLst/>
          </a:prstGeom>
          <a:solidFill>
            <a:srgbClr val="1D3557"/>
          </a:solidFill>
          <a:ln w="12700">
            <a:solidFill>
              <a:srgbClr val="1D3557"/>
            </a:solidFill>
            <a:prstDash val="solid"/>
          </a:ln>
        </p:spPr>
      </p:sp>
      <p:sp>
        <p:nvSpPr>
          <p:cNvPr id="13" name="Text 11"/>
          <p:cNvSpPr txBox="1"/>
          <p:nvPr/>
        </p:nvSpPr>
        <p:spPr>
          <a:xfrm>
            <a:off x="548640" y="2432304"/>
            <a:ext cx="256032"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pitchFamily="34" charset="0"/>
                <a:ea typeface="Meiryo" pitchFamily="34" charset="-122"/>
                <a:cs typeface="Meiryo" pitchFamily="34" charset="-120"/>
              </a:rPr>
              <a:t>3</a:t>
            </a:r>
            <a:endParaRPr lang="en-US" sz="850" dirty="0"/>
          </a:p>
        </p:txBody>
      </p:sp>
      <p:sp>
        <p:nvSpPr>
          <p:cNvPr id="14" name="Text 12"/>
          <p:cNvSpPr txBox="1"/>
          <p:nvPr/>
        </p:nvSpPr>
        <p:spPr>
          <a:xfrm>
            <a:off x="914400" y="2386584"/>
            <a:ext cx="3566160" cy="347472"/>
          </a:xfrm>
          <a:prstGeom prst="rect">
            <a:avLst/>
          </a:prstGeom>
          <a:noFill/>
          <a:ln/>
        </p:spPr>
        <p:txBody>
          <a:bodyPr wrap="square" lIns="0" tIns="0" rIns="0" bIns="0" rtlCol="0" anchor="ctr"/>
          <a:lstStyle/>
          <a:p>
            <a:pPr indent="0" marL="0">
              <a:buNone/>
            </a:pPr>
            <a:r>
              <a:rPr lang="en-US" sz="980" dirty="0">
                <a:solidFill>
                  <a:srgbClr val="1F2430"/>
                </a:solidFill>
                <a:latin typeface="Meiryo" pitchFamily="34" charset="0"/>
                <a:ea typeface="Meiryo" pitchFamily="34" charset="-122"/>
                <a:cs typeface="Meiryo" pitchFamily="34" charset="-120"/>
              </a:rPr>
              <a:t>生成（Kling 3.0主軸、Veo 3.1併用）</a:t>
            </a:r>
            <a:endParaRPr lang="en-US" sz="980" dirty="0"/>
          </a:p>
        </p:txBody>
      </p:sp>
      <p:sp>
        <p:nvSpPr>
          <p:cNvPr id="15" name="Shape 13"/>
          <p:cNvSpPr/>
          <p:nvPr/>
        </p:nvSpPr>
        <p:spPr>
          <a:xfrm>
            <a:off x="548640" y="2825496"/>
            <a:ext cx="256032" cy="256032"/>
          </a:xfrm>
          <a:prstGeom prst="ellipse">
            <a:avLst/>
          </a:prstGeom>
          <a:solidFill>
            <a:srgbClr val="1D3557"/>
          </a:solidFill>
          <a:ln w="12700">
            <a:solidFill>
              <a:srgbClr val="1D3557"/>
            </a:solidFill>
            <a:prstDash val="solid"/>
          </a:ln>
        </p:spPr>
      </p:sp>
      <p:sp>
        <p:nvSpPr>
          <p:cNvPr id="16" name="Text 14"/>
          <p:cNvSpPr txBox="1"/>
          <p:nvPr/>
        </p:nvSpPr>
        <p:spPr>
          <a:xfrm>
            <a:off x="548640" y="2825496"/>
            <a:ext cx="256032"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pitchFamily="34" charset="0"/>
                <a:ea typeface="Meiryo" pitchFamily="34" charset="-122"/>
                <a:cs typeface="Meiryo" pitchFamily="34" charset="-120"/>
              </a:rPr>
              <a:t>4</a:t>
            </a:r>
            <a:endParaRPr lang="en-US" sz="850" dirty="0"/>
          </a:p>
        </p:txBody>
      </p:sp>
      <p:sp>
        <p:nvSpPr>
          <p:cNvPr id="17" name="Text 15"/>
          <p:cNvSpPr txBox="1"/>
          <p:nvPr/>
        </p:nvSpPr>
        <p:spPr>
          <a:xfrm>
            <a:off x="914400" y="2779776"/>
            <a:ext cx="3566160" cy="347472"/>
          </a:xfrm>
          <a:prstGeom prst="rect">
            <a:avLst/>
          </a:prstGeom>
          <a:noFill/>
          <a:ln/>
        </p:spPr>
        <p:txBody>
          <a:bodyPr wrap="square" lIns="0" tIns="0" rIns="0" bIns="0" rtlCol="0" anchor="ctr"/>
          <a:lstStyle/>
          <a:p>
            <a:pPr indent="0" marL="0">
              <a:buNone/>
            </a:pPr>
            <a:r>
              <a:rPr lang="en-US" sz="980" dirty="0">
                <a:solidFill>
                  <a:srgbClr val="1F2430"/>
                </a:solidFill>
                <a:latin typeface="Meiryo" pitchFamily="34" charset="0"/>
                <a:ea typeface="Meiryo" pitchFamily="34" charset="-122"/>
                <a:cs typeface="Meiryo" pitchFamily="34" charset="-120"/>
              </a:rPr>
              <a:t>音声（Klingネイティブ / ElevenLabs）</a:t>
            </a:r>
            <a:endParaRPr lang="en-US" sz="980" dirty="0"/>
          </a:p>
        </p:txBody>
      </p:sp>
      <p:sp>
        <p:nvSpPr>
          <p:cNvPr id="18" name="Shape 16"/>
          <p:cNvSpPr/>
          <p:nvPr/>
        </p:nvSpPr>
        <p:spPr>
          <a:xfrm>
            <a:off x="548640" y="3218688"/>
            <a:ext cx="256032" cy="256032"/>
          </a:xfrm>
          <a:prstGeom prst="ellipse">
            <a:avLst/>
          </a:prstGeom>
          <a:solidFill>
            <a:srgbClr val="1D3557"/>
          </a:solidFill>
          <a:ln w="12700">
            <a:solidFill>
              <a:srgbClr val="1D3557"/>
            </a:solidFill>
            <a:prstDash val="solid"/>
          </a:ln>
        </p:spPr>
      </p:sp>
      <p:sp>
        <p:nvSpPr>
          <p:cNvPr id="19" name="Text 17"/>
          <p:cNvSpPr txBox="1"/>
          <p:nvPr/>
        </p:nvSpPr>
        <p:spPr>
          <a:xfrm>
            <a:off x="548640" y="3218688"/>
            <a:ext cx="256032"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pitchFamily="34" charset="0"/>
                <a:ea typeface="Meiryo" pitchFamily="34" charset="-122"/>
                <a:cs typeface="Meiryo" pitchFamily="34" charset="-120"/>
              </a:rPr>
              <a:t>5</a:t>
            </a:r>
            <a:endParaRPr lang="en-US" sz="850" dirty="0"/>
          </a:p>
        </p:txBody>
      </p:sp>
      <p:sp>
        <p:nvSpPr>
          <p:cNvPr id="20" name="Text 18"/>
          <p:cNvSpPr txBox="1"/>
          <p:nvPr/>
        </p:nvSpPr>
        <p:spPr>
          <a:xfrm>
            <a:off x="914400" y="3172968"/>
            <a:ext cx="3566160" cy="347472"/>
          </a:xfrm>
          <a:prstGeom prst="rect">
            <a:avLst/>
          </a:prstGeom>
          <a:noFill/>
          <a:ln/>
        </p:spPr>
        <p:txBody>
          <a:bodyPr wrap="square" lIns="0" tIns="0" rIns="0" bIns="0" rtlCol="0" anchor="ctr"/>
          <a:lstStyle/>
          <a:p>
            <a:pPr indent="0" marL="0">
              <a:buNone/>
            </a:pPr>
            <a:r>
              <a:rPr lang="en-US" sz="980" dirty="0">
                <a:solidFill>
                  <a:srgbClr val="1F2430"/>
                </a:solidFill>
                <a:latin typeface="Meiryo" pitchFamily="34" charset="0"/>
                <a:ea typeface="Meiryo" pitchFamily="34" charset="-122"/>
                <a:cs typeface="Meiryo" pitchFamily="34" charset="-120"/>
              </a:rPr>
              <a:t>編集・テロップ（CapCut / Premiere）</a:t>
            </a:r>
            <a:endParaRPr lang="en-US" sz="980" dirty="0"/>
          </a:p>
        </p:txBody>
      </p:sp>
      <p:sp>
        <p:nvSpPr>
          <p:cNvPr id="21" name="Shape 19"/>
          <p:cNvSpPr/>
          <p:nvPr/>
        </p:nvSpPr>
        <p:spPr>
          <a:xfrm>
            <a:off x="548640" y="3611880"/>
            <a:ext cx="256032" cy="256032"/>
          </a:xfrm>
          <a:prstGeom prst="ellipse">
            <a:avLst/>
          </a:prstGeom>
          <a:solidFill>
            <a:srgbClr val="1D3557"/>
          </a:solidFill>
          <a:ln w="12700">
            <a:solidFill>
              <a:srgbClr val="1D3557"/>
            </a:solidFill>
            <a:prstDash val="solid"/>
          </a:ln>
        </p:spPr>
      </p:sp>
      <p:sp>
        <p:nvSpPr>
          <p:cNvPr id="22" name="Text 20"/>
          <p:cNvSpPr txBox="1"/>
          <p:nvPr/>
        </p:nvSpPr>
        <p:spPr>
          <a:xfrm>
            <a:off x="548640" y="3611880"/>
            <a:ext cx="256032"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pitchFamily="34" charset="0"/>
                <a:ea typeface="Meiryo" pitchFamily="34" charset="-122"/>
                <a:cs typeface="Meiryo" pitchFamily="34" charset="-120"/>
              </a:rPr>
              <a:t>6</a:t>
            </a:r>
            <a:endParaRPr lang="en-US" sz="850" dirty="0"/>
          </a:p>
        </p:txBody>
      </p:sp>
      <p:sp>
        <p:nvSpPr>
          <p:cNvPr id="23" name="Text 21"/>
          <p:cNvSpPr txBox="1"/>
          <p:nvPr/>
        </p:nvSpPr>
        <p:spPr>
          <a:xfrm>
            <a:off x="914400" y="3566160"/>
            <a:ext cx="3566160" cy="347472"/>
          </a:xfrm>
          <a:prstGeom prst="rect">
            <a:avLst/>
          </a:prstGeom>
          <a:noFill/>
          <a:ln/>
        </p:spPr>
        <p:txBody>
          <a:bodyPr wrap="square" lIns="0" tIns="0" rIns="0" bIns="0" rtlCol="0" anchor="ctr"/>
          <a:lstStyle/>
          <a:p>
            <a:pPr indent="0" marL="0">
              <a:buNone/>
            </a:pPr>
            <a:r>
              <a:rPr lang="en-US" sz="980" dirty="0">
                <a:solidFill>
                  <a:srgbClr val="1F2430"/>
                </a:solidFill>
                <a:latin typeface="Meiryo" pitchFamily="34" charset="0"/>
                <a:ea typeface="Meiryo" pitchFamily="34" charset="-122"/>
                <a:cs typeface="Meiryo" pitchFamily="34" charset="-120"/>
              </a:rPr>
              <a:t>QAゲート（不気味の谷・権利・ブランド適合）</a:t>
            </a:r>
            <a:endParaRPr lang="en-US" sz="980" dirty="0"/>
          </a:p>
        </p:txBody>
      </p:sp>
      <p:sp>
        <p:nvSpPr>
          <p:cNvPr id="24" name="Shape 22"/>
          <p:cNvSpPr/>
          <p:nvPr/>
        </p:nvSpPr>
        <p:spPr>
          <a:xfrm>
            <a:off x="548640" y="4005072"/>
            <a:ext cx="256032" cy="256032"/>
          </a:xfrm>
          <a:prstGeom prst="ellipse">
            <a:avLst/>
          </a:prstGeom>
          <a:solidFill>
            <a:srgbClr val="1D3557"/>
          </a:solidFill>
          <a:ln w="12700">
            <a:solidFill>
              <a:srgbClr val="1D3557"/>
            </a:solidFill>
            <a:prstDash val="solid"/>
          </a:ln>
        </p:spPr>
      </p:sp>
      <p:sp>
        <p:nvSpPr>
          <p:cNvPr id="25" name="Text 23"/>
          <p:cNvSpPr txBox="1"/>
          <p:nvPr/>
        </p:nvSpPr>
        <p:spPr>
          <a:xfrm>
            <a:off x="548640" y="4005072"/>
            <a:ext cx="256032"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pitchFamily="34" charset="0"/>
                <a:ea typeface="Meiryo" pitchFamily="34" charset="-122"/>
                <a:cs typeface="Meiryo" pitchFamily="34" charset="-120"/>
              </a:rPr>
              <a:t>7</a:t>
            </a:r>
            <a:endParaRPr lang="en-US" sz="850" dirty="0"/>
          </a:p>
        </p:txBody>
      </p:sp>
      <p:sp>
        <p:nvSpPr>
          <p:cNvPr id="26" name="Text 24"/>
          <p:cNvSpPr txBox="1"/>
          <p:nvPr/>
        </p:nvSpPr>
        <p:spPr>
          <a:xfrm>
            <a:off x="914400" y="3959352"/>
            <a:ext cx="3566160" cy="347472"/>
          </a:xfrm>
          <a:prstGeom prst="rect">
            <a:avLst/>
          </a:prstGeom>
          <a:noFill/>
          <a:ln/>
        </p:spPr>
        <p:txBody>
          <a:bodyPr wrap="square" lIns="0" tIns="0" rIns="0" bIns="0" rtlCol="0" anchor="ctr"/>
          <a:lstStyle/>
          <a:p>
            <a:pPr indent="0" marL="0">
              <a:buNone/>
            </a:pPr>
            <a:r>
              <a:rPr lang="en-US" sz="980" dirty="0">
                <a:solidFill>
                  <a:srgbClr val="1F2430"/>
                </a:solidFill>
                <a:latin typeface="Meiryo" pitchFamily="34" charset="0"/>
                <a:ea typeface="Meiryo" pitchFamily="34" charset="-122"/>
                <a:cs typeface="Meiryo" pitchFamily="34" charset="-120"/>
              </a:rPr>
              <a:t>納品（本編＋フック3案＋横型）</a:t>
            </a:r>
            <a:endParaRPr lang="en-US" sz="980" dirty="0"/>
          </a:p>
        </p:txBody>
      </p:sp>
      <p:sp>
        <p:nvSpPr>
          <p:cNvPr id="27" name="Text 25"/>
          <p:cNvSpPr txBox="1"/>
          <p:nvPr/>
        </p:nvSpPr>
        <p:spPr>
          <a:xfrm>
            <a:off x="548640" y="4434840"/>
            <a:ext cx="3931920" cy="320040"/>
          </a:xfrm>
          <a:prstGeom prst="rect">
            <a:avLst/>
          </a:prstGeom>
          <a:noFill/>
          <a:ln/>
        </p:spPr>
        <p:txBody>
          <a:bodyPr wrap="square" lIns="0" tIns="0" rIns="0" bIns="0" rtlCol="0" anchor="t"/>
          <a:lstStyle/>
          <a:p>
            <a:pPr indent="0" marL="0">
              <a:buNone/>
            </a:pPr>
            <a:r>
              <a:rPr lang="en-US" sz="900" i="1" dirty="0">
                <a:solidFill>
                  <a:srgbClr val="6B7280"/>
                </a:solidFill>
                <a:latin typeface="Meiryo" pitchFamily="34" charset="0"/>
                <a:ea typeface="Meiryo" pitchFamily="34" charset="-122"/>
                <a:cs typeface="Meiryo" pitchFamily="34" charset="-120"/>
              </a:rPr>
              <a:t>1話4〜6h、1名で月15〜20話。マルチベンダー前提</a:t>
            </a:r>
            <a:endParaRPr lang="en-US" sz="900" dirty="0"/>
          </a:p>
        </p:txBody>
      </p:sp>
      <p:sp>
        <p:nvSpPr>
          <p:cNvPr id="28" name="Text 26"/>
          <p:cNvSpPr txBox="1"/>
          <p:nvPr/>
        </p:nvSpPr>
        <p:spPr>
          <a:xfrm>
            <a:off x="4663440" y="1234440"/>
            <a:ext cx="3931920" cy="274320"/>
          </a:xfrm>
          <a:prstGeom prst="rect">
            <a:avLst/>
          </a:prstGeom>
          <a:noFill/>
          <a:ln/>
        </p:spPr>
        <p:txBody>
          <a:bodyPr wrap="square" lIns="0" tIns="0" rIns="0" bIns="0" rtlCol="0" anchor="t"/>
          <a:lstStyle/>
          <a:p>
            <a:pPr indent="0" marL="0">
              <a:buNone/>
            </a:pPr>
            <a:r>
              <a:rPr lang="en-US" sz="1250" b="1" dirty="0">
                <a:solidFill>
                  <a:srgbClr val="E63946"/>
                </a:solidFill>
                <a:latin typeface="Meiryo" pitchFamily="34" charset="0"/>
                <a:ea typeface="Meiryo" pitchFamily="34" charset="-122"/>
                <a:cs typeface="Meiryo" pitchFamily="34" charset="-120"/>
              </a:rPr>
              <a:t>実写フロー</a:t>
            </a:r>
            <a:endParaRPr lang="en-US" sz="1250" dirty="0"/>
          </a:p>
        </p:txBody>
      </p:sp>
      <p:sp>
        <p:nvSpPr>
          <p:cNvPr id="29" name="Shape 27"/>
          <p:cNvSpPr/>
          <p:nvPr/>
        </p:nvSpPr>
        <p:spPr>
          <a:xfrm>
            <a:off x="4663440" y="1645920"/>
            <a:ext cx="256032" cy="256032"/>
          </a:xfrm>
          <a:prstGeom prst="ellipse">
            <a:avLst/>
          </a:prstGeom>
          <a:solidFill>
            <a:srgbClr val="E63946"/>
          </a:solidFill>
          <a:ln w="12700">
            <a:solidFill>
              <a:srgbClr val="E63946"/>
            </a:solidFill>
            <a:prstDash val="solid"/>
          </a:ln>
        </p:spPr>
      </p:sp>
      <p:sp>
        <p:nvSpPr>
          <p:cNvPr id="30" name="Text 28"/>
          <p:cNvSpPr txBox="1"/>
          <p:nvPr/>
        </p:nvSpPr>
        <p:spPr>
          <a:xfrm>
            <a:off x="4663440" y="1645920"/>
            <a:ext cx="256032"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pitchFamily="34" charset="0"/>
                <a:ea typeface="Meiryo" pitchFamily="34" charset="-122"/>
                <a:cs typeface="Meiryo" pitchFamily="34" charset="-120"/>
              </a:rPr>
              <a:t>1</a:t>
            </a:r>
            <a:endParaRPr lang="en-US" sz="850" dirty="0"/>
          </a:p>
        </p:txBody>
      </p:sp>
      <p:sp>
        <p:nvSpPr>
          <p:cNvPr id="31" name="Text 29"/>
          <p:cNvSpPr txBox="1"/>
          <p:nvPr/>
        </p:nvSpPr>
        <p:spPr>
          <a:xfrm>
            <a:off x="5029200" y="1600200"/>
            <a:ext cx="3566160" cy="347472"/>
          </a:xfrm>
          <a:prstGeom prst="rect">
            <a:avLst/>
          </a:prstGeom>
          <a:noFill/>
          <a:ln/>
        </p:spPr>
        <p:txBody>
          <a:bodyPr wrap="square" lIns="0" tIns="0" rIns="0" bIns="0" rtlCol="0" anchor="ctr"/>
          <a:lstStyle/>
          <a:p>
            <a:pPr indent="0" marL="0">
              <a:buNone/>
            </a:pPr>
            <a:r>
              <a:rPr lang="en-US" sz="980" dirty="0">
                <a:solidFill>
                  <a:srgbClr val="1F2430"/>
                </a:solidFill>
                <a:latin typeface="Meiryo" pitchFamily="34" charset="0"/>
                <a:ea typeface="Meiryo" pitchFamily="34" charset="-122"/>
                <a:cs typeface="Meiryo" pitchFamily="34" charset="-120"/>
              </a:rPr>
              <a:t>ヒアリング1h（顧客施設で）</a:t>
            </a:r>
            <a:endParaRPr lang="en-US" sz="980" dirty="0"/>
          </a:p>
        </p:txBody>
      </p:sp>
      <p:sp>
        <p:nvSpPr>
          <p:cNvPr id="32" name="Shape 30"/>
          <p:cNvSpPr/>
          <p:nvPr/>
        </p:nvSpPr>
        <p:spPr>
          <a:xfrm>
            <a:off x="4663440" y="2039112"/>
            <a:ext cx="256032" cy="256032"/>
          </a:xfrm>
          <a:prstGeom prst="ellipse">
            <a:avLst/>
          </a:prstGeom>
          <a:solidFill>
            <a:srgbClr val="E63946"/>
          </a:solidFill>
          <a:ln w="12700">
            <a:solidFill>
              <a:srgbClr val="E63946"/>
            </a:solidFill>
            <a:prstDash val="solid"/>
          </a:ln>
        </p:spPr>
      </p:sp>
      <p:sp>
        <p:nvSpPr>
          <p:cNvPr id="33" name="Text 31"/>
          <p:cNvSpPr txBox="1"/>
          <p:nvPr/>
        </p:nvSpPr>
        <p:spPr>
          <a:xfrm>
            <a:off x="4663440" y="2039112"/>
            <a:ext cx="256032"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pitchFamily="34" charset="0"/>
                <a:ea typeface="Meiryo" pitchFamily="34" charset="-122"/>
                <a:cs typeface="Meiryo" pitchFamily="34" charset="-120"/>
              </a:rPr>
              <a:t>2</a:t>
            </a:r>
            <a:endParaRPr lang="en-US" sz="850" dirty="0"/>
          </a:p>
        </p:txBody>
      </p:sp>
      <p:sp>
        <p:nvSpPr>
          <p:cNvPr id="34" name="Text 32"/>
          <p:cNvSpPr txBox="1"/>
          <p:nvPr/>
        </p:nvSpPr>
        <p:spPr>
          <a:xfrm>
            <a:off x="5029200" y="1993392"/>
            <a:ext cx="3566160" cy="347472"/>
          </a:xfrm>
          <a:prstGeom prst="rect">
            <a:avLst/>
          </a:prstGeom>
          <a:noFill/>
          <a:ln/>
        </p:spPr>
        <p:txBody>
          <a:bodyPr wrap="square" lIns="0" tIns="0" rIns="0" bIns="0" rtlCol="0" anchor="ctr"/>
          <a:lstStyle/>
          <a:p>
            <a:pPr indent="0" marL="0">
              <a:buNone/>
            </a:pPr>
            <a:r>
              <a:rPr lang="en-US" sz="980" dirty="0">
                <a:solidFill>
                  <a:srgbClr val="1F2430"/>
                </a:solidFill>
                <a:latin typeface="Meiryo" pitchFamily="34" charset="0"/>
                <a:ea typeface="Meiryo" pitchFamily="34" charset="-122"/>
                <a:cs typeface="Meiryo" pitchFamily="34" charset="-120"/>
              </a:rPr>
              <a:t>脚本4話分（1週間で承認）</a:t>
            </a:r>
            <a:endParaRPr lang="en-US" sz="980" dirty="0"/>
          </a:p>
        </p:txBody>
      </p:sp>
      <p:sp>
        <p:nvSpPr>
          <p:cNvPr id="35" name="Shape 33"/>
          <p:cNvSpPr/>
          <p:nvPr/>
        </p:nvSpPr>
        <p:spPr>
          <a:xfrm>
            <a:off x="4663440" y="2432304"/>
            <a:ext cx="256032" cy="256032"/>
          </a:xfrm>
          <a:prstGeom prst="ellipse">
            <a:avLst/>
          </a:prstGeom>
          <a:solidFill>
            <a:srgbClr val="E63946"/>
          </a:solidFill>
          <a:ln w="12700">
            <a:solidFill>
              <a:srgbClr val="E63946"/>
            </a:solidFill>
            <a:prstDash val="solid"/>
          </a:ln>
        </p:spPr>
      </p:sp>
      <p:sp>
        <p:nvSpPr>
          <p:cNvPr id="36" name="Text 34"/>
          <p:cNvSpPr txBox="1"/>
          <p:nvPr/>
        </p:nvSpPr>
        <p:spPr>
          <a:xfrm>
            <a:off x="4663440" y="2432304"/>
            <a:ext cx="256032"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pitchFamily="34" charset="0"/>
                <a:ea typeface="Meiryo" pitchFamily="34" charset="-122"/>
                <a:cs typeface="Meiryo" pitchFamily="34" charset="-120"/>
              </a:rPr>
              <a:t>3</a:t>
            </a:r>
            <a:endParaRPr lang="en-US" sz="850" dirty="0"/>
          </a:p>
        </p:txBody>
      </p:sp>
      <p:sp>
        <p:nvSpPr>
          <p:cNvPr id="37" name="Text 35"/>
          <p:cNvSpPr txBox="1"/>
          <p:nvPr/>
        </p:nvSpPr>
        <p:spPr>
          <a:xfrm>
            <a:off x="5029200" y="2386584"/>
            <a:ext cx="3566160" cy="347472"/>
          </a:xfrm>
          <a:prstGeom prst="rect">
            <a:avLst/>
          </a:prstGeom>
          <a:noFill/>
          <a:ln/>
        </p:spPr>
        <p:txBody>
          <a:bodyPr wrap="square" lIns="0" tIns="0" rIns="0" bIns="0" rtlCol="0" anchor="ctr"/>
          <a:lstStyle/>
          <a:p>
            <a:pPr indent="0" marL="0">
              <a:buNone/>
            </a:pPr>
            <a:r>
              <a:rPr lang="en-US" sz="980" dirty="0">
                <a:solidFill>
                  <a:srgbClr val="1F2430"/>
                </a:solidFill>
                <a:latin typeface="Meiryo" pitchFamily="34" charset="0"/>
                <a:ea typeface="Meiryo" pitchFamily="34" charset="-122"/>
                <a:cs typeface="Meiryo" pitchFamily="34" charset="-120"/>
              </a:rPr>
              <a:t>俳優手配（自前プール：養成所・小劇場）</a:t>
            </a:r>
            <a:endParaRPr lang="en-US" sz="980" dirty="0"/>
          </a:p>
        </p:txBody>
      </p:sp>
      <p:sp>
        <p:nvSpPr>
          <p:cNvPr id="38" name="Shape 36"/>
          <p:cNvSpPr/>
          <p:nvPr/>
        </p:nvSpPr>
        <p:spPr>
          <a:xfrm>
            <a:off x="4663440" y="2825496"/>
            <a:ext cx="256032" cy="256032"/>
          </a:xfrm>
          <a:prstGeom prst="ellipse">
            <a:avLst/>
          </a:prstGeom>
          <a:solidFill>
            <a:srgbClr val="E63946"/>
          </a:solidFill>
          <a:ln w="12700">
            <a:solidFill>
              <a:srgbClr val="E63946"/>
            </a:solidFill>
            <a:prstDash val="solid"/>
          </a:ln>
        </p:spPr>
      </p:sp>
      <p:sp>
        <p:nvSpPr>
          <p:cNvPr id="39" name="Text 37"/>
          <p:cNvSpPr txBox="1"/>
          <p:nvPr/>
        </p:nvSpPr>
        <p:spPr>
          <a:xfrm>
            <a:off x="4663440" y="2825496"/>
            <a:ext cx="256032"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pitchFamily="34" charset="0"/>
                <a:ea typeface="Meiryo" pitchFamily="34" charset="-122"/>
                <a:cs typeface="Meiryo" pitchFamily="34" charset="-120"/>
              </a:rPr>
              <a:t>4</a:t>
            </a:r>
            <a:endParaRPr lang="en-US" sz="850" dirty="0"/>
          </a:p>
        </p:txBody>
      </p:sp>
      <p:sp>
        <p:nvSpPr>
          <p:cNvPr id="40" name="Text 38"/>
          <p:cNvSpPr txBox="1"/>
          <p:nvPr/>
        </p:nvSpPr>
        <p:spPr>
          <a:xfrm>
            <a:off x="5029200" y="2779776"/>
            <a:ext cx="3566160" cy="347472"/>
          </a:xfrm>
          <a:prstGeom prst="rect">
            <a:avLst/>
          </a:prstGeom>
          <a:noFill/>
          <a:ln/>
        </p:spPr>
        <p:txBody>
          <a:bodyPr wrap="square" lIns="0" tIns="0" rIns="0" bIns="0" rtlCol="0" anchor="ctr"/>
          <a:lstStyle/>
          <a:p>
            <a:pPr indent="0" marL="0">
              <a:buNone/>
            </a:pPr>
            <a:r>
              <a:rPr lang="en-US" sz="980" dirty="0">
                <a:solidFill>
                  <a:srgbClr val="1F2430"/>
                </a:solidFill>
                <a:latin typeface="Meiryo" pitchFamily="34" charset="0"/>
                <a:ea typeface="Meiryo" pitchFamily="34" charset="-122"/>
                <a:cs typeface="Meiryo" pitchFamily="34" charset="-120"/>
              </a:rPr>
              <a:t>撮影1日（顧客施設、5〜15シーン=3〜4話）</a:t>
            </a:r>
            <a:endParaRPr lang="en-US" sz="980" dirty="0"/>
          </a:p>
        </p:txBody>
      </p:sp>
      <p:sp>
        <p:nvSpPr>
          <p:cNvPr id="41" name="Shape 39"/>
          <p:cNvSpPr/>
          <p:nvPr/>
        </p:nvSpPr>
        <p:spPr>
          <a:xfrm>
            <a:off x="4663440" y="3218688"/>
            <a:ext cx="256032" cy="256032"/>
          </a:xfrm>
          <a:prstGeom prst="ellipse">
            <a:avLst/>
          </a:prstGeom>
          <a:solidFill>
            <a:srgbClr val="E63946"/>
          </a:solidFill>
          <a:ln w="12700">
            <a:solidFill>
              <a:srgbClr val="E63946"/>
            </a:solidFill>
            <a:prstDash val="solid"/>
          </a:ln>
        </p:spPr>
      </p:sp>
      <p:sp>
        <p:nvSpPr>
          <p:cNvPr id="42" name="Text 40"/>
          <p:cNvSpPr txBox="1"/>
          <p:nvPr/>
        </p:nvSpPr>
        <p:spPr>
          <a:xfrm>
            <a:off x="4663440" y="3218688"/>
            <a:ext cx="256032"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pitchFamily="34" charset="0"/>
                <a:ea typeface="Meiryo" pitchFamily="34" charset="-122"/>
                <a:cs typeface="Meiryo" pitchFamily="34" charset="-120"/>
              </a:rPr>
              <a:t>5</a:t>
            </a:r>
            <a:endParaRPr lang="en-US" sz="850" dirty="0"/>
          </a:p>
        </p:txBody>
      </p:sp>
      <p:sp>
        <p:nvSpPr>
          <p:cNvPr id="43" name="Text 41"/>
          <p:cNvSpPr txBox="1"/>
          <p:nvPr/>
        </p:nvSpPr>
        <p:spPr>
          <a:xfrm>
            <a:off x="5029200" y="3172968"/>
            <a:ext cx="3566160" cy="347472"/>
          </a:xfrm>
          <a:prstGeom prst="rect">
            <a:avLst/>
          </a:prstGeom>
          <a:noFill/>
          <a:ln/>
        </p:spPr>
        <p:txBody>
          <a:bodyPr wrap="square" lIns="0" tIns="0" rIns="0" bIns="0" rtlCol="0" anchor="ctr"/>
          <a:lstStyle/>
          <a:p>
            <a:pPr indent="0" marL="0">
              <a:buNone/>
            </a:pPr>
            <a:r>
              <a:rPr lang="en-US" sz="980" dirty="0">
                <a:solidFill>
                  <a:srgbClr val="1F2430"/>
                </a:solidFill>
                <a:latin typeface="Meiryo" pitchFamily="34" charset="0"/>
                <a:ea typeface="Meiryo" pitchFamily="34" charset="-122"/>
                <a:cs typeface="Meiryo" pitchFamily="34" charset="-120"/>
              </a:rPr>
              <a:t>編集（外注、1話2〜2.5万）</a:t>
            </a:r>
            <a:endParaRPr lang="en-US" sz="980" dirty="0"/>
          </a:p>
        </p:txBody>
      </p:sp>
      <p:sp>
        <p:nvSpPr>
          <p:cNvPr id="44" name="Shape 42"/>
          <p:cNvSpPr/>
          <p:nvPr/>
        </p:nvSpPr>
        <p:spPr>
          <a:xfrm>
            <a:off x="4663440" y="3611880"/>
            <a:ext cx="256032" cy="256032"/>
          </a:xfrm>
          <a:prstGeom prst="ellipse">
            <a:avLst/>
          </a:prstGeom>
          <a:solidFill>
            <a:srgbClr val="E63946"/>
          </a:solidFill>
          <a:ln w="12700">
            <a:solidFill>
              <a:srgbClr val="E63946"/>
            </a:solidFill>
            <a:prstDash val="solid"/>
          </a:ln>
        </p:spPr>
      </p:sp>
      <p:sp>
        <p:nvSpPr>
          <p:cNvPr id="45" name="Text 43"/>
          <p:cNvSpPr txBox="1"/>
          <p:nvPr/>
        </p:nvSpPr>
        <p:spPr>
          <a:xfrm>
            <a:off x="4663440" y="3611880"/>
            <a:ext cx="256032"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pitchFamily="34" charset="0"/>
                <a:ea typeface="Meiryo" pitchFamily="34" charset="-122"/>
                <a:cs typeface="Meiryo" pitchFamily="34" charset="-120"/>
              </a:rPr>
              <a:t>6</a:t>
            </a:r>
            <a:endParaRPr lang="en-US" sz="850" dirty="0"/>
          </a:p>
        </p:txBody>
      </p:sp>
      <p:sp>
        <p:nvSpPr>
          <p:cNvPr id="46" name="Text 44"/>
          <p:cNvSpPr txBox="1"/>
          <p:nvPr/>
        </p:nvSpPr>
        <p:spPr>
          <a:xfrm>
            <a:off x="5029200" y="3566160"/>
            <a:ext cx="3566160" cy="347472"/>
          </a:xfrm>
          <a:prstGeom prst="rect">
            <a:avLst/>
          </a:prstGeom>
          <a:noFill/>
          <a:ln/>
        </p:spPr>
        <p:txBody>
          <a:bodyPr wrap="square" lIns="0" tIns="0" rIns="0" bIns="0" rtlCol="0" anchor="ctr"/>
          <a:lstStyle/>
          <a:p>
            <a:pPr indent="0" marL="0">
              <a:buNone/>
            </a:pPr>
            <a:r>
              <a:rPr lang="en-US" sz="980" dirty="0">
                <a:solidFill>
                  <a:srgbClr val="1F2430"/>
                </a:solidFill>
                <a:latin typeface="Meiryo" pitchFamily="34" charset="0"/>
                <a:ea typeface="Meiryo" pitchFamily="34" charset="-122"/>
                <a:cs typeface="Meiryo" pitchFamily="34" charset="-120"/>
              </a:rPr>
              <a:t>納品・投稿・1ヶ月後レポート</a:t>
            </a:r>
            <a:endParaRPr lang="en-US" sz="980" dirty="0"/>
          </a:p>
        </p:txBody>
      </p:sp>
      <p:sp>
        <p:nvSpPr>
          <p:cNvPr id="47" name="Text 45"/>
          <p:cNvSpPr txBox="1"/>
          <p:nvPr/>
        </p:nvSpPr>
        <p:spPr>
          <a:xfrm>
            <a:off x="4663440" y="4434840"/>
            <a:ext cx="3931920" cy="320040"/>
          </a:xfrm>
          <a:prstGeom prst="rect">
            <a:avLst/>
          </a:prstGeom>
          <a:noFill/>
          <a:ln/>
        </p:spPr>
        <p:txBody>
          <a:bodyPr wrap="square" lIns="0" tIns="0" rIns="0" bIns="0" rtlCol="0" anchor="t"/>
          <a:lstStyle/>
          <a:p>
            <a:pPr indent="0" marL="0">
              <a:buNone/>
            </a:pPr>
            <a:r>
              <a:rPr lang="en-US" sz="900" i="1" dirty="0">
                <a:solidFill>
                  <a:srgbClr val="6B7280"/>
                </a:solidFill>
                <a:latin typeface="Meiryo" pitchFamily="34" charset="0"/>
                <a:ea typeface="Meiryo" pitchFamily="34" charset="-122"/>
                <a:cs typeface="Meiryo" pitchFamily="34" charset="-120"/>
              </a:rPr>
              <a:t>撮影日月3日→6日→8日。外部クルー2チーム化</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228600"/>
          </a:xfrm>
          <a:prstGeom prst="rect">
            <a:avLst/>
          </a:prstGeom>
          <a:noFill/>
          <a:ln/>
        </p:spPr>
        <p:txBody>
          <a:bodyPr wrap="square" lIns="0" tIns="0" rIns="0" bIns="0" rtlCol="0" anchor="t"/>
          <a:lstStyle/>
          <a:p>
            <a:pPr indent="0" marL="0">
              <a:buNone/>
            </a:pPr>
            <a:r>
              <a:rPr lang="en-US" sz="1100" b="1" dirty="0">
                <a:solidFill>
                  <a:srgbClr val="E63946"/>
                </a:solidFill>
                <a:latin typeface="Meiryo" pitchFamily="34" charset="0"/>
                <a:ea typeface="Meiryo" pitchFamily="34" charset="-122"/>
                <a:cs typeface="Meiryo" pitchFamily="34" charset="-120"/>
              </a:rPr>
              <a:t>8. ロードマップ</a:t>
            </a:r>
            <a:endParaRPr lang="en-US" sz="1100" dirty="0"/>
          </a:p>
        </p:txBody>
      </p:sp>
      <p:sp>
        <p:nvSpPr>
          <p:cNvPr id="3" name="Text 1"/>
          <p:cNvSpPr txBox="1"/>
          <p:nvPr/>
        </p:nvSpPr>
        <p:spPr>
          <a:xfrm>
            <a:off x="548640" y="548640"/>
            <a:ext cx="8046720" cy="548640"/>
          </a:xfrm>
          <a:prstGeom prst="rect">
            <a:avLst/>
          </a:prstGeom>
          <a:noFill/>
          <a:ln/>
        </p:spPr>
        <p:txBody>
          <a:bodyPr wrap="square" lIns="0" tIns="0" rIns="0" bIns="0" rtlCol="0" anchor="t"/>
          <a:lstStyle/>
          <a:p>
            <a:pPr indent="0" marL="0">
              <a:buNone/>
            </a:pPr>
            <a:r>
              <a:rPr lang="en-US" sz="2200" b="1" dirty="0">
                <a:solidFill>
                  <a:srgbClr val="111318"/>
                </a:solidFill>
                <a:latin typeface="Meiryo" pitchFamily="34" charset="0"/>
                <a:ea typeface="Meiryo" pitchFamily="34" charset="-122"/>
                <a:cs typeface="Meiryo" pitchFamily="34" charset="-120"/>
              </a:rPr>
              <a:t>12ヶ月ロードマップ：3ヶ月ごとに判定基準を置く</a:t>
            </a:r>
            <a:endParaRPr lang="en-US" sz="2200" dirty="0"/>
          </a:p>
        </p:txBody>
      </p:sp>
      <p:sp>
        <p:nvSpPr>
          <p:cNvPr id="4" name="Text 2"/>
          <p:cNvSpPr txBox="1"/>
          <p:nvPr/>
        </p:nvSpPr>
        <p:spPr>
          <a:xfrm>
            <a:off x="8229600" y="4754880"/>
            <a:ext cx="4572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pitchFamily="34" charset="0"/>
                <a:ea typeface="Meiryo" pitchFamily="34" charset="-122"/>
                <a:cs typeface="Meiryo" pitchFamily="34" charset="-120"/>
              </a:rPr>
              <a:t>19</a:t>
            </a:r>
            <a:endParaRPr lang="en-US" sz="900" dirty="0"/>
          </a:p>
        </p:txBody>
      </p:sp>
      <p:graphicFrame>
        <p:nvGraphicFramePr>
          <p:cNvPr id="5" name="Chart 0" descr=""/>
          <p:cNvGraphicFramePr/>
          <p:nvPr/>
        </p:nvGraphicFramePr>
        <p:xfrm>
          <a:off x="548640" y="1188720"/>
          <a:ext cx="8046720" cy="17373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48640" y="3017520"/>
            <a:ext cx="1536192" cy="1417320"/>
          </a:xfrm>
          <a:prstGeom prst="roundRect">
            <a:avLst>
              <a:gd name="adj" fmla="val 5161"/>
            </a:avLst>
          </a:prstGeom>
          <a:solidFill>
            <a:srgbClr val="F3F4F6"/>
          </a:solidFill>
          <a:ln w="12700">
            <a:solidFill>
              <a:srgbClr val="F3F4F6"/>
            </a:solidFill>
            <a:prstDash val="solid"/>
          </a:ln>
        </p:spPr>
      </p:sp>
      <p:sp>
        <p:nvSpPr>
          <p:cNvPr id="7" name="Text 4"/>
          <p:cNvSpPr txBox="1"/>
          <p:nvPr/>
        </p:nvSpPr>
        <p:spPr>
          <a:xfrm>
            <a:off x="685800" y="3090672"/>
            <a:ext cx="1280160" cy="228600"/>
          </a:xfrm>
          <a:prstGeom prst="rect">
            <a:avLst/>
          </a:prstGeom>
          <a:noFill/>
          <a:ln/>
        </p:spPr>
        <p:txBody>
          <a:bodyPr wrap="square" lIns="0" tIns="0" rIns="0" bIns="0" rtlCol="0" anchor="t"/>
          <a:lstStyle/>
          <a:p>
            <a:pPr indent="0" marL="0">
              <a:buNone/>
            </a:pPr>
            <a:r>
              <a:rPr lang="en-US" sz="900" b="1" dirty="0">
                <a:solidFill>
                  <a:srgbClr val="E63946"/>
                </a:solidFill>
                <a:latin typeface="Meiryo" pitchFamily="34" charset="0"/>
                <a:ea typeface="Meiryo" pitchFamily="34" charset="-122"/>
                <a:cs typeface="Meiryo" pitchFamily="34" charset="-120"/>
              </a:rPr>
              <a:t>M1〜2</a:t>
            </a:r>
            <a:endParaRPr lang="en-US" sz="900" dirty="0"/>
          </a:p>
        </p:txBody>
      </p:sp>
      <p:sp>
        <p:nvSpPr>
          <p:cNvPr id="8" name="Text 5"/>
          <p:cNvSpPr txBox="1"/>
          <p:nvPr/>
        </p:nvSpPr>
        <p:spPr>
          <a:xfrm>
            <a:off x="685800" y="3310128"/>
            <a:ext cx="1280160" cy="256032"/>
          </a:xfrm>
          <a:prstGeom prst="rect">
            <a:avLst/>
          </a:prstGeom>
          <a:noFill/>
          <a:ln/>
        </p:spPr>
        <p:txBody>
          <a:bodyPr wrap="square" lIns="0" tIns="0" rIns="0" bIns="0" rtlCol="0" anchor="t"/>
          <a:lstStyle/>
          <a:p>
            <a:pPr indent="0" marL="0">
              <a:buNone/>
            </a:pPr>
            <a:r>
              <a:rPr lang="en-US" sz="1100" b="1" dirty="0">
                <a:solidFill>
                  <a:srgbClr val="111318"/>
                </a:solidFill>
                <a:latin typeface="Meiryo" pitchFamily="34" charset="0"/>
                <a:ea typeface="Meiryo" pitchFamily="34" charset="-122"/>
                <a:cs typeface="Meiryo" pitchFamily="34" charset="-120"/>
              </a:rPr>
              <a:t>立ち上げ</a:t>
            </a:r>
            <a:endParaRPr lang="en-US" sz="1100" dirty="0"/>
          </a:p>
        </p:txBody>
      </p:sp>
      <p:sp>
        <p:nvSpPr>
          <p:cNvPr id="9" name="Text 6"/>
          <p:cNvSpPr txBox="1"/>
          <p:nvPr/>
        </p:nvSpPr>
        <p:spPr>
          <a:xfrm>
            <a:off x="685800" y="3584448"/>
            <a:ext cx="1325880" cy="822960"/>
          </a:xfrm>
          <a:prstGeom prst="rect">
            <a:avLst/>
          </a:prstGeom>
          <a:noFill/>
          <a:ln/>
        </p:spPr>
        <p:txBody>
          <a:bodyPr wrap="square" lIns="0" tIns="0" rIns="0" bIns="0" rtlCol="0" anchor="t"/>
          <a:lstStyle/>
          <a:p>
            <a:pPr indent="0" marL="0">
              <a:buNone/>
            </a:pPr>
            <a:r>
              <a:rPr lang="en-US" sz="780" dirty="0">
                <a:solidFill>
                  <a:srgbClr val="1F2430"/>
                </a:solidFill>
                <a:latin typeface="Meiryo" pitchFamily="34" charset="0"/>
                <a:ea typeface="Meiryo" pitchFamily="34" charset="-122"/>
                <a:cs typeface="Meiryo" pitchFamily="34" charset="-120"/>
              </a:rPr>
              <a:t>商品・料金・契約テンプレ確定、AIパイプライン、自社アカウント毎日投稿、パイロット3社（事例化条件）</a:t>
            </a:r>
            <a:endParaRPr lang="en-US" sz="780" dirty="0"/>
          </a:p>
        </p:txBody>
      </p:sp>
      <p:sp>
        <p:nvSpPr>
          <p:cNvPr id="10" name="Shape 7"/>
          <p:cNvSpPr/>
          <p:nvPr/>
        </p:nvSpPr>
        <p:spPr>
          <a:xfrm>
            <a:off x="2176272" y="3017520"/>
            <a:ext cx="1536192" cy="1417320"/>
          </a:xfrm>
          <a:prstGeom prst="roundRect">
            <a:avLst>
              <a:gd name="adj" fmla="val 5161"/>
            </a:avLst>
          </a:prstGeom>
          <a:solidFill>
            <a:srgbClr val="F3F4F6"/>
          </a:solidFill>
          <a:ln w="12700">
            <a:solidFill>
              <a:srgbClr val="F3F4F6"/>
            </a:solidFill>
            <a:prstDash val="solid"/>
          </a:ln>
        </p:spPr>
      </p:sp>
      <p:sp>
        <p:nvSpPr>
          <p:cNvPr id="11" name="Text 8"/>
          <p:cNvSpPr txBox="1"/>
          <p:nvPr/>
        </p:nvSpPr>
        <p:spPr>
          <a:xfrm>
            <a:off x="2313432" y="3090672"/>
            <a:ext cx="1280160" cy="228600"/>
          </a:xfrm>
          <a:prstGeom prst="rect">
            <a:avLst/>
          </a:prstGeom>
          <a:noFill/>
          <a:ln/>
        </p:spPr>
        <p:txBody>
          <a:bodyPr wrap="square" lIns="0" tIns="0" rIns="0" bIns="0" rtlCol="0" anchor="t"/>
          <a:lstStyle/>
          <a:p>
            <a:pPr indent="0" marL="0">
              <a:buNone/>
            </a:pPr>
            <a:r>
              <a:rPr lang="en-US" sz="900" b="1" dirty="0">
                <a:solidFill>
                  <a:srgbClr val="E63946"/>
                </a:solidFill>
                <a:latin typeface="Meiryo" pitchFamily="34" charset="0"/>
                <a:ea typeface="Meiryo" pitchFamily="34" charset="-122"/>
                <a:cs typeface="Meiryo" pitchFamily="34" charset="-120"/>
              </a:rPr>
              <a:t>M3〜4</a:t>
            </a:r>
            <a:endParaRPr lang="en-US" sz="900" dirty="0"/>
          </a:p>
        </p:txBody>
      </p:sp>
      <p:sp>
        <p:nvSpPr>
          <p:cNvPr id="12" name="Text 9"/>
          <p:cNvSpPr txBox="1"/>
          <p:nvPr/>
        </p:nvSpPr>
        <p:spPr>
          <a:xfrm>
            <a:off x="2313432" y="3310128"/>
            <a:ext cx="1280160" cy="256032"/>
          </a:xfrm>
          <a:prstGeom prst="rect">
            <a:avLst/>
          </a:prstGeom>
          <a:noFill/>
          <a:ln/>
        </p:spPr>
        <p:txBody>
          <a:bodyPr wrap="square" lIns="0" tIns="0" rIns="0" bIns="0" rtlCol="0" anchor="t"/>
          <a:lstStyle/>
          <a:p>
            <a:pPr indent="0" marL="0">
              <a:buNone/>
            </a:pPr>
            <a:r>
              <a:rPr lang="en-US" sz="1100" b="1" dirty="0">
                <a:solidFill>
                  <a:srgbClr val="111318"/>
                </a:solidFill>
                <a:latin typeface="Meiryo" pitchFamily="34" charset="0"/>
                <a:ea typeface="Meiryo" pitchFamily="34" charset="-122"/>
                <a:cs typeface="Meiryo" pitchFamily="34" charset="-120"/>
              </a:rPr>
              <a:t>型の確立</a:t>
            </a:r>
            <a:endParaRPr lang="en-US" sz="1100" dirty="0"/>
          </a:p>
        </p:txBody>
      </p:sp>
      <p:sp>
        <p:nvSpPr>
          <p:cNvPr id="13" name="Text 10"/>
          <p:cNvSpPr txBox="1"/>
          <p:nvPr/>
        </p:nvSpPr>
        <p:spPr>
          <a:xfrm>
            <a:off x="2313432" y="3584448"/>
            <a:ext cx="1325880" cy="822960"/>
          </a:xfrm>
          <a:prstGeom prst="rect">
            <a:avLst/>
          </a:prstGeom>
          <a:noFill/>
          <a:ln/>
        </p:spPr>
        <p:txBody>
          <a:bodyPr wrap="square" lIns="0" tIns="0" rIns="0" bIns="0" rtlCol="0" anchor="t"/>
          <a:lstStyle/>
          <a:p>
            <a:pPr indent="0" marL="0">
              <a:buNone/>
            </a:pPr>
            <a:r>
              <a:rPr lang="en-US" sz="780" dirty="0">
                <a:solidFill>
                  <a:srgbClr val="1F2430"/>
                </a:solidFill>
                <a:latin typeface="Meiryo" pitchFamily="34" charset="0"/>
                <a:ea typeface="Meiryo" pitchFamily="34" charset="-122"/>
                <a:cs typeface="Meiryo" pitchFamily="34" charset="-120"/>
              </a:rPr>
              <a:t>実写4話パック初受注、俳優プール10名、パートナー5社、事例3本、SEO記事10本</a:t>
            </a:r>
            <a:endParaRPr lang="en-US" sz="780" dirty="0"/>
          </a:p>
        </p:txBody>
      </p:sp>
      <p:sp>
        <p:nvSpPr>
          <p:cNvPr id="14" name="Shape 11"/>
          <p:cNvSpPr/>
          <p:nvPr/>
        </p:nvSpPr>
        <p:spPr>
          <a:xfrm>
            <a:off x="3803904" y="3017520"/>
            <a:ext cx="1536192" cy="1417320"/>
          </a:xfrm>
          <a:prstGeom prst="roundRect">
            <a:avLst>
              <a:gd name="adj" fmla="val 5161"/>
            </a:avLst>
          </a:prstGeom>
          <a:solidFill>
            <a:srgbClr val="F3F4F6"/>
          </a:solidFill>
          <a:ln w="12700">
            <a:solidFill>
              <a:srgbClr val="F3F4F6"/>
            </a:solidFill>
            <a:prstDash val="solid"/>
          </a:ln>
        </p:spPr>
      </p:sp>
      <p:sp>
        <p:nvSpPr>
          <p:cNvPr id="15" name="Text 12"/>
          <p:cNvSpPr txBox="1"/>
          <p:nvPr/>
        </p:nvSpPr>
        <p:spPr>
          <a:xfrm>
            <a:off x="3941064" y="3090672"/>
            <a:ext cx="1280160" cy="228600"/>
          </a:xfrm>
          <a:prstGeom prst="rect">
            <a:avLst/>
          </a:prstGeom>
          <a:noFill/>
          <a:ln/>
        </p:spPr>
        <p:txBody>
          <a:bodyPr wrap="square" lIns="0" tIns="0" rIns="0" bIns="0" rtlCol="0" anchor="t"/>
          <a:lstStyle/>
          <a:p>
            <a:pPr indent="0" marL="0">
              <a:buNone/>
            </a:pPr>
            <a:r>
              <a:rPr lang="en-US" sz="900" b="1" dirty="0">
                <a:solidFill>
                  <a:srgbClr val="E63946"/>
                </a:solidFill>
                <a:latin typeface="Meiryo" pitchFamily="34" charset="0"/>
                <a:ea typeface="Meiryo" pitchFamily="34" charset="-122"/>
                <a:cs typeface="Meiryo" pitchFamily="34" charset="-120"/>
              </a:rPr>
              <a:t>M5〜6</a:t>
            </a:r>
            <a:endParaRPr lang="en-US" sz="900" dirty="0"/>
          </a:p>
        </p:txBody>
      </p:sp>
      <p:sp>
        <p:nvSpPr>
          <p:cNvPr id="16" name="Text 13"/>
          <p:cNvSpPr txBox="1"/>
          <p:nvPr/>
        </p:nvSpPr>
        <p:spPr>
          <a:xfrm>
            <a:off x="3941064" y="3310128"/>
            <a:ext cx="1280160" cy="256032"/>
          </a:xfrm>
          <a:prstGeom prst="rect">
            <a:avLst/>
          </a:prstGeom>
          <a:noFill/>
          <a:ln/>
        </p:spPr>
        <p:txBody>
          <a:bodyPr wrap="square" lIns="0" tIns="0" rIns="0" bIns="0" rtlCol="0" anchor="t"/>
          <a:lstStyle/>
          <a:p>
            <a:pPr indent="0" marL="0">
              <a:buNone/>
            </a:pPr>
            <a:r>
              <a:rPr lang="en-US" sz="1100" b="1" dirty="0">
                <a:solidFill>
                  <a:srgbClr val="111318"/>
                </a:solidFill>
                <a:latin typeface="Meiryo" pitchFamily="34" charset="0"/>
                <a:ea typeface="Meiryo" pitchFamily="34" charset="-122"/>
                <a:cs typeface="Meiryo" pitchFamily="34" charset="-120"/>
              </a:rPr>
              <a:t>継続化</a:t>
            </a:r>
            <a:endParaRPr lang="en-US" sz="1100" dirty="0"/>
          </a:p>
        </p:txBody>
      </p:sp>
      <p:sp>
        <p:nvSpPr>
          <p:cNvPr id="17" name="Text 14"/>
          <p:cNvSpPr txBox="1"/>
          <p:nvPr/>
        </p:nvSpPr>
        <p:spPr>
          <a:xfrm>
            <a:off x="3941064" y="3584448"/>
            <a:ext cx="1325880" cy="822960"/>
          </a:xfrm>
          <a:prstGeom prst="rect">
            <a:avLst/>
          </a:prstGeom>
          <a:noFill/>
          <a:ln/>
        </p:spPr>
        <p:txBody>
          <a:bodyPr wrap="square" lIns="0" tIns="0" rIns="0" bIns="0" rtlCol="0" anchor="t"/>
          <a:lstStyle/>
          <a:p>
            <a:pPr indent="0" marL="0">
              <a:buNone/>
            </a:pPr>
            <a:r>
              <a:rPr lang="en-US" sz="780" dirty="0">
                <a:solidFill>
                  <a:srgbClr val="1F2430"/>
                </a:solidFill>
                <a:latin typeface="Meiryo" pitchFamily="34" charset="0"/>
                <a:ea typeface="Meiryo" pitchFamily="34" charset="-122"/>
                <a:cs typeface="Meiryo" pitchFamily="34" charset="-120"/>
              </a:rPr>
              <a:t>月額プラン開始、パイロットを月額へ転換、「作ってから送る」月20社</a:t>
            </a:r>
            <a:endParaRPr lang="en-US" sz="780" dirty="0"/>
          </a:p>
        </p:txBody>
      </p:sp>
      <p:sp>
        <p:nvSpPr>
          <p:cNvPr id="18" name="Shape 15"/>
          <p:cNvSpPr/>
          <p:nvPr/>
        </p:nvSpPr>
        <p:spPr>
          <a:xfrm>
            <a:off x="5431536" y="3017520"/>
            <a:ext cx="1536192" cy="1417320"/>
          </a:xfrm>
          <a:prstGeom prst="roundRect">
            <a:avLst>
              <a:gd name="adj" fmla="val 5161"/>
            </a:avLst>
          </a:prstGeom>
          <a:solidFill>
            <a:srgbClr val="F3F4F6"/>
          </a:solidFill>
          <a:ln w="12700">
            <a:solidFill>
              <a:srgbClr val="F3F4F6"/>
            </a:solidFill>
            <a:prstDash val="solid"/>
          </a:ln>
        </p:spPr>
      </p:sp>
      <p:sp>
        <p:nvSpPr>
          <p:cNvPr id="19" name="Text 16"/>
          <p:cNvSpPr txBox="1"/>
          <p:nvPr/>
        </p:nvSpPr>
        <p:spPr>
          <a:xfrm>
            <a:off x="5568696" y="3090672"/>
            <a:ext cx="1280160" cy="228600"/>
          </a:xfrm>
          <a:prstGeom prst="rect">
            <a:avLst/>
          </a:prstGeom>
          <a:noFill/>
          <a:ln/>
        </p:spPr>
        <p:txBody>
          <a:bodyPr wrap="square" lIns="0" tIns="0" rIns="0" bIns="0" rtlCol="0" anchor="t"/>
          <a:lstStyle/>
          <a:p>
            <a:pPr indent="0" marL="0">
              <a:buNone/>
            </a:pPr>
            <a:r>
              <a:rPr lang="en-US" sz="900" b="1" dirty="0">
                <a:solidFill>
                  <a:srgbClr val="E63946"/>
                </a:solidFill>
                <a:latin typeface="Meiryo" pitchFamily="34" charset="0"/>
                <a:ea typeface="Meiryo" pitchFamily="34" charset="-122"/>
                <a:cs typeface="Meiryo" pitchFamily="34" charset="-120"/>
              </a:rPr>
              <a:t>M7〜9</a:t>
            </a:r>
            <a:endParaRPr lang="en-US" sz="900" dirty="0"/>
          </a:p>
        </p:txBody>
      </p:sp>
      <p:sp>
        <p:nvSpPr>
          <p:cNvPr id="20" name="Text 17"/>
          <p:cNvSpPr txBox="1"/>
          <p:nvPr/>
        </p:nvSpPr>
        <p:spPr>
          <a:xfrm>
            <a:off x="5568696" y="3310128"/>
            <a:ext cx="1280160" cy="256032"/>
          </a:xfrm>
          <a:prstGeom prst="rect">
            <a:avLst/>
          </a:prstGeom>
          <a:noFill/>
          <a:ln/>
        </p:spPr>
        <p:txBody>
          <a:bodyPr wrap="square" lIns="0" tIns="0" rIns="0" bIns="0" rtlCol="0" anchor="t"/>
          <a:lstStyle/>
          <a:p>
            <a:pPr indent="0" marL="0">
              <a:buNone/>
            </a:pPr>
            <a:r>
              <a:rPr lang="en-US" sz="1100" b="1" dirty="0">
                <a:solidFill>
                  <a:srgbClr val="111318"/>
                </a:solidFill>
                <a:latin typeface="Meiryo" pitchFamily="34" charset="0"/>
                <a:ea typeface="Meiryo" pitchFamily="34" charset="-122"/>
                <a:cs typeface="Meiryo" pitchFamily="34" charset="-120"/>
              </a:rPr>
              <a:t>拡張</a:t>
            </a:r>
            <a:endParaRPr lang="en-US" sz="1100" dirty="0"/>
          </a:p>
        </p:txBody>
      </p:sp>
      <p:sp>
        <p:nvSpPr>
          <p:cNvPr id="21" name="Text 18"/>
          <p:cNvSpPr txBox="1"/>
          <p:nvPr/>
        </p:nvSpPr>
        <p:spPr>
          <a:xfrm>
            <a:off x="5568696" y="3584448"/>
            <a:ext cx="1325880" cy="822960"/>
          </a:xfrm>
          <a:prstGeom prst="rect">
            <a:avLst/>
          </a:prstGeom>
          <a:noFill/>
          <a:ln/>
        </p:spPr>
        <p:txBody>
          <a:bodyPr wrap="square" lIns="0" tIns="0" rIns="0" bIns="0" rtlCol="0" anchor="t"/>
          <a:lstStyle/>
          <a:p>
            <a:pPr indent="0" marL="0">
              <a:buNone/>
            </a:pPr>
            <a:r>
              <a:rPr lang="en-US" sz="780" dirty="0">
                <a:solidFill>
                  <a:srgbClr val="1F2430"/>
                </a:solidFill>
                <a:latin typeface="Meiryo" pitchFamily="34" charset="0"/>
                <a:ea typeface="Meiryo" pitchFamily="34" charset="-122"/>
                <a:cs typeface="Meiryo" pitchFamily="34" charset="-120"/>
              </a:rPr>
              <a:t>OEM卸2社、営業代行検討、AIオペ2名、Spark Ads運用、撮影日月4〜5日</a:t>
            </a:r>
            <a:endParaRPr lang="en-US" sz="780" dirty="0"/>
          </a:p>
        </p:txBody>
      </p:sp>
      <p:sp>
        <p:nvSpPr>
          <p:cNvPr id="22" name="Shape 19"/>
          <p:cNvSpPr/>
          <p:nvPr/>
        </p:nvSpPr>
        <p:spPr>
          <a:xfrm>
            <a:off x="7059168" y="3017520"/>
            <a:ext cx="1536192" cy="1417320"/>
          </a:xfrm>
          <a:prstGeom prst="roundRect">
            <a:avLst>
              <a:gd name="adj" fmla="val 5161"/>
            </a:avLst>
          </a:prstGeom>
          <a:solidFill>
            <a:srgbClr val="111318"/>
          </a:solidFill>
          <a:ln w="12700">
            <a:solidFill>
              <a:srgbClr val="111318"/>
            </a:solidFill>
            <a:prstDash val="solid"/>
          </a:ln>
        </p:spPr>
      </p:sp>
      <p:sp>
        <p:nvSpPr>
          <p:cNvPr id="23" name="Text 20"/>
          <p:cNvSpPr txBox="1"/>
          <p:nvPr/>
        </p:nvSpPr>
        <p:spPr>
          <a:xfrm>
            <a:off x="7196328" y="3090672"/>
            <a:ext cx="1280160" cy="228600"/>
          </a:xfrm>
          <a:prstGeom prst="rect">
            <a:avLst/>
          </a:prstGeom>
          <a:noFill/>
          <a:ln/>
        </p:spPr>
        <p:txBody>
          <a:bodyPr wrap="square" lIns="0" tIns="0" rIns="0" bIns="0" rtlCol="0" anchor="t"/>
          <a:lstStyle/>
          <a:p>
            <a:pPr indent="0" marL="0">
              <a:buNone/>
            </a:pPr>
            <a:r>
              <a:rPr lang="en-US" sz="900" b="1" dirty="0">
                <a:solidFill>
                  <a:srgbClr val="D9A441"/>
                </a:solidFill>
                <a:latin typeface="Meiryo" pitchFamily="34" charset="0"/>
                <a:ea typeface="Meiryo" pitchFamily="34" charset="-122"/>
                <a:cs typeface="Meiryo" pitchFamily="34" charset="-120"/>
              </a:rPr>
              <a:t>M10〜12</a:t>
            </a:r>
            <a:endParaRPr lang="en-US" sz="900" dirty="0"/>
          </a:p>
        </p:txBody>
      </p:sp>
      <p:sp>
        <p:nvSpPr>
          <p:cNvPr id="24" name="Text 21"/>
          <p:cNvSpPr txBox="1"/>
          <p:nvPr/>
        </p:nvSpPr>
        <p:spPr>
          <a:xfrm>
            <a:off x="7196328" y="3310128"/>
            <a:ext cx="1280160" cy="256032"/>
          </a:xfrm>
          <a:prstGeom prst="rect">
            <a:avLst/>
          </a:prstGeom>
          <a:noFill/>
          <a:ln/>
        </p:spPr>
        <p:txBody>
          <a:bodyPr wrap="square" lIns="0" tIns="0" rIns="0" bIns="0" rtlCol="0" anchor="t"/>
          <a:lstStyle/>
          <a:p>
            <a:pPr indent="0" marL="0">
              <a:buNone/>
            </a:pPr>
            <a:r>
              <a:rPr lang="en-US" sz="1100" b="1" dirty="0">
                <a:solidFill>
                  <a:srgbClr val="FFFFFF"/>
                </a:solidFill>
                <a:latin typeface="Meiryo" pitchFamily="34" charset="0"/>
                <a:ea typeface="Meiryo" pitchFamily="34" charset="-122"/>
                <a:cs typeface="Meiryo" pitchFamily="34" charset="-120"/>
              </a:rPr>
              <a:t>到達</a:t>
            </a:r>
            <a:endParaRPr lang="en-US" sz="1100" dirty="0"/>
          </a:p>
        </p:txBody>
      </p:sp>
      <p:sp>
        <p:nvSpPr>
          <p:cNvPr id="25" name="Text 22"/>
          <p:cNvSpPr txBox="1"/>
          <p:nvPr/>
        </p:nvSpPr>
        <p:spPr>
          <a:xfrm>
            <a:off x="7196328" y="3584448"/>
            <a:ext cx="1325880" cy="822960"/>
          </a:xfrm>
          <a:prstGeom prst="rect">
            <a:avLst/>
          </a:prstGeom>
          <a:noFill/>
          <a:ln/>
        </p:spPr>
        <p:txBody>
          <a:bodyPr wrap="square" lIns="0" tIns="0" rIns="0" bIns="0" rtlCol="0" anchor="t"/>
          <a:lstStyle/>
          <a:p>
            <a:pPr indent="0" marL="0">
              <a:buNone/>
            </a:pPr>
            <a:r>
              <a:rPr lang="en-US" sz="780" dirty="0">
                <a:solidFill>
                  <a:srgbClr val="C9CED8"/>
                </a:solidFill>
                <a:latin typeface="Meiryo" pitchFamily="34" charset="0"/>
                <a:ea typeface="Meiryo" pitchFamily="34" charset="-122"/>
                <a:cs typeface="Meiryo" pitchFamily="34" charset="-120"/>
              </a:rPr>
              <a:t>継続比率70%、AI月15〜20話、多言語・自治体案件</a:t>
            </a:r>
            <a:endParaRPr lang="en-US" sz="780" dirty="0"/>
          </a:p>
        </p:txBody>
      </p:sp>
      <p:sp>
        <p:nvSpPr>
          <p:cNvPr id="26" name="Text 23"/>
          <p:cNvSpPr txBox="1"/>
          <p:nvPr/>
        </p:nvSpPr>
        <p:spPr>
          <a:xfrm>
            <a:off x="548640" y="4526280"/>
            <a:ext cx="8046720" cy="457200"/>
          </a:xfrm>
          <a:prstGeom prst="rect">
            <a:avLst/>
          </a:prstGeom>
          <a:noFill/>
          <a:ln/>
        </p:spPr>
        <p:txBody>
          <a:bodyPr wrap="square" lIns="0" tIns="0" rIns="0" bIns="0" rtlCol="0" anchor="t"/>
          <a:lstStyle/>
          <a:p>
            <a:pPr indent="0" marL="0">
              <a:buNone/>
            </a:pPr>
            <a:r>
              <a:rPr lang="en-US" sz="900" i="1" dirty="0">
                <a:solidFill>
                  <a:srgbClr val="1D3557"/>
                </a:solidFill>
                <a:latin typeface="Meiryo" pitchFamily="34" charset="0"/>
                <a:ea typeface="Meiryo" pitchFamily="34" charset="-122"/>
                <a:cs typeface="Meiryo" pitchFamily="34" charset="-120"/>
              </a:rPr>
              <a:t>判定：M3で事例3本・フォロワー1万・パートナー5社のうち2つ未達なら集客導線を見直す。M6で月額3社未満なら「単発を受けない規律」を確認。M9で350万未満ならOEM卸を主戦場に。</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228600"/>
          </a:xfrm>
          <a:prstGeom prst="rect">
            <a:avLst/>
          </a:prstGeom>
          <a:noFill/>
          <a:ln/>
        </p:spPr>
        <p:txBody>
          <a:bodyPr wrap="square" lIns="0" tIns="0" rIns="0" bIns="0" rtlCol="0" anchor="t"/>
          <a:lstStyle/>
          <a:p>
            <a:pPr indent="0" marL="0">
              <a:buNone/>
            </a:pPr>
            <a:r>
              <a:rPr lang="en-US" sz="1100" b="1" dirty="0">
                <a:solidFill>
                  <a:srgbClr val="E63946"/>
                </a:solidFill>
                <a:latin typeface="Meiryo" pitchFamily="34" charset="0"/>
                <a:ea typeface="Meiryo" pitchFamily="34" charset="-122"/>
                <a:cs typeface="Meiryo" pitchFamily="34" charset="-120"/>
              </a:rPr>
              <a:t>9. リスク</a:t>
            </a:r>
            <a:endParaRPr lang="en-US" sz="1100" dirty="0"/>
          </a:p>
        </p:txBody>
      </p:sp>
      <p:sp>
        <p:nvSpPr>
          <p:cNvPr id="3" name="Text 1"/>
          <p:cNvSpPr txBox="1"/>
          <p:nvPr/>
        </p:nvSpPr>
        <p:spPr>
          <a:xfrm>
            <a:off x="548640" y="548640"/>
            <a:ext cx="8046720" cy="548640"/>
          </a:xfrm>
          <a:prstGeom prst="rect">
            <a:avLst/>
          </a:prstGeom>
          <a:noFill/>
          <a:ln/>
        </p:spPr>
        <p:txBody>
          <a:bodyPr wrap="square" lIns="0" tIns="0" rIns="0" bIns="0" rtlCol="0" anchor="t"/>
          <a:lstStyle/>
          <a:p>
            <a:pPr indent="0" marL="0">
              <a:buNone/>
            </a:pPr>
            <a:r>
              <a:rPr lang="en-US" sz="2200" b="1" dirty="0">
                <a:solidFill>
                  <a:srgbClr val="111318"/>
                </a:solidFill>
                <a:latin typeface="Meiryo" pitchFamily="34" charset="0"/>
                <a:ea typeface="Meiryo" pitchFamily="34" charset="-122"/>
                <a:cs typeface="Meiryo" pitchFamily="34" charset="-120"/>
              </a:rPr>
              <a:t>リスクと対策</a:t>
            </a:r>
            <a:endParaRPr lang="en-US" sz="2200" dirty="0"/>
          </a:p>
        </p:txBody>
      </p:sp>
      <p:sp>
        <p:nvSpPr>
          <p:cNvPr id="4" name="Text 2"/>
          <p:cNvSpPr txBox="1"/>
          <p:nvPr/>
        </p:nvSpPr>
        <p:spPr>
          <a:xfrm>
            <a:off x="8229600" y="4754880"/>
            <a:ext cx="4572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pitchFamily="34" charset="0"/>
                <a:ea typeface="Meiryo" pitchFamily="34" charset="-122"/>
                <a:cs typeface="Meiryo" pitchFamily="34" charset="-120"/>
              </a:rPr>
              <a:t>20</a:t>
            </a:r>
            <a:endParaRPr lang="en-US"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8046720" cy="914400"/>
        </p:xfrm>
        <a:graphic>
          <a:graphicData uri="http://schemas.openxmlformats.org/drawingml/2006/table">
            <a:tbl>
              <a:tblPr/>
              <a:tblGrid>
                <a:gridCol w="2194560"/>
                <a:gridCol w="2194560"/>
                <a:gridCol w="3657600"/>
              </a:tblGrid>
              <a:tr h="411480">
                <a:tc>
                  <a:txBody>
                    <a:bodyPr/>
                    <a:lstStyle/>
                    <a:p>
                      <a:pPr indent="0" marL="0">
                        <a:buNone/>
                      </a:pPr>
                      <a:r>
                        <a:rPr lang="en-US" sz="950" b="1" dirty="0">
                          <a:solidFill>
                            <a:srgbClr val="FFFFFF"/>
                          </a:solidFill>
                          <a:latin typeface="Meiryo" pitchFamily="34" charset="0"/>
                          <a:ea typeface="Meiryo" pitchFamily="34" charset="-122"/>
                          <a:cs typeface="Meiryo" pitchFamily="34" charset="-120"/>
                        </a:rPr>
                        <a:t>リスク</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111318"/>
                    </a:solidFill>
                  </a:tcPr>
                </a:tc>
                <a:tc>
                  <a:txBody>
                    <a:bodyPr/>
                    <a:lstStyle/>
                    <a:p>
                      <a:pPr indent="0" marL="0">
                        <a:buNone/>
                      </a:pPr>
                      <a:r>
                        <a:rPr lang="en-US" sz="950" b="1" dirty="0">
                          <a:solidFill>
                            <a:srgbClr val="FFFFFF"/>
                          </a:solidFill>
                          <a:latin typeface="Meiryo" pitchFamily="34" charset="0"/>
                          <a:ea typeface="Meiryo" pitchFamily="34" charset="-122"/>
                          <a:cs typeface="Meiryo" pitchFamily="34" charset="-120"/>
                        </a:rPr>
                        <a:t>兆候</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111318"/>
                    </a:solidFill>
                  </a:tcPr>
                </a:tc>
                <a:tc>
                  <a:txBody>
                    <a:bodyPr/>
                    <a:lstStyle/>
                    <a:p>
                      <a:pPr indent="0" marL="0">
                        <a:buNone/>
                      </a:pPr>
                      <a:r>
                        <a:rPr lang="en-US" sz="950" b="1" dirty="0">
                          <a:solidFill>
                            <a:srgbClr val="FFFFFF"/>
                          </a:solidFill>
                          <a:latin typeface="Meiryo" pitchFamily="34" charset="0"/>
                          <a:ea typeface="Meiryo" pitchFamily="34" charset="-122"/>
                          <a:cs typeface="Meiryo" pitchFamily="34" charset="-120"/>
                        </a:rPr>
                        <a:t>対策</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111318"/>
                    </a:solidFill>
                  </a:tcPr>
                </a:tc>
              </a:tr>
              <a:tr h="411480">
                <a:tc>
                  <a:txBody>
                    <a:bodyPr/>
                    <a:lstStyle/>
                    <a:p>
                      <a:pPr indent="0" marL="0">
                        <a:buNone/>
                      </a:pPr>
                      <a:r>
                        <a:rPr lang="en-US" sz="950" b="1" dirty="0">
                          <a:solidFill>
                            <a:srgbClr val="1F2430"/>
                          </a:solidFill>
                          <a:latin typeface="Meiryo" pitchFamily="34" charset="0"/>
                          <a:ea typeface="Meiryo" pitchFamily="34" charset="-122"/>
                          <a:cs typeface="Meiryo" pitchFamily="34" charset="-120"/>
                        </a:rPr>
                        <a:t>AI価格崩壊（中国型量産の波及）</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950" dirty="0">
                          <a:solidFill>
                            <a:srgbClr val="1F2430"/>
                          </a:solidFill>
                          <a:latin typeface="Meiryo" pitchFamily="34" charset="0"/>
                          <a:ea typeface="Meiryo" pitchFamily="34" charset="-122"/>
                          <a:cs typeface="Meiryo" pitchFamily="34" charset="-120"/>
                        </a:rPr>
                        <a:t>「AIドラマ3万円」の広告が増える</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950" dirty="0">
                          <a:solidFill>
                            <a:srgbClr val="1F2430"/>
                          </a:solidFill>
                          <a:latin typeface="Meiryo" pitchFamily="34" charset="0"/>
                          <a:ea typeface="Meiryo" pitchFamily="34" charset="-122"/>
                          <a:cs typeface="Meiryo" pitchFamily="34" charset="-120"/>
                        </a:rPr>
                        <a:t>AI軸の価値を脚本×運用×権利対応に置く。生成単体では売らない</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r>
              <a:tr h="411480">
                <a:tc>
                  <a:txBody>
                    <a:bodyPr/>
                    <a:lstStyle/>
                    <a:p>
                      <a:pPr indent="0" marL="0">
                        <a:buNone/>
                      </a:pPr>
                      <a:r>
                        <a:rPr lang="en-US" sz="950" b="1" dirty="0">
                          <a:solidFill>
                            <a:srgbClr val="1F2430"/>
                          </a:solidFill>
                          <a:latin typeface="Meiryo" pitchFamily="34" charset="0"/>
                          <a:ea typeface="Meiryo" pitchFamily="34" charset="-122"/>
                          <a:cs typeface="Meiryo" pitchFamily="34" charset="-120"/>
                        </a:rPr>
                        <a:t>炎上・ブランド毀損</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c>
                  <a:txBody>
                    <a:bodyPr/>
                    <a:lstStyle/>
                    <a:p>
                      <a:pPr indent="0" marL="0">
                        <a:buNone/>
                      </a:pPr>
                      <a:r>
                        <a:rPr lang="en-US" sz="950" dirty="0">
                          <a:solidFill>
                            <a:srgbClr val="1F2430"/>
                          </a:solidFill>
                          <a:latin typeface="Meiryo" pitchFamily="34" charset="0"/>
                          <a:ea typeface="Meiryo" pitchFamily="34" charset="-122"/>
                          <a:cs typeface="Meiryo" pitchFamily="34" charset="-120"/>
                        </a:rPr>
                        <a:t>AI感への否定コメント</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c>
                  <a:txBody>
                    <a:bodyPr/>
                    <a:lstStyle/>
                    <a:p>
                      <a:pPr indent="0" marL="0">
                        <a:buNone/>
                      </a:pPr>
                      <a:r>
                        <a:rPr lang="en-US" sz="950" dirty="0">
                          <a:solidFill>
                            <a:srgbClr val="1F2430"/>
                          </a:solidFill>
                          <a:latin typeface="Meiryo" pitchFamily="34" charset="0"/>
                          <a:ea typeface="Meiryo" pitchFamily="34" charset="-122"/>
                          <a:cs typeface="Meiryo" pitchFamily="34" charset="-120"/>
                        </a:rPr>
                        <a:t>QAゲート、開示ポリシー。食品・医療・高級はAIを勧めない</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r>
              <a:tr h="411480">
                <a:tc>
                  <a:txBody>
                    <a:bodyPr/>
                    <a:lstStyle/>
                    <a:p>
                      <a:pPr indent="0" marL="0">
                        <a:buNone/>
                      </a:pPr>
                      <a:r>
                        <a:rPr lang="en-US" sz="950" b="1" dirty="0">
                          <a:solidFill>
                            <a:srgbClr val="1F2430"/>
                          </a:solidFill>
                          <a:latin typeface="Meiryo" pitchFamily="34" charset="0"/>
                          <a:ea typeface="Meiryo" pitchFamily="34" charset="-122"/>
                          <a:cs typeface="Meiryo" pitchFamily="34" charset="-120"/>
                        </a:rPr>
                        <a:t>ツール依存</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950" dirty="0">
                          <a:solidFill>
                            <a:srgbClr val="1F2430"/>
                          </a:solidFill>
                          <a:latin typeface="Meiryo" pitchFamily="34" charset="0"/>
                          <a:ea typeface="Meiryo" pitchFamily="34" charset="-122"/>
                          <a:cs typeface="Meiryo" pitchFamily="34" charset="-120"/>
                        </a:rPr>
                        <a:t>APIの廃止・値上げ（Sora 2の例）</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950" dirty="0">
                          <a:solidFill>
                            <a:srgbClr val="1F2430"/>
                          </a:solidFill>
                          <a:latin typeface="Meiryo" pitchFamily="34" charset="0"/>
                          <a:ea typeface="Meiryo" pitchFamily="34" charset="-122"/>
                          <a:cs typeface="Meiryo" pitchFamily="34" charset="-120"/>
                        </a:rPr>
                        <a:t>マルチベンダー、月次でモデル評価</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r>
              <a:tr h="411480">
                <a:tc>
                  <a:txBody>
                    <a:bodyPr/>
                    <a:lstStyle/>
                    <a:p>
                      <a:pPr indent="0" marL="0">
                        <a:buNone/>
                      </a:pPr>
                      <a:r>
                        <a:rPr lang="en-US" sz="950" b="1" dirty="0">
                          <a:solidFill>
                            <a:srgbClr val="1F2430"/>
                          </a:solidFill>
                          <a:latin typeface="Meiryo" pitchFamily="34" charset="0"/>
                          <a:ea typeface="Meiryo" pitchFamily="34" charset="-122"/>
                          <a:cs typeface="Meiryo" pitchFamily="34" charset="-120"/>
                        </a:rPr>
                        <a:t>実写の稼働ボトルネック</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c>
                  <a:txBody>
                    <a:bodyPr/>
                    <a:lstStyle/>
                    <a:p>
                      <a:pPr indent="0" marL="0">
                        <a:buNone/>
                      </a:pPr>
                      <a:r>
                        <a:rPr lang="en-US" sz="950" dirty="0">
                          <a:solidFill>
                            <a:srgbClr val="1F2430"/>
                          </a:solidFill>
                          <a:latin typeface="Meiryo" pitchFamily="34" charset="0"/>
                          <a:ea typeface="Meiryo" pitchFamily="34" charset="-122"/>
                          <a:cs typeface="Meiryo" pitchFamily="34" charset="-120"/>
                        </a:rPr>
                        <a:t>撮影日が埋まり納期遅延</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c>
                  <a:txBody>
                    <a:bodyPr/>
                    <a:lstStyle/>
                    <a:p>
                      <a:pPr indent="0" marL="0">
                        <a:buNone/>
                      </a:pPr>
                      <a:r>
                        <a:rPr lang="en-US" sz="950" dirty="0">
                          <a:solidFill>
                            <a:srgbClr val="1F2430"/>
                          </a:solidFill>
                          <a:latin typeface="Meiryo" pitchFamily="34" charset="0"/>
                          <a:ea typeface="Meiryo" pitchFamily="34" charset="-122"/>
                          <a:cs typeface="Meiryo" pitchFamily="34" charset="-120"/>
                        </a:rPr>
                        <a:t>撮影日単位でキャパを公開、外部クルーを2チーム化</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r>
              <a:tr h="411480">
                <a:tc>
                  <a:txBody>
                    <a:bodyPr/>
                    <a:lstStyle/>
                    <a:p>
                      <a:pPr indent="0" marL="0">
                        <a:buNone/>
                      </a:pPr>
                      <a:r>
                        <a:rPr lang="en-US" sz="950" b="1" dirty="0">
                          <a:solidFill>
                            <a:srgbClr val="1F2430"/>
                          </a:solidFill>
                          <a:latin typeface="Meiryo" pitchFamily="34" charset="0"/>
                          <a:ea typeface="Meiryo" pitchFamily="34" charset="-122"/>
                          <a:cs typeface="Meiryo" pitchFamily="34" charset="-120"/>
                        </a:rPr>
                        <a:t>単発依存で月商が乱高下</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950" dirty="0">
                          <a:solidFill>
                            <a:srgbClr val="1F2430"/>
                          </a:solidFill>
                          <a:latin typeface="Meiryo" pitchFamily="34" charset="0"/>
                          <a:ea typeface="Meiryo" pitchFamily="34" charset="-122"/>
                          <a:cs typeface="Meiryo" pitchFamily="34" charset="-120"/>
                        </a:rPr>
                        <a:t>スポット比率50%超</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950" dirty="0">
                          <a:solidFill>
                            <a:srgbClr val="1F2430"/>
                          </a:solidFill>
                          <a:latin typeface="Meiryo" pitchFamily="34" charset="0"/>
                          <a:ea typeface="Meiryo" pitchFamily="34" charset="-122"/>
                          <a:cs typeface="Meiryo" pitchFamily="34" charset="-120"/>
                        </a:rPr>
                        <a:t>6ヶ月目以降はパック・月額のみ受注</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r>
              <a:tr h="411480">
                <a:tc>
                  <a:txBody>
                    <a:bodyPr/>
                    <a:lstStyle/>
                    <a:p>
                      <a:pPr indent="0" marL="0">
                        <a:buNone/>
                      </a:pPr>
                      <a:r>
                        <a:rPr lang="en-US" sz="950" b="1" dirty="0">
                          <a:solidFill>
                            <a:srgbClr val="1F2430"/>
                          </a:solidFill>
                          <a:latin typeface="Meiryo" pitchFamily="34" charset="0"/>
                          <a:ea typeface="Meiryo" pitchFamily="34" charset="-122"/>
                          <a:cs typeface="Meiryo" pitchFamily="34" charset="-120"/>
                        </a:rPr>
                        <a:t>権利トラブル</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c>
                  <a:txBody>
                    <a:bodyPr/>
                    <a:lstStyle/>
                    <a:p>
                      <a:pPr indent="0" marL="0">
                        <a:buNone/>
                      </a:pPr>
                      <a:r>
                        <a:rPr lang="en-US" sz="950" dirty="0">
                          <a:solidFill>
                            <a:srgbClr val="1F2430"/>
                          </a:solidFill>
                          <a:latin typeface="Meiryo" pitchFamily="34" charset="0"/>
                          <a:ea typeface="Meiryo" pitchFamily="34" charset="-122"/>
                          <a:cs typeface="Meiryo" pitchFamily="34" charset="-120"/>
                        </a:rPr>
                        <a:t>俳優の声・肖像のAI転用</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c>
                  <a:txBody>
                    <a:bodyPr/>
                    <a:lstStyle/>
                    <a:p>
                      <a:pPr indent="0" marL="0">
                        <a:buNone/>
                      </a:pPr>
                      <a:r>
                        <a:rPr lang="en-US" sz="950" dirty="0">
                          <a:solidFill>
                            <a:srgbClr val="1F2430"/>
                          </a:solidFill>
                          <a:latin typeface="Meiryo" pitchFamily="34" charset="0"/>
                          <a:ea typeface="Meiryo" pitchFamily="34" charset="-122"/>
                          <a:cs typeface="Meiryo" pitchFamily="34" charset="-120"/>
                        </a:rPr>
                        <a:t>出演契約にAI条項、法務省指針（2026年7月）に準拠</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FFFFF"/>
                    </a:solidFill>
                  </a:tcPr>
                </a:tc>
              </a:tr>
              <a:tr h="411480">
                <a:tc>
                  <a:txBody>
                    <a:bodyPr/>
                    <a:lstStyle/>
                    <a:p>
                      <a:pPr indent="0" marL="0">
                        <a:buNone/>
                      </a:pPr>
                      <a:r>
                        <a:rPr lang="en-US" sz="950" b="1" dirty="0">
                          <a:solidFill>
                            <a:srgbClr val="1F2430"/>
                          </a:solidFill>
                          <a:latin typeface="Meiryo" pitchFamily="34" charset="0"/>
                          <a:ea typeface="Meiryo" pitchFamily="34" charset="-122"/>
                          <a:cs typeface="Meiryo" pitchFamily="34" charset="-120"/>
                        </a:rPr>
                        <a:t>大手参入（Minto、AOI等）</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950" dirty="0">
                          <a:solidFill>
                            <a:srgbClr val="1F2430"/>
                          </a:solidFill>
                          <a:latin typeface="Meiryo" pitchFamily="34" charset="0"/>
                          <a:ea typeface="Meiryo" pitchFamily="34" charset="-122"/>
                          <a:cs typeface="Meiryo" pitchFamily="34" charset="-120"/>
                        </a:rPr>
                        <a:t>大手がAIドラマの価格を公開</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c>
                  <a:txBody>
                    <a:bodyPr/>
                    <a:lstStyle/>
                    <a:p>
                      <a:pPr indent="0" marL="0">
                        <a:buNone/>
                      </a:pPr>
                      <a:r>
                        <a:rPr lang="en-US" sz="950" dirty="0">
                          <a:solidFill>
                            <a:srgbClr val="1F2430"/>
                          </a:solidFill>
                          <a:latin typeface="Meiryo" pitchFamily="34" charset="0"/>
                          <a:ea typeface="Meiryo" pitchFamily="34" charset="-122"/>
                          <a:cs typeface="Meiryo" pitchFamily="34" charset="-120"/>
                        </a:rPr>
                        <a:t>中小・地方・採用に集中し、大手が取らない小口を積む</a:t>
                      </a:r>
                      <a:endParaRPr lang="en-US" sz="950" dirty="0">
                        <a:latin typeface="Meiryo" charset="0"/>
                        <a:ea typeface="Meiryo" charset="0"/>
                        <a:cs typeface="Meiryo" charset="0"/>
                      </a:endParaRPr>
                    </a:p>
                  </a:txBody>
                  <a:tcPr marL="45720" marR="45720" marT="45720" marB="45720" anchor="ctr">
                    <a:lnL w="6350" cap="flat" cmpd="sng" algn="ctr">
                      <a:solidFill>
                        <a:srgbClr val="E3E5EA"/>
                      </a:solidFill>
                      <a:prstDash val="solid"/>
                      <a:round/>
                      <a:headEnd type="none" w="med" len="med"/>
                      <a:tailEnd type="none" w="med" len="med"/>
                    </a:lnL>
                    <a:lnR w="6350" cap="flat" cmpd="sng" algn="ctr">
                      <a:solidFill>
                        <a:srgbClr val="E3E5EA"/>
                      </a:solidFill>
                      <a:prstDash val="solid"/>
                      <a:round/>
                      <a:headEnd type="none" w="med" len="med"/>
                      <a:tailEnd type="none" w="med" len="med"/>
                    </a:lnR>
                    <a:lnT w="6350" cap="flat" cmpd="sng" algn="ctr">
                      <a:solidFill>
                        <a:srgbClr val="E3E5EA"/>
                      </a:solidFill>
                      <a:prstDash val="solid"/>
                      <a:round/>
                      <a:headEnd type="none" w="med" len="med"/>
                      <a:tailEnd type="none" w="med" len="med"/>
                    </a:lnT>
                    <a:lnB w="6350" cap="flat" cmpd="sng" algn="ctr">
                      <a:solidFill>
                        <a:srgbClr val="E3E5EA"/>
                      </a:solidFill>
                      <a:prstDash val="solid"/>
                      <a:round/>
                      <a:headEnd type="none" w="med" len="med"/>
                      <a:tailEnd type="none" w="med" len="med"/>
                    </a:lnB>
                    <a:solidFill>
                      <a:srgbClr val="F3F4F6"/>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11318"/>
        </a:solidFill>
      </p:bgPr>
    </p:bg>
    <p:spTree>
      <p:nvGrpSpPr>
        <p:cNvPr id="1" name=""/>
        <p:cNvGrpSpPr/>
        <p:nvPr/>
      </p:nvGrpSpPr>
      <p:grpSpPr>
        <a:xfrm>
          <a:off x="0" y="0"/>
          <a:ext cx="0" cy="0"/>
          <a:chOff x="0" y="0"/>
          <a:chExt cx="0" cy="0"/>
        </a:xfrm>
      </p:grpSpPr>
      <p:sp>
        <p:nvSpPr>
          <p:cNvPr id="2" name="Text 0"/>
          <p:cNvSpPr txBox="1"/>
          <p:nvPr/>
        </p:nvSpPr>
        <p:spPr>
          <a:xfrm>
            <a:off x="548640" y="457200"/>
            <a:ext cx="8046720" cy="274320"/>
          </a:xfrm>
          <a:prstGeom prst="rect">
            <a:avLst/>
          </a:prstGeom>
          <a:noFill/>
          <a:ln/>
        </p:spPr>
        <p:txBody>
          <a:bodyPr wrap="square" lIns="0" tIns="0" rIns="0" bIns="0" rtlCol="0" anchor="t"/>
          <a:lstStyle/>
          <a:p>
            <a:pPr indent="0" marL="0">
              <a:buNone/>
            </a:pPr>
            <a:r>
              <a:rPr lang="en-US" sz="1200" b="1" dirty="0">
                <a:solidFill>
                  <a:srgbClr val="D9A441"/>
                </a:solidFill>
                <a:latin typeface="Meiryo" pitchFamily="34" charset="0"/>
                <a:ea typeface="Meiryo" pitchFamily="34" charset="-122"/>
                <a:cs typeface="Meiryo" pitchFamily="34" charset="-120"/>
              </a:rPr>
              <a:t>10. アクション</a:t>
            </a:r>
            <a:endParaRPr lang="en-US" sz="1200" dirty="0"/>
          </a:p>
        </p:txBody>
      </p:sp>
      <p:sp>
        <p:nvSpPr>
          <p:cNvPr id="3" name="Text 1"/>
          <p:cNvSpPr txBox="1"/>
          <p:nvPr/>
        </p:nvSpPr>
        <p:spPr>
          <a:xfrm>
            <a:off x="548640" y="777240"/>
            <a:ext cx="8046720" cy="731520"/>
          </a:xfrm>
          <a:prstGeom prst="rect">
            <a:avLst/>
          </a:prstGeom>
          <a:noFill/>
          <a:ln/>
        </p:spPr>
        <p:txBody>
          <a:bodyPr wrap="square" lIns="0" tIns="0" rIns="0" bIns="0" rtlCol="0" anchor="t"/>
          <a:lstStyle/>
          <a:p>
            <a:pPr indent="0" marL="0">
              <a:buNone/>
            </a:pPr>
            <a:r>
              <a:rPr lang="en-US" sz="2400" b="1" dirty="0">
                <a:solidFill>
                  <a:srgbClr val="FFFFFF"/>
                </a:solidFill>
                <a:latin typeface="Meiryo" pitchFamily="34" charset="0"/>
                <a:ea typeface="Meiryo" pitchFamily="34" charset="-122"/>
                <a:cs typeface="Meiryo" pitchFamily="34" charset="-120"/>
              </a:rPr>
              <a:t>直近30日のアクション</a:t>
            </a:r>
            <a:endParaRPr lang="en-US" sz="2400" dirty="0"/>
          </a:p>
        </p:txBody>
      </p:sp>
      <p:sp>
        <p:nvSpPr>
          <p:cNvPr id="4" name="Shape 2"/>
          <p:cNvSpPr/>
          <p:nvPr/>
        </p:nvSpPr>
        <p:spPr>
          <a:xfrm>
            <a:off x="548640" y="1810512"/>
            <a:ext cx="384048" cy="384048"/>
          </a:xfrm>
          <a:prstGeom prst="ellipse">
            <a:avLst/>
          </a:prstGeom>
          <a:solidFill>
            <a:srgbClr val="E63946"/>
          </a:solidFill>
          <a:ln w="12700">
            <a:solidFill>
              <a:srgbClr val="E63946"/>
            </a:solidFill>
            <a:prstDash val="solid"/>
          </a:ln>
        </p:spPr>
      </p:sp>
      <p:sp>
        <p:nvSpPr>
          <p:cNvPr id="5" name="Text 3"/>
          <p:cNvSpPr txBox="1"/>
          <p:nvPr/>
        </p:nvSpPr>
        <p:spPr>
          <a:xfrm>
            <a:off x="548640" y="181051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1</a:t>
            </a:r>
            <a:endParaRPr lang="en-US" sz="1200" dirty="0"/>
          </a:p>
        </p:txBody>
      </p:sp>
      <p:sp>
        <p:nvSpPr>
          <p:cNvPr id="6" name="Text 4"/>
          <p:cNvSpPr txBox="1"/>
          <p:nvPr/>
        </p:nvSpPr>
        <p:spPr>
          <a:xfrm>
            <a:off x="1051560" y="1737360"/>
            <a:ext cx="3383280" cy="548640"/>
          </a:xfrm>
          <a:prstGeom prst="rect">
            <a:avLst/>
          </a:prstGeom>
          <a:noFill/>
          <a:ln/>
        </p:spPr>
        <p:txBody>
          <a:bodyPr wrap="square" lIns="0" tIns="0" rIns="0" bIns="0" rtlCol="0" anchor="ctr"/>
          <a:lstStyle/>
          <a:p>
            <a:pPr indent="0" marL="0">
              <a:buNone/>
            </a:pPr>
            <a:r>
              <a:rPr lang="en-US" sz="1050" dirty="0">
                <a:solidFill>
                  <a:srgbClr val="FFFFFF"/>
                </a:solidFill>
                <a:latin typeface="Meiryo" pitchFamily="34" charset="0"/>
                <a:ea typeface="Meiryo" pitchFamily="34" charset="-122"/>
                <a:cs typeface="Meiryo" pitchFamily="34" charset="-120"/>
              </a:rPr>
              <a:t>AI軸を3本試作し、生成時間と採用率を実測して原価表を実数化</a:t>
            </a:r>
            <a:endParaRPr lang="en-US" sz="1050" dirty="0"/>
          </a:p>
        </p:txBody>
      </p:sp>
      <p:sp>
        <p:nvSpPr>
          <p:cNvPr id="7" name="Shape 5"/>
          <p:cNvSpPr/>
          <p:nvPr/>
        </p:nvSpPr>
        <p:spPr>
          <a:xfrm>
            <a:off x="4663440" y="1810512"/>
            <a:ext cx="384048" cy="384048"/>
          </a:xfrm>
          <a:prstGeom prst="ellipse">
            <a:avLst/>
          </a:prstGeom>
          <a:solidFill>
            <a:srgbClr val="E63946"/>
          </a:solidFill>
          <a:ln w="12700">
            <a:solidFill>
              <a:srgbClr val="E63946"/>
            </a:solidFill>
            <a:prstDash val="solid"/>
          </a:ln>
        </p:spPr>
      </p:sp>
      <p:sp>
        <p:nvSpPr>
          <p:cNvPr id="8" name="Text 6"/>
          <p:cNvSpPr txBox="1"/>
          <p:nvPr/>
        </p:nvSpPr>
        <p:spPr>
          <a:xfrm>
            <a:off x="4663440" y="181051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2</a:t>
            </a:r>
            <a:endParaRPr lang="en-US" sz="1200" dirty="0"/>
          </a:p>
        </p:txBody>
      </p:sp>
      <p:sp>
        <p:nvSpPr>
          <p:cNvPr id="9" name="Text 7"/>
          <p:cNvSpPr txBox="1"/>
          <p:nvPr/>
        </p:nvSpPr>
        <p:spPr>
          <a:xfrm>
            <a:off x="5166360" y="1737360"/>
            <a:ext cx="3383280" cy="548640"/>
          </a:xfrm>
          <a:prstGeom prst="rect">
            <a:avLst/>
          </a:prstGeom>
          <a:noFill/>
          <a:ln/>
        </p:spPr>
        <p:txBody>
          <a:bodyPr wrap="square" lIns="0" tIns="0" rIns="0" bIns="0" rtlCol="0" anchor="ctr"/>
          <a:lstStyle/>
          <a:p>
            <a:pPr indent="0" marL="0">
              <a:buNone/>
            </a:pPr>
            <a:r>
              <a:rPr lang="en-US" sz="1050" dirty="0">
                <a:solidFill>
                  <a:srgbClr val="FFFFFF"/>
                </a:solidFill>
                <a:latin typeface="Meiryo" pitchFamily="34" charset="0"/>
                <a:ea typeface="Meiryo" pitchFamily="34" charset="-122"/>
                <a:cs typeface="Meiryo" pitchFamily="34" charset="-120"/>
              </a:rPr>
              <a:t>実写クルー3社・俳優5名から見積りを取り、原価表を更新</a:t>
            </a:r>
            <a:endParaRPr lang="en-US" sz="1050" dirty="0"/>
          </a:p>
        </p:txBody>
      </p:sp>
      <p:sp>
        <p:nvSpPr>
          <p:cNvPr id="10" name="Shape 8"/>
          <p:cNvSpPr/>
          <p:nvPr/>
        </p:nvSpPr>
        <p:spPr>
          <a:xfrm>
            <a:off x="548640" y="2542032"/>
            <a:ext cx="384048" cy="384048"/>
          </a:xfrm>
          <a:prstGeom prst="ellipse">
            <a:avLst/>
          </a:prstGeom>
          <a:solidFill>
            <a:srgbClr val="E63946"/>
          </a:solidFill>
          <a:ln w="12700">
            <a:solidFill>
              <a:srgbClr val="E63946"/>
            </a:solidFill>
            <a:prstDash val="solid"/>
          </a:ln>
        </p:spPr>
      </p:sp>
      <p:sp>
        <p:nvSpPr>
          <p:cNvPr id="11" name="Text 9"/>
          <p:cNvSpPr txBox="1"/>
          <p:nvPr/>
        </p:nvSpPr>
        <p:spPr>
          <a:xfrm>
            <a:off x="548640" y="254203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3</a:t>
            </a:r>
            <a:endParaRPr lang="en-US" sz="1200" dirty="0"/>
          </a:p>
        </p:txBody>
      </p:sp>
      <p:sp>
        <p:nvSpPr>
          <p:cNvPr id="12" name="Text 10"/>
          <p:cNvSpPr txBox="1"/>
          <p:nvPr/>
        </p:nvSpPr>
        <p:spPr>
          <a:xfrm>
            <a:off x="1051560" y="2468880"/>
            <a:ext cx="3383280" cy="548640"/>
          </a:xfrm>
          <a:prstGeom prst="rect">
            <a:avLst/>
          </a:prstGeom>
          <a:noFill/>
          <a:ln/>
        </p:spPr>
        <p:txBody>
          <a:bodyPr wrap="square" lIns="0" tIns="0" rIns="0" bIns="0" rtlCol="0" anchor="ctr"/>
          <a:lstStyle/>
          <a:p>
            <a:pPr indent="0" marL="0">
              <a:buNone/>
            </a:pPr>
            <a:r>
              <a:rPr lang="en-US" sz="1050" dirty="0">
                <a:solidFill>
                  <a:srgbClr val="FFFFFF"/>
                </a:solidFill>
                <a:latin typeface="Meiryo" pitchFamily="34" charset="0"/>
                <a:ea typeface="Meiryo" pitchFamily="34" charset="-122"/>
                <a:cs typeface="Meiryo" pitchFamily="34" charset="-120"/>
              </a:rPr>
              <a:t>料金ページ、AI開示ポリシー、出演契約テンプレを作成</a:t>
            </a:r>
            <a:endParaRPr lang="en-US" sz="1050" dirty="0"/>
          </a:p>
        </p:txBody>
      </p:sp>
      <p:sp>
        <p:nvSpPr>
          <p:cNvPr id="13" name="Shape 11"/>
          <p:cNvSpPr/>
          <p:nvPr/>
        </p:nvSpPr>
        <p:spPr>
          <a:xfrm>
            <a:off x="4663440" y="2542032"/>
            <a:ext cx="384048" cy="384048"/>
          </a:xfrm>
          <a:prstGeom prst="ellipse">
            <a:avLst/>
          </a:prstGeom>
          <a:solidFill>
            <a:srgbClr val="E63946"/>
          </a:solidFill>
          <a:ln w="12700">
            <a:solidFill>
              <a:srgbClr val="E63946"/>
            </a:solidFill>
            <a:prstDash val="solid"/>
          </a:ln>
        </p:spPr>
      </p:sp>
      <p:sp>
        <p:nvSpPr>
          <p:cNvPr id="14" name="Text 12"/>
          <p:cNvSpPr txBox="1"/>
          <p:nvPr/>
        </p:nvSpPr>
        <p:spPr>
          <a:xfrm>
            <a:off x="4663440" y="254203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4</a:t>
            </a:r>
            <a:endParaRPr lang="en-US" sz="1200" dirty="0"/>
          </a:p>
        </p:txBody>
      </p:sp>
      <p:sp>
        <p:nvSpPr>
          <p:cNvPr id="15" name="Text 13"/>
          <p:cNvSpPr txBox="1"/>
          <p:nvPr/>
        </p:nvSpPr>
        <p:spPr>
          <a:xfrm>
            <a:off x="5166360" y="2468880"/>
            <a:ext cx="3383280" cy="548640"/>
          </a:xfrm>
          <a:prstGeom prst="rect">
            <a:avLst/>
          </a:prstGeom>
          <a:noFill/>
          <a:ln/>
        </p:spPr>
        <p:txBody>
          <a:bodyPr wrap="square" lIns="0" tIns="0" rIns="0" bIns="0" rtlCol="0" anchor="ctr"/>
          <a:lstStyle/>
          <a:p>
            <a:pPr indent="0" marL="0">
              <a:buNone/>
            </a:pPr>
            <a:r>
              <a:rPr lang="en-US" sz="1050" dirty="0">
                <a:solidFill>
                  <a:srgbClr val="FFFFFF"/>
                </a:solidFill>
                <a:latin typeface="Meiryo" pitchFamily="34" charset="0"/>
                <a:ea typeface="Meiryo" pitchFamily="34" charset="-122"/>
                <a:cs typeface="Meiryo" pitchFamily="34" charset="-120"/>
              </a:rPr>
              <a:t>自社アカウント開設、AIドラマの毎日投稿を開始（テーマ：採用あるある）</a:t>
            </a:r>
            <a:endParaRPr lang="en-US" sz="1050" dirty="0"/>
          </a:p>
        </p:txBody>
      </p:sp>
      <p:sp>
        <p:nvSpPr>
          <p:cNvPr id="16" name="Shape 14"/>
          <p:cNvSpPr/>
          <p:nvPr/>
        </p:nvSpPr>
        <p:spPr>
          <a:xfrm>
            <a:off x="548640" y="3273552"/>
            <a:ext cx="384048" cy="384048"/>
          </a:xfrm>
          <a:prstGeom prst="ellipse">
            <a:avLst/>
          </a:prstGeom>
          <a:solidFill>
            <a:srgbClr val="E63946"/>
          </a:solidFill>
          <a:ln w="12700">
            <a:solidFill>
              <a:srgbClr val="E63946"/>
            </a:solidFill>
            <a:prstDash val="solid"/>
          </a:ln>
        </p:spPr>
      </p:sp>
      <p:sp>
        <p:nvSpPr>
          <p:cNvPr id="17" name="Text 15"/>
          <p:cNvSpPr txBox="1"/>
          <p:nvPr/>
        </p:nvSpPr>
        <p:spPr>
          <a:xfrm>
            <a:off x="548640" y="327355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5</a:t>
            </a:r>
            <a:endParaRPr lang="en-US" sz="1200" dirty="0"/>
          </a:p>
        </p:txBody>
      </p:sp>
      <p:sp>
        <p:nvSpPr>
          <p:cNvPr id="18" name="Text 16"/>
          <p:cNvSpPr txBox="1"/>
          <p:nvPr/>
        </p:nvSpPr>
        <p:spPr>
          <a:xfrm>
            <a:off x="1051560" y="3200400"/>
            <a:ext cx="3383280" cy="548640"/>
          </a:xfrm>
          <a:prstGeom prst="rect">
            <a:avLst/>
          </a:prstGeom>
          <a:noFill/>
          <a:ln/>
        </p:spPr>
        <p:txBody>
          <a:bodyPr wrap="square" lIns="0" tIns="0" rIns="0" bIns="0" rtlCol="0" anchor="ctr"/>
          <a:lstStyle/>
          <a:p>
            <a:pPr indent="0" marL="0">
              <a:buNone/>
            </a:pPr>
            <a:r>
              <a:rPr lang="en-US" sz="1050" dirty="0">
                <a:solidFill>
                  <a:srgbClr val="FFFFFF"/>
                </a:solidFill>
                <a:latin typeface="Meiryo" pitchFamily="34" charset="0"/>
                <a:ea typeface="Meiryo" pitchFamily="34" charset="-122"/>
                <a:cs typeface="Meiryo" pitchFamily="34" charset="-120"/>
              </a:rPr>
              <a:t>パイロット顧客3社に声がけ（採用難企業・飲食・士業、事例公開OKが条件）</a:t>
            </a:r>
            <a:endParaRPr lang="en-US" sz="1050" dirty="0"/>
          </a:p>
        </p:txBody>
      </p:sp>
      <p:sp>
        <p:nvSpPr>
          <p:cNvPr id="19" name="Shape 17"/>
          <p:cNvSpPr/>
          <p:nvPr/>
        </p:nvSpPr>
        <p:spPr>
          <a:xfrm>
            <a:off x="4663440" y="3273552"/>
            <a:ext cx="384048" cy="384048"/>
          </a:xfrm>
          <a:prstGeom prst="ellipse">
            <a:avLst/>
          </a:prstGeom>
          <a:solidFill>
            <a:srgbClr val="E63946"/>
          </a:solidFill>
          <a:ln w="12700">
            <a:solidFill>
              <a:srgbClr val="E63946"/>
            </a:solidFill>
            <a:prstDash val="solid"/>
          </a:ln>
        </p:spPr>
      </p:sp>
      <p:sp>
        <p:nvSpPr>
          <p:cNvPr id="20" name="Text 18"/>
          <p:cNvSpPr txBox="1"/>
          <p:nvPr/>
        </p:nvSpPr>
        <p:spPr>
          <a:xfrm>
            <a:off x="4663440" y="327355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6</a:t>
            </a:r>
            <a:endParaRPr lang="en-US" sz="1200" dirty="0"/>
          </a:p>
        </p:txBody>
      </p:sp>
      <p:sp>
        <p:nvSpPr>
          <p:cNvPr id="21" name="Text 19"/>
          <p:cNvSpPr txBox="1"/>
          <p:nvPr/>
        </p:nvSpPr>
        <p:spPr>
          <a:xfrm>
            <a:off x="5166360" y="3200400"/>
            <a:ext cx="3383280" cy="548640"/>
          </a:xfrm>
          <a:prstGeom prst="rect">
            <a:avLst/>
          </a:prstGeom>
          <a:noFill/>
          <a:ln/>
        </p:spPr>
        <p:txBody>
          <a:bodyPr wrap="square" lIns="0" tIns="0" rIns="0" bIns="0" rtlCol="0" anchor="ctr"/>
          <a:lstStyle/>
          <a:p>
            <a:pPr indent="0" marL="0">
              <a:buNone/>
            </a:pPr>
            <a:r>
              <a:rPr lang="en-US" sz="1050" dirty="0">
                <a:solidFill>
                  <a:srgbClr val="FFFFFF"/>
                </a:solidFill>
                <a:latin typeface="Meiryo" pitchFamily="34" charset="0"/>
                <a:ea typeface="Meiryo" pitchFamily="34" charset="-122"/>
                <a:cs typeface="Meiryo" pitchFamily="34" charset="-120"/>
              </a:rPr>
              <a:t>パートナー候補（SNS運用代行・採用コンサル・商工会議所）5社にアポ</a:t>
            </a:r>
            <a:endParaRPr lang="en-US" sz="1050" dirty="0"/>
          </a:p>
        </p:txBody>
      </p:sp>
      <p:sp>
        <p:nvSpPr>
          <p:cNvPr id="22" name="Shape 20"/>
          <p:cNvSpPr/>
          <p:nvPr/>
        </p:nvSpPr>
        <p:spPr>
          <a:xfrm>
            <a:off x="548640" y="4005072"/>
            <a:ext cx="384048" cy="384048"/>
          </a:xfrm>
          <a:prstGeom prst="ellipse">
            <a:avLst/>
          </a:prstGeom>
          <a:solidFill>
            <a:srgbClr val="E63946"/>
          </a:solidFill>
          <a:ln w="12700">
            <a:solidFill>
              <a:srgbClr val="E63946"/>
            </a:solidFill>
            <a:prstDash val="solid"/>
          </a:ln>
        </p:spPr>
      </p:sp>
      <p:sp>
        <p:nvSpPr>
          <p:cNvPr id="23" name="Text 21"/>
          <p:cNvSpPr txBox="1"/>
          <p:nvPr/>
        </p:nvSpPr>
        <p:spPr>
          <a:xfrm>
            <a:off x="548640" y="400507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7</a:t>
            </a:r>
            <a:endParaRPr lang="en-US" sz="1200" dirty="0"/>
          </a:p>
        </p:txBody>
      </p:sp>
      <p:sp>
        <p:nvSpPr>
          <p:cNvPr id="24" name="Text 22"/>
          <p:cNvSpPr txBox="1"/>
          <p:nvPr/>
        </p:nvSpPr>
        <p:spPr>
          <a:xfrm>
            <a:off x="1051560" y="3931920"/>
            <a:ext cx="3383280" cy="548640"/>
          </a:xfrm>
          <a:prstGeom prst="rect">
            <a:avLst/>
          </a:prstGeom>
          <a:noFill/>
          <a:ln/>
        </p:spPr>
        <p:txBody>
          <a:bodyPr wrap="square" lIns="0" tIns="0" rIns="0" bIns="0" rtlCol="0" anchor="ctr"/>
          <a:lstStyle/>
          <a:p>
            <a:pPr indent="0" marL="0">
              <a:buNone/>
            </a:pPr>
            <a:r>
              <a:rPr lang="en-US" sz="1050" dirty="0">
                <a:solidFill>
                  <a:srgbClr val="FFFFFF"/>
                </a:solidFill>
                <a:latin typeface="Meiryo" pitchFamily="34" charset="0"/>
                <a:ea typeface="Meiryo" pitchFamily="34" charset="-122"/>
                <a:cs typeface="Meiryo" pitchFamily="34" charset="-120"/>
              </a:rPr>
              <a:t>「作ってから送る」営業を10社に実施し、反応率を記録</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228600"/>
          </a:xfrm>
          <a:prstGeom prst="rect">
            <a:avLst/>
          </a:prstGeom>
          <a:noFill/>
          <a:ln/>
        </p:spPr>
        <p:txBody>
          <a:bodyPr wrap="square" lIns="0" tIns="0" rIns="0" bIns="0" rtlCol="0" anchor="t"/>
          <a:lstStyle/>
          <a:p>
            <a:pPr indent="0" marL="0">
              <a:buNone/>
            </a:pPr>
            <a:r>
              <a:rPr lang="en-US" sz="1100" b="1" dirty="0">
                <a:solidFill>
                  <a:srgbClr val="E63946"/>
                </a:solidFill>
                <a:latin typeface="Meiryo" pitchFamily="34" charset="0"/>
                <a:ea typeface="Meiryo" pitchFamily="34" charset="-122"/>
                <a:cs typeface="Meiryo" pitchFamily="34" charset="-120"/>
              </a:rPr>
              <a:t>付録</a:t>
            </a:r>
            <a:endParaRPr lang="en-US" sz="1100" dirty="0"/>
          </a:p>
        </p:txBody>
      </p:sp>
      <p:sp>
        <p:nvSpPr>
          <p:cNvPr id="3" name="Text 1"/>
          <p:cNvSpPr txBox="1"/>
          <p:nvPr/>
        </p:nvSpPr>
        <p:spPr>
          <a:xfrm>
            <a:off x="548640" y="548640"/>
            <a:ext cx="8046720" cy="548640"/>
          </a:xfrm>
          <a:prstGeom prst="rect">
            <a:avLst/>
          </a:prstGeom>
          <a:noFill/>
          <a:ln/>
        </p:spPr>
        <p:txBody>
          <a:bodyPr wrap="square" lIns="0" tIns="0" rIns="0" bIns="0" rtlCol="0" anchor="t"/>
          <a:lstStyle/>
          <a:p>
            <a:pPr indent="0" marL="0">
              <a:buNone/>
            </a:pPr>
            <a:r>
              <a:rPr lang="en-US" sz="2200" b="1" dirty="0">
                <a:solidFill>
                  <a:srgbClr val="111318"/>
                </a:solidFill>
                <a:latin typeface="Meiryo" pitchFamily="34" charset="0"/>
                <a:ea typeface="Meiryo" pitchFamily="34" charset="-122"/>
                <a:cs typeface="Meiryo" pitchFamily="34" charset="-120"/>
              </a:rPr>
              <a:t>リサーチの制約と主な出典</a:t>
            </a:r>
            <a:endParaRPr lang="en-US" sz="2200" dirty="0"/>
          </a:p>
        </p:txBody>
      </p:sp>
      <p:sp>
        <p:nvSpPr>
          <p:cNvPr id="4" name="Text 2"/>
          <p:cNvSpPr txBox="1"/>
          <p:nvPr/>
        </p:nvSpPr>
        <p:spPr>
          <a:xfrm>
            <a:off x="8229600" y="4754880"/>
            <a:ext cx="4572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pitchFamily="34" charset="0"/>
                <a:ea typeface="Meiryo" pitchFamily="34" charset="-122"/>
                <a:cs typeface="Meiryo" pitchFamily="34" charset="-120"/>
              </a:rPr>
              <a:t>22</a:t>
            </a:r>
            <a:endParaRPr lang="en-US" sz="900" dirty="0"/>
          </a:p>
        </p:txBody>
      </p:sp>
      <p:sp>
        <p:nvSpPr>
          <p:cNvPr id="5" name="Shape 3"/>
          <p:cNvSpPr/>
          <p:nvPr/>
        </p:nvSpPr>
        <p:spPr>
          <a:xfrm>
            <a:off x="548640" y="1234440"/>
            <a:ext cx="8046720" cy="868680"/>
          </a:xfrm>
          <a:prstGeom prst="roundRect">
            <a:avLst>
              <a:gd name="adj" fmla="val 8421"/>
            </a:avLst>
          </a:prstGeom>
          <a:solidFill>
            <a:srgbClr val="FBEAEC"/>
          </a:solidFill>
          <a:ln w="12700">
            <a:solidFill>
              <a:srgbClr val="FBEAEC"/>
            </a:solidFill>
            <a:prstDash val="solid"/>
          </a:ln>
        </p:spPr>
      </p:sp>
      <p:sp>
        <p:nvSpPr>
          <p:cNvPr id="6" name="Text 4"/>
          <p:cNvSpPr txBox="1"/>
          <p:nvPr/>
        </p:nvSpPr>
        <p:spPr>
          <a:xfrm>
            <a:off x="731520" y="1325880"/>
            <a:ext cx="7680960" cy="731520"/>
          </a:xfrm>
          <a:prstGeom prst="rect">
            <a:avLst/>
          </a:prstGeom>
          <a:noFill/>
          <a:ln/>
        </p:spPr>
        <p:txBody>
          <a:bodyPr wrap="square" lIns="0" tIns="0" rIns="0" bIns="0" rtlCol="0" anchor="ctr"/>
          <a:lstStyle/>
          <a:p>
            <a:pPr indent="0" marL="0">
              <a:buNone/>
            </a:pPr>
            <a:r>
              <a:rPr lang="en-US" sz="950" dirty="0">
                <a:solidFill>
                  <a:srgbClr val="1F2430"/>
                </a:solidFill>
                <a:latin typeface="Meiryo" pitchFamily="34" charset="0"/>
                <a:ea typeface="Meiryo" pitchFamily="34" charset="-122"/>
                <a:cs typeface="Meiryo" pitchFamily="34" charset="-120"/>
              </a:rPr>
              <a:t>本資料の数値は検索エンジン要約経由で取得したものが多く、多くの一次ページには直接アクセスできていない。競合の料金は記事の「目安」、原価表は一般的な業務委託相場に基づく仮置き。営業資料や公開料金に使う前に一次情報と自社の外注単価で再確認すること。</a:t>
            </a:r>
            <a:endParaRPr lang="en-US" sz="950" dirty="0"/>
          </a:p>
        </p:txBody>
      </p:sp>
      <p:sp>
        <p:nvSpPr>
          <p:cNvPr id="7" name="Text 5"/>
          <p:cNvSpPr txBox="1"/>
          <p:nvPr/>
        </p:nvSpPr>
        <p:spPr>
          <a:xfrm>
            <a:off x="548640" y="2240280"/>
            <a:ext cx="8046720" cy="2560320"/>
          </a:xfrm>
          <a:prstGeom prst="rect">
            <a:avLst/>
          </a:prstGeom>
          <a:noFill/>
          <a:ln/>
        </p:spPr>
        <p:txBody>
          <a:bodyPr wrap="square" lIns="0" tIns="0" rIns="0" bIns="0" rtlCol="0" anchor="t"/>
          <a:lstStyle/>
          <a:p>
            <a:pPr marL="152400" indent="-152400">
              <a:spcAft>
                <a:spcPts val="500"/>
              </a:spcAft>
              <a:buSzPct val="100000"/>
              <a:buChar char="•"/>
            </a:pPr>
            <a:r>
              <a:rPr lang="en-US" sz="880" dirty="0">
                <a:solidFill>
                  <a:srgbClr val="1F2430"/>
                </a:solidFill>
                <a:latin typeface="Meiryo" pitchFamily="34" charset="0"/>
                <a:ea typeface="Meiryo" pitchFamily="34" charset="-122"/>
                <a:cs typeface="Meiryo" pitchFamily="34" charset="-120"/>
              </a:rPr>
              <a:t>市場：CREAVE「2026年予測 1,530億円」（Branc / PR TIMES）、ガイアックス「ショートドラマ市場動向調査」（Branc 2026/5、syncAD）、b-step「TikTokユーザー数」</a:t>
            </a:r>
            <a:endParaRPr lang="en-US" sz="880" dirty="0"/>
          </a:p>
          <a:p>
            <a:pPr marL="152400" indent="-152400">
              <a:spcAft>
                <a:spcPts val="500"/>
              </a:spcAft>
              <a:buSzPct val="100000"/>
              <a:buChar char="•"/>
            </a:pPr>
            <a:r>
              <a:rPr lang="en-US" sz="880" dirty="0">
                <a:solidFill>
                  <a:srgbClr val="1F2430"/>
                </a:solidFill>
                <a:latin typeface="Meiryo" pitchFamily="34" charset="0"/>
                <a:ea typeface="Meiryo" pitchFamily="34" charset="-122"/>
                <a:cs typeface="Meiryo" pitchFamily="34" charset="-120"/>
              </a:rPr>
              <a:t>事例：GOKKO「ショートドラマ広告 事例・KPI」、ガイアックス「採用ショートドラマ事例6選」、hypex、HolyTech、TikTok Newsroom「上半期トレンド大賞2026」</a:t>
            </a:r>
            <a:endParaRPr lang="en-US" sz="880" dirty="0"/>
          </a:p>
          <a:p>
            <a:pPr marL="152400" indent="-152400">
              <a:spcAft>
                <a:spcPts val="500"/>
              </a:spcAft>
              <a:buSzPct val="100000"/>
              <a:buChar char="•"/>
            </a:pPr>
            <a:r>
              <a:rPr lang="en-US" sz="880" dirty="0">
                <a:solidFill>
                  <a:srgbClr val="1F2430"/>
                </a:solidFill>
                <a:latin typeface="Meiryo" pitchFamily="34" charset="0"/>
                <a:ea typeface="Meiryo" pitchFamily="34" charset="-122"/>
                <a:cs typeface="Meiryo" pitchFamily="34" charset="-120"/>
              </a:rPr>
              <a:t>競合：日経クロストレンド（TV局参入、GOKKO/BUMP）、創業手帳（GOKKO 11億円、HA-LU）、GOKKO CEO note、Minto PR TIMES、CGWORLD（AOI Pro.）</a:t>
            </a:r>
            <a:endParaRPr lang="en-US" sz="880" dirty="0"/>
          </a:p>
          <a:p>
            <a:pPr marL="152400" indent="-152400">
              <a:spcAft>
                <a:spcPts val="500"/>
              </a:spcAft>
              <a:buSzPct val="100000"/>
              <a:buChar char="•"/>
            </a:pPr>
            <a:r>
              <a:rPr lang="en-US" sz="880" dirty="0">
                <a:solidFill>
                  <a:srgbClr val="1F2430"/>
                </a:solidFill>
                <a:latin typeface="Meiryo" pitchFamily="34" charset="0"/>
                <a:ea typeface="Meiryo" pitchFamily="34" charset="-122"/>
                <a:cs typeface="Meiryo" pitchFamily="34" charset="-120"/>
              </a:rPr>
              <a:t>料金：filmoq、ナイトてんしょん、nowhere film、DRAMA CRAFT、B4B、BOATER、Septeni FOCUS、合同会社キッカケ、ムービーインパクト、AI PICKS</a:t>
            </a:r>
            <a:endParaRPr lang="en-US" sz="880" dirty="0"/>
          </a:p>
          <a:p>
            <a:pPr marL="152400" indent="-152400">
              <a:spcAft>
                <a:spcPts val="500"/>
              </a:spcAft>
              <a:buSzPct val="100000"/>
              <a:buChar char="•"/>
            </a:pPr>
            <a:r>
              <a:rPr lang="en-US" sz="880" dirty="0">
                <a:solidFill>
                  <a:srgbClr val="1F2430"/>
                </a:solidFill>
                <a:latin typeface="Meiryo" pitchFamily="34" charset="0"/>
                <a:ea typeface="Meiryo" pitchFamily="34" charset="-122"/>
                <a:cs typeface="Meiryo" pitchFamily="34" charset="-120"/>
              </a:rPr>
              <a:t>AI技術：modelslab「Veo 3.1 vs Kling 3.0 vs Sora 2 API Pricing」、クリングai、AQUA、MIT Tech Review（中国470本/日）、日経（7割AI製）、AFPBB</a:t>
            </a:r>
            <a:endParaRPr lang="en-US" sz="880" dirty="0"/>
          </a:p>
          <a:p>
            <a:pPr marL="152400" indent="-152400">
              <a:spcAft>
                <a:spcPts val="500"/>
              </a:spcAft>
              <a:buSzPct val="100000"/>
              <a:buChar char="•"/>
            </a:pPr>
            <a:r>
              <a:rPr lang="en-US" sz="880" dirty="0">
                <a:solidFill>
                  <a:srgbClr val="1F2430"/>
                </a:solidFill>
                <a:latin typeface="Meiryo" pitchFamily="34" charset="0"/>
                <a:ea typeface="Meiryo" pitchFamily="34" charset="-122"/>
                <a:cs typeface="Meiryo" pitchFamily="34" charset="-120"/>
              </a:rPr>
              <a:t>法規制：AI革命「法務省 声の権利指針」、日本俳優連合、お名前.com（EU AI法）、Uravation、AI新聞（炎上事例）</a:t>
            </a:r>
            <a:endParaRPr lang="en-US" sz="880" dirty="0"/>
          </a:p>
          <a:p>
            <a:pPr marL="152400" indent="-152400">
              <a:spcAft>
                <a:spcPts val="500"/>
              </a:spcAft>
              <a:buSzPct val="100000"/>
              <a:buChar char="•"/>
            </a:pPr>
            <a:r>
              <a:rPr lang="en-US" sz="880" dirty="0">
                <a:solidFill>
                  <a:srgbClr val="1F2430"/>
                </a:solidFill>
                <a:latin typeface="Meiryo" pitchFamily="34" charset="0"/>
                <a:ea typeface="Meiryo" pitchFamily="34" charset="-122"/>
                <a:cs typeface="Meiryo" pitchFamily="34" charset="-120"/>
              </a:rPr>
              <a:t>需要側：ONE・採用スマートナビ（採用単価）、StockSun（SNS運用代行・TikTok広告）、アノテ（インスタ広告）、mvsk・補助金コンシェルジュ（補助金）、リスクモンスター（業界粗利）</a:t>
            </a:r>
            <a:endParaRPr lang="en-US" sz="880" dirty="0"/>
          </a:p>
        </p:txBody>
      </p:sp>
      <p:sp>
        <p:nvSpPr>
          <p:cNvPr id="8" name="Text 6"/>
          <p:cNvSpPr txBox="1"/>
          <p:nvPr/>
        </p:nvSpPr>
        <p:spPr>
          <a:xfrm>
            <a:off x="548640" y="4709160"/>
            <a:ext cx="8046720" cy="274320"/>
          </a:xfrm>
          <a:prstGeom prst="rect">
            <a:avLst/>
          </a:prstGeom>
          <a:noFill/>
          <a:ln/>
        </p:spPr>
        <p:txBody>
          <a:bodyPr wrap="square" lIns="0" tIns="0" rIns="0" bIns="0" rtlCol="0" anchor="t"/>
          <a:lstStyle/>
          <a:p>
            <a:pPr indent="0" marL="0">
              <a:buNone/>
            </a:pPr>
            <a:r>
              <a:rPr lang="en-US" sz="850" dirty="0">
                <a:solidFill>
                  <a:srgbClr val="6B7280"/>
                </a:solidFill>
                <a:latin typeface="Meiryo" pitchFamily="34" charset="0"/>
                <a:ea typeface="Meiryo" pitchFamily="34" charset="-122"/>
                <a:cs typeface="Meiryo" pitchFamily="34" charset="-120"/>
              </a:rPr>
              <a:t>URL付きの完全な出典一覧は docs/strategy/sns-short-drama-strategy.md 付録B を参照。</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SNSショートドラマ制作サービス 事業戦略</dc:title>
  <dc:subject>PptxGenJS Presentation</dc:subject>
  <dc:creator>mi2studio</dc:creator>
  <cp:lastModifiedBy>mi2studio</cp:lastModifiedBy>
  <cp:revision>1</cp:revision>
  <dcterms:created xsi:type="dcterms:W3CDTF">2026-09-12T06:57:25Z</dcterms:created>
  <dcterms:modified xsi:type="dcterms:W3CDTF">2026-09-12T06:57:25Z</dcterms:modified>
</cp:coreProperties>
</file>